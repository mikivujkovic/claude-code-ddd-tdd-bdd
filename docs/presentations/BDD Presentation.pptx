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42.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43.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7"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1"/>
    <p:restoredTop sz="38613"/>
  </p:normalViewPr>
  <p:slideViewPr>
    <p:cSldViewPr snapToGrid="0" snapToObjects="1">
      <p:cViewPr varScale="1">
        <p:scale>
          <a:sx n="40" d="100"/>
          <a:sy n="40" d="100"/>
        </p:scale>
        <p:origin x="4848" y="4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ata4.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ata5.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ata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diagrams/_rels/data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diagrams/_rels/data1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svg"/><Relationship Id="rId1" Type="http://schemas.openxmlformats.org/officeDocument/2006/relationships/image" Target="../media/image56.png"/><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svg"/></Relationships>
</file>

<file path=ppt/diagrams/_rels/data1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svg"/><Relationship Id="rId1" Type="http://schemas.openxmlformats.org/officeDocument/2006/relationships/image" Target="../media/image67.png"/><Relationship Id="rId6" Type="http://schemas.openxmlformats.org/officeDocument/2006/relationships/image" Target="../media/image72.svg"/><Relationship Id="rId5" Type="http://schemas.openxmlformats.org/officeDocument/2006/relationships/image" Target="../media/image71.png"/><Relationship Id="rId4" Type="http://schemas.openxmlformats.org/officeDocument/2006/relationships/image" Target="../media/image70.svg"/></Relationships>
</file>

<file path=ppt/diagrams/_rels/data1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76.svg"/><Relationship Id="rId5" Type="http://schemas.openxmlformats.org/officeDocument/2006/relationships/image" Target="../media/image75.png"/><Relationship Id="rId4" Type="http://schemas.openxmlformats.org/officeDocument/2006/relationships/image" Target="../media/image74.svg"/></Relationships>
</file>

<file path=ppt/diagrams/_rels/data1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42.svg"/><Relationship Id="rId1" Type="http://schemas.openxmlformats.org/officeDocument/2006/relationships/image" Target="../media/image41.png"/><Relationship Id="rId4" Type="http://schemas.openxmlformats.org/officeDocument/2006/relationships/image" Target="../media/image7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sv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rawing4.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5.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s>
</file>

<file path=ppt/diagrams/_rels/drawing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svg"/><Relationship Id="rId1" Type="http://schemas.openxmlformats.org/officeDocument/2006/relationships/image" Target="../media/image56.png"/><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svg"/><Relationship Id="rId1" Type="http://schemas.openxmlformats.org/officeDocument/2006/relationships/image" Target="../media/image67.png"/><Relationship Id="rId6" Type="http://schemas.openxmlformats.org/officeDocument/2006/relationships/image" Target="../media/image72.svg"/><Relationship Id="rId5" Type="http://schemas.openxmlformats.org/officeDocument/2006/relationships/image" Target="../media/image71.png"/><Relationship Id="rId4" Type="http://schemas.openxmlformats.org/officeDocument/2006/relationships/image" Target="../media/image70.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76.svg"/><Relationship Id="rId5" Type="http://schemas.openxmlformats.org/officeDocument/2006/relationships/image" Target="../media/image75.png"/><Relationship Id="rId4" Type="http://schemas.openxmlformats.org/officeDocument/2006/relationships/image" Target="../media/image74.svg"/></Relationships>
</file>

<file path=ppt/diagrams/_rels/drawing1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42.svg"/><Relationship Id="rId1" Type="http://schemas.openxmlformats.org/officeDocument/2006/relationships/image" Target="../media/image41.png"/><Relationship Id="rId4" Type="http://schemas.openxmlformats.org/officeDocument/2006/relationships/image" Target="../media/image7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B3D899-DE71-4368-9AB5-09F8C7A74BA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9F2F088-38E6-43E9-A935-791390A512FE}">
      <dgm:prSet/>
      <dgm:spPr/>
      <dgm:t>
        <a:bodyPr/>
        <a:lstStyle/>
        <a:p>
          <a:r>
            <a:rPr lang="en-US"/>
            <a:t>Understand what BDD is (and isn’t)</a:t>
          </a:r>
        </a:p>
      </dgm:t>
    </dgm:pt>
    <dgm:pt modelId="{2088943F-52EE-49E6-AECA-455A2EE60553}" type="parTrans" cxnId="{2CD97C1D-3EC8-4319-90A7-133C229133AA}">
      <dgm:prSet/>
      <dgm:spPr/>
      <dgm:t>
        <a:bodyPr/>
        <a:lstStyle/>
        <a:p>
          <a:endParaRPr lang="en-US"/>
        </a:p>
      </dgm:t>
    </dgm:pt>
    <dgm:pt modelId="{F3E2664D-DBC3-4E5F-A8D4-B42C4B1B9916}" type="sibTrans" cxnId="{2CD97C1D-3EC8-4319-90A7-133C229133AA}">
      <dgm:prSet/>
      <dgm:spPr/>
      <dgm:t>
        <a:bodyPr/>
        <a:lstStyle/>
        <a:p>
          <a:endParaRPr lang="en-US"/>
        </a:p>
      </dgm:t>
    </dgm:pt>
    <dgm:pt modelId="{5F5E3CBB-C9B4-414B-8D51-5D58F91000D9}">
      <dgm:prSet/>
      <dgm:spPr/>
      <dgm:t>
        <a:bodyPr/>
        <a:lstStyle/>
        <a:p>
          <a:r>
            <a:rPr lang="en-US"/>
            <a:t>Learn to write clear, valuable scenarios</a:t>
          </a:r>
        </a:p>
      </dgm:t>
    </dgm:pt>
    <dgm:pt modelId="{2B0EBFCF-1C8A-401C-A0D4-F263272D2F85}" type="parTrans" cxnId="{BEA5338A-2954-4EFE-AECD-AAB8AA9DDF57}">
      <dgm:prSet/>
      <dgm:spPr/>
      <dgm:t>
        <a:bodyPr/>
        <a:lstStyle/>
        <a:p>
          <a:endParaRPr lang="en-US"/>
        </a:p>
      </dgm:t>
    </dgm:pt>
    <dgm:pt modelId="{DD00143C-7D8A-4510-A5A6-767C2FAFA0E2}" type="sibTrans" cxnId="{BEA5338A-2954-4EFE-AECD-AAB8AA9DDF57}">
      <dgm:prSet/>
      <dgm:spPr/>
      <dgm:t>
        <a:bodyPr/>
        <a:lstStyle/>
        <a:p>
          <a:endParaRPr lang="en-US"/>
        </a:p>
      </dgm:t>
    </dgm:pt>
    <dgm:pt modelId="{D884BFB8-10D2-4597-BB8A-80180B346875}">
      <dgm:prSet/>
      <dgm:spPr/>
      <dgm:t>
        <a:bodyPr/>
        <a:lstStyle/>
        <a:p>
          <a:r>
            <a:rPr lang="en-US"/>
            <a:t>Know where automation helps—and where it hurts</a:t>
          </a:r>
        </a:p>
      </dgm:t>
    </dgm:pt>
    <dgm:pt modelId="{243B3A58-FB94-42C9-8B55-B0E9CD8B5927}" type="parTrans" cxnId="{B9F301A6-23BE-4D08-B2AC-986CC132B794}">
      <dgm:prSet/>
      <dgm:spPr/>
      <dgm:t>
        <a:bodyPr/>
        <a:lstStyle/>
        <a:p>
          <a:endParaRPr lang="en-US"/>
        </a:p>
      </dgm:t>
    </dgm:pt>
    <dgm:pt modelId="{7223B7E9-6889-48B8-8CEA-606DEF8E69CB}" type="sibTrans" cxnId="{B9F301A6-23BE-4D08-B2AC-986CC132B794}">
      <dgm:prSet/>
      <dgm:spPr/>
      <dgm:t>
        <a:bodyPr/>
        <a:lstStyle/>
        <a:p>
          <a:endParaRPr lang="en-US"/>
        </a:p>
      </dgm:t>
    </dgm:pt>
    <dgm:pt modelId="{F911AC83-5921-4387-87FD-E1E5A0CCC1EB}">
      <dgm:prSet/>
      <dgm:spPr/>
      <dgm:t>
        <a:bodyPr/>
        <a:lstStyle/>
        <a:p>
          <a:r>
            <a:rPr lang="en-US"/>
            <a:t>Leave with templates and a workflow you can use tomorrow</a:t>
          </a:r>
        </a:p>
      </dgm:t>
    </dgm:pt>
    <dgm:pt modelId="{4C9915C8-B68D-4ED2-9287-FF1D65F679E2}" type="parTrans" cxnId="{95A74FFF-357D-4A0E-A970-DA504AE251A6}">
      <dgm:prSet/>
      <dgm:spPr/>
      <dgm:t>
        <a:bodyPr/>
        <a:lstStyle/>
        <a:p>
          <a:endParaRPr lang="en-US"/>
        </a:p>
      </dgm:t>
    </dgm:pt>
    <dgm:pt modelId="{EC3EA0BE-F1F6-4EC9-A481-FAAA6D49BA54}" type="sibTrans" cxnId="{95A74FFF-357D-4A0E-A970-DA504AE251A6}">
      <dgm:prSet/>
      <dgm:spPr/>
      <dgm:t>
        <a:bodyPr/>
        <a:lstStyle/>
        <a:p>
          <a:endParaRPr lang="en-US"/>
        </a:p>
      </dgm:t>
    </dgm:pt>
    <dgm:pt modelId="{6D79BD06-07BC-4EF2-B9F9-834188C7C37F}" type="pres">
      <dgm:prSet presAssocID="{82B3D899-DE71-4368-9AB5-09F8C7A74BA3}" presName="root" presStyleCnt="0">
        <dgm:presLayoutVars>
          <dgm:dir/>
          <dgm:resizeHandles val="exact"/>
        </dgm:presLayoutVars>
      </dgm:prSet>
      <dgm:spPr/>
    </dgm:pt>
    <dgm:pt modelId="{C2B6E6BF-B95B-452D-8524-8B1D0CB6B5A7}" type="pres">
      <dgm:prSet presAssocID="{A9F2F088-38E6-43E9-A935-791390A512FE}" presName="compNode" presStyleCnt="0"/>
      <dgm:spPr/>
    </dgm:pt>
    <dgm:pt modelId="{3DCFA836-816A-42EA-8ADF-0863E13A5298}" type="pres">
      <dgm:prSet presAssocID="{A9F2F088-38E6-43E9-A935-791390A512FE}" presName="bgRect" presStyleLbl="bgShp" presStyleIdx="0" presStyleCnt="4"/>
      <dgm:spPr/>
    </dgm:pt>
    <dgm:pt modelId="{B1FFEAE5-7307-4D6B-8F9C-BEF9757FCF84}" type="pres">
      <dgm:prSet presAssocID="{A9F2F088-38E6-43E9-A935-791390A512F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8821B97A-3875-45E5-87D3-DADE9764E8DC}" type="pres">
      <dgm:prSet presAssocID="{A9F2F088-38E6-43E9-A935-791390A512FE}" presName="spaceRect" presStyleCnt="0"/>
      <dgm:spPr/>
    </dgm:pt>
    <dgm:pt modelId="{5DB5EBBA-8D06-4133-9DD8-4BC5406DD2EE}" type="pres">
      <dgm:prSet presAssocID="{A9F2F088-38E6-43E9-A935-791390A512FE}" presName="parTx" presStyleLbl="revTx" presStyleIdx="0" presStyleCnt="4">
        <dgm:presLayoutVars>
          <dgm:chMax val="0"/>
          <dgm:chPref val="0"/>
        </dgm:presLayoutVars>
      </dgm:prSet>
      <dgm:spPr/>
    </dgm:pt>
    <dgm:pt modelId="{69644558-770B-4F44-909C-1B1AEDC24C98}" type="pres">
      <dgm:prSet presAssocID="{F3E2664D-DBC3-4E5F-A8D4-B42C4B1B9916}" presName="sibTrans" presStyleCnt="0"/>
      <dgm:spPr/>
    </dgm:pt>
    <dgm:pt modelId="{49600E27-A97B-426B-976A-3A54CE9D0A28}" type="pres">
      <dgm:prSet presAssocID="{5F5E3CBB-C9B4-414B-8D51-5D58F91000D9}" presName="compNode" presStyleCnt="0"/>
      <dgm:spPr/>
    </dgm:pt>
    <dgm:pt modelId="{4334E978-452D-4888-80EB-94843614D1FF}" type="pres">
      <dgm:prSet presAssocID="{5F5E3CBB-C9B4-414B-8D51-5D58F91000D9}" presName="bgRect" presStyleLbl="bgShp" presStyleIdx="1" presStyleCnt="4"/>
      <dgm:spPr/>
    </dgm:pt>
    <dgm:pt modelId="{944E2B1D-EE2A-4CA4-BC67-4265F00174FD}" type="pres">
      <dgm:prSet presAssocID="{5F5E3CBB-C9B4-414B-8D51-5D58F91000D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lackboard"/>
        </a:ext>
      </dgm:extLst>
    </dgm:pt>
    <dgm:pt modelId="{B4E487AF-DCF9-4551-8FA1-353C30C6AFB7}" type="pres">
      <dgm:prSet presAssocID="{5F5E3CBB-C9B4-414B-8D51-5D58F91000D9}" presName="spaceRect" presStyleCnt="0"/>
      <dgm:spPr/>
    </dgm:pt>
    <dgm:pt modelId="{1B5A5493-CD1C-44F4-9FC3-43B525E324A8}" type="pres">
      <dgm:prSet presAssocID="{5F5E3CBB-C9B4-414B-8D51-5D58F91000D9}" presName="parTx" presStyleLbl="revTx" presStyleIdx="1" presStyleCnt="4">
        <dgm:presLayoutVars>
          <dgm:chMax val="0"/>
          <dgm:chPref val="0"/>
        </dgm:presLayoutVars>
      </dgm:prSet>
      <dgm:spPr/>
    </dgm:pt>
    <dgm:pt modelId="{B4ACBE23-082E-4040-B025-A49FCA24DA0D}" type="pres">
      <dgm:prSet presAssocID="{DD00143C-7D8A-4510-A5A6-767C2FAFA0E2}" presName="sibTrans" presStyleCnt="0"/>
      <dgm:spPr/>
    </dgm:pt>
    <dgm:pt modelId="{02F29D50-204D-45B5-84DC-1FBBA047728C}" type="pres">
      <dgm:prSet presAssocID="{D884BFB8-10D2-4597-BB8A-80180B346875}" presName="compNode" presStyleCnt="0"/>
      <dgm:spPr/>
    </dgm:pt>
    <dgm:pt modelId="{40C84181-B33E-499D-9D55-F7C9761D5B0A}" type="pres">
      <dgm:prSet presAssocID="{D884BFB8-10D2-4597-BB8A-80180B346875}" presName="bgRect" presStyleLbl="bgShp" presStyleIdx="2" presStyleCnt="4"/>
      <dgm:spPr/>
    </dgm:pt>
    <dgm:pt modelId="{21D8B872-198E-477A-9445-80D093FB8E7E}" type="pres">
      <dgm:prSet presAssocID="{D884BFB8-10D2-4597-BB8A-80180B34687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p with pin"/>
        </a:ext>
      </dgm:extLst>
    </dgm:pt>
    <dgm:pt modelId="{8B7FDCC4-F667-4046-AC87-C79740A36FB3}" type="pres">
      <dgm:prSet presAssocID="{D884BFB8-10D2-4597-BB8A-80180B346875}" presName="spaceRect" presStyleCnt="0"/>
      <dgm:spPr/>
    </dgm:pt>
    <dgm:pt modelId="{0852F2EF-92D8-434A-871E-FD43D9950B84}" type="pres">
      <dgm:prSet presAssocID="{D884BFB8-10D2-4597-BB8A-80180B346875}" presName="parTx" presStyleLbl="revTx" presStyleIdx="2" presStyleCnt="4">
        <dgm:presLayoutVars>
          <dgm:chMax val="0"/>
          <dgm:chPref val="0"/>
        </dgm:presLayoutVars>
      </dgm:prSet>
      <dgm:spPr/>
    </dgm:pt>
    <dgm:pt modelId="{F8FDDDC4-447E-4BF2-88D1-F350E7B5060F}" type="pres">
      <dgm:prSet presAssocID="{7223B7E9-6889-48B8-8CEA-606DEF8E69CB}" presName="sibTrans" presStyleCnt="0"/>
      <dgm:spPr/>
    </dgm:pt>
    <dgm:pt modelId="{11C844FC-9C39-4C9A-BC27-666A946FC8C1}" type="pres">
      <dgm:prSet presAssocID="{F911AC83-5921-4387-87FD-E1E5A0CCC1EB}" presName="compNode" presStyleCnt="0"/>
      <dgm:spPr/>
    </dgm:pt>
    <dgm:pt modelId="{0DDBE8E0-C2ED-43C2-BACD-AB81397CCF0C}" type="pres">
      <dgm:prSet presAssocID="{F911AC83-5921-4387-87FD-E1E5A0CCC1EB}" presName="bgRect" presStyleLbl="bgShp" presStyleIdx="3" presStyleCnt="4"/>
      <dgm:spPr/>
    </dgm:pt>
    <dgm:pt modelId="{3D1A18C0-0422-408C-AF97-FF3ABE431FC1}" type="pres">
      <dgm:prSet presAssocID="{F911AC83-5921-4387-87FD-E1E5A0CCC1E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 List"/>
        </a:ext>
      </dgm:extLst>
    </dgm:pt>
    <dgm:pt modelId="{978E6134-C580-4978-B399-9C89CE49CB76}" type="pres">
      <dgm:prSet presAssocID="{F911AC83-5921-4387-87FD-E1E5A0CCC1EB}" presName="spaceRect" presStyleCnt="0"/>
      <dgm:spPr/>
    </dgm:pt>
    <dgm:pt modelId="{2183F028-2947-4390-A725-A0130CDC29AD}" type="pres">
      <dgm:prSet presAssocID="{F911AC83-5921-4387-87FD-E1E5A0CCC1EB}" presName="parTx" presStyleLbl="revTx" presStyleIdx="3" presStyleCnt="4">
        <dgm:presLayoutVars>
          <dgm:chMax val="0"/>
          <dgm:chPref val="0"/>
        </dgm:presLayoutVars>
      </dgm:prSet>
      <dgm:spPr/>
    </dgm:pt>
  </dgm:ptLst>
  <dgm:cxnLst>
    <dgm:cxn modelId="{F9F4AF00-7184-44A6-889D-2CFA2A703DC9}" type="presOf" srcId="{5F5E3CBB-C9B4-414B-8D51-5D58F91000D9}" destId="{1B5A5493-CD1C-44F4-9FC3-43B525E324A8}" srcOrd="0" destOrd="0" presId="urn:microsoft.com/office/officeart/2018/2/layout/IconVerticalSolidList"/>
    <dgm:cxn modelId="{757EA605-0061-423E-B449-D317762466A8}" type="presOf" srcId="{A9F2F088-38E6-43E9-A935-791390A512FE}" destId="{5DB5EBBA-8D06-4133-9DD8-4BC5406DD2EE}" srcOrd="0" destOrd="0" presId="urn:microsoft.com/office/officeart/2018/2/layout/IconVerticalSolidList"/>
    <dgm:cxn modelId="{8A0BFD1B-6E3C-47A9-9A27-5EBA50158196}" type="presOf" srcId="{D884BFB8-10D2-4597-BB8A-80180B346875}" destId="{0852F2EF-92D8-434A-871E-FD43D9950B84}" srcOrd="0" destOrd="0" presId="urn:microsoft.com/office/officeart/2018/2/layout/IconVerticalSolidList"/>
    <dgm:cxn modelId="{2CD97C1D-3EC8-4319-90A7-133C229133AA}" srcId="{82B3D899-DE71-4368-9AB5-09F8C7A74BA3}" destId="{A9F2F088-38E6-43E9-A935-791390A512FE}" srcOrd="0" destOrd="0" parTransId="{2088943F-52EE-49E6-AECA-455A2EE60553}" sibTransId="{F3E2664D-DBC3-4E5F-A8D4-B42C4B1B9916}"/>
    <dgm:cxn modelId="{CF54EA3F-53CB-42CC-AF63-804D1FCA4B26}" type="presOf" srcId="{F911AC83-5921-4387-87FD-E1E5A0CCC1EB}" destId="{2183F028-2947-4390-A725-A0130CDC29AD}" srcOrd="0" destOrd="0" presId="urn:microsoft.com/office/officeart/2018/2/layout/IconVerticalSolidList"/>
    <dgm:cxn modelId="{38137D40-2B52-4B03-84BF-EEA34D8D3E68}" type="presOf" srcId="{82B3D899-DE71-4368-9AB5-09F8C7A74BA3}" destId="{6D79BD06-07BC-4EF2-B9F9-834188C7C37F}" srcOrd="0" destOrd="0" presId="urn:microsoft.com/office/officeart/2018/2/layout/IconVerticalSolidList"/>
    <dgm:cxn modelId="{BEA5338A-2954-4EFE-AECD-AAB8AA9DDF57}" srcId="{82B3D899-DE71-4368-9AB5-09F8C7A74BA3}" destId="{5F5E3CBB-C9B4-414B-8D51-5D58F91000D9}" srcOrd="1" destOrd="0" parTransId="{2B0EBFCF-1C8A-401C-A0D4-F263272D2F85}" sibTransId="{DD00143C-7D8A-4510-A5A6-767C2FAFA0E2}"/>
    <dgm:cxn modelId="{B9F301A6-23BE-4D08-B2AC-986CC132B794}" srcId="{82B3D899-DE71-4368-9AB5-09F8C7A74BA3}" destId="{D884BFB8-10D2-4597-BB8A-80180B346875}" srcOrd="2" destOrd="0" parTransId="{243B3A58-FB94-42C9-8B55-B0E9CD8B5927}" sibTransId="{7223B7E9-6889-48B8-8CEA-606DEF8E69CB}"/>
    <dgm:cxn modelId="{95A74FFF-357D-4A0E-A970-DA504AE251A6}" srcId="{82B3D899-DE71-4368-9AB5-09F8C7A74BA3}" destId="{F911AC83-5921-4387-87FD-E1E5A0CCC1EB}" srcOrd="3" destOrd="0" parTransId="{4C9915C8-B68D-4ED2-9287-FF1D65F679E2}" sibTransId="{EC3EA0BE-F1F6-4EC9-A481-FAAA6D49BA54}"/>
    <dgm:cxn modelId="{B942874F-5E63-4E59-9EB1-5B110262D225}" type="presParOf" srcId="{6D79BD06-07BC-4EF2-B9F9-834188C7C37F}" destId="{C2B6E6BF-B95B-452D-8524-8B1D0CB6B5A7}" srcOrd="0" destOrd="0" presId="urn:microsoft.com/office/officeart/2018/2/layout/IconVerticalSolidList"/>
    <dgm:cxn modelId="{D7574970-2AA0-4B14-A8DD-296F1B3CAD76}" type="presParOf" srcId="{C2B6E6BF-B95B-452D-8524-8B1D0CB6B5A7}" destId="{3DCFA836-816A-42EA-8ADF-0863E13A5298}" srcOrd="0" destOrd="0" presId="urn:microsoft.com/office/officeart/2018/2/layout/IconVerticalSolidList"/>
    <dgm:cxn modelId="{1F4C84D6-66DF-4E1B-A77E-16BFFC5F13CD}" type="presParOf" srcId="{C2B6E6BF-B95B-452D-8524-8B1D0CB6B5A7}" destId="{B1FFEAE5-7307-4D6B-8F9C-BEF9757FCF84}" srcOrd="1" destOrd="0" presId="urn:microsoft.com/office/officeart/2018/2/layout/IconVerticalSolidList"/>
    <dgm:cxn modelId="{DF963305-2818-4EFF-BC10-FD3098CFE6ED}" type="presParOf" srcId="{C2B6E6BF-B95B-452D-8524-8B1D0CB6B5A7}" destId="{8821B97A-3875-45E5-87D3-DADE9764E8DC}" srcOrd="2" destOrd="0" presId="urn:microsoft.com/office/officeart/2018/2/layout/IconVerticalSolidList"/>
    <dgm:cxn modelId="{5DD605B1-3650-4521-83E8-D9C8AC413B79}" type="presParOf" srcId="{C2B6E6BF-B95B-452D-8524-8B1D0CB6B5A7}" destId="{5DB5EBBA-8D06-4133-9DD8-4BC5406DD2EE}" srcOrd="3" destOrd="0" presId="urn:microsoft.com/office/officeart/2018/2/layout/IconVerticalSolidList"/>
    <dgm:cxn modelId="{9E870FEF-5922-4A06-A670-A91293DC28F6}" type="presParOf" srcId="{6D79BD06-07BC-4EF2-B9F9-834188C7C37F}" destId="{69644558-770B-4F44-909C-1B1AEDC24C98}" srcOrd="1" destOrd="0" presId="urn:microsoft.com/office/officeart/2018/2/layout/IconVerticalSolidList"/>
    <dgm:cxn modelId="{7808FCE6-C53C-4E00-B888-C6845132973C}" type="presParOf" srcId="{6D79BD06-07BC-4EF2-B9F9-834188C7C37F}" destId="{49600E27-A97B-426B-976A-3A54CE9D0A28}" srcOrd="2" destOrd="0" presId="urn:microsoft.com/office/officeart/2018/2/layout/IconVerticalSolidList"/>
    <dgm:cxn modelId="{CCBE6865-91F7-4638-ACF8-485D116152C9}" type="presParOf" srcId="{49600E27-A97B-426B-976A-3A54CE9D0A28}" destId="{4334E978-452D-4888-80EB-94843614D1FF}" srcOrd="0" destOrd="0" presId="urn:microsoft.com/office/officeart/2018/2/layout/IconVerticalSolidList"/>
    <dgm:cxn modelId="{53BC3B81-5F0C-4394-873E-44BB54429EB4}" type="presParOf" srcId="{49600E27-A97B-426B-976A-3A54CE9D0A28}" destId="{944E2B1D-EE2A-4CA4-BC67-4265F00174FD}" srcOrd="1" destOrd="0" presId="urn:microsoft.com/office/officeart/2018/2/layout/IconVerticalSolidList"/>
    <dgm:cxn modelId="{C2F8F320-F5E4-4A16-AFAD-02F48E8D3F92}" type="presParOf" srcId="{49600E27-A97B-426B-976A-3A54CE9D0A28}" destId="{B4E487AF-DCF9-4551-8FA1-353C30C6AFB7}" srcOrd="2" destOrd="0" presId="urn:microsoft.com/office/officeart/2018/2/layout/IconVerticalSolidList"/>
    <dgm:cxn modelId="{85A17CF0-432E-4138-9E5E-0570EC91564B}" type="presParOf" srcId="{49600E27-A97B-426B-976A-3A54CE9D0A28}" destId="{1B5A5493-CD1C-44F4-9FC3-43B525E324A8}" srcOrd="3" destOrd="0" presId="urn:microsoft.com/office/officeart/2018/2/layout/IconVerticalSolidList"/>
    <dgm:cxn modelId="{F86155D4-E3E5-479E-B86A-AD2E9459354B}" type="presParOf" srcId="{6D79BD06-07BC-4EF2-B9F9-834188C7C37F}" destId="{B4ACBE23-082E-4040-B025-A49FCA24DA0D}" srcOrd="3" destOrd="0" presId="urn:microsoft.com/office/officeart/2018/2/layout/IconVerticalSolidList"/>
    <dgm:cxn modelId="{07079FC0-BC06-4F4F-8051-752074AEA375}" type="presParOf" srcId="{6D79BD06-07BC-4EF2-B9F9-834188C7C37F}" destId="{02F29D50-204D-45B5-84DC-1FBBA047728C}" srcOrd="4" destOrd="0" presId="urn:microsoft.com/office/officeart/2018/2/layout/IconVerticalSolidList"/>
    <dgm:cxn modelId="{B79F2B1F-1534-458B-B888-CE4EF12FD6F2}" type="presParOf" srcId="{02F29D50-204D-45B5-84DC-1FBBA047728C}" destId="{40C84181-B33E-499D-9D55-F7C9761D5B0A}" srcOrd="0" destOrd="0" presId="urn:microsoft.com/office/officeart/2018/2/layout/IconVerticalSolidList"/>
    <dgm:cxn modelId="{E005BAF6-52E8-4B2B-AEC9-BF38E8DA164C}" type="presParOf" srcId="{02F29D50-204D-45B5-84DC-1FBBA047728C}" destId="{21D8B872-198E-477A-9445-80D093FB8E7E}" srcOrd="1" destOrd="0" presId="urn:microsoft.com/office/officeart/2018/2/layout/IconVerticalSolidList"/>
    <dgm:cxn modelId="{4B399A29-D7EB-4DA7-9500-3C26AE72A207}" type="presParOf" srcId="{02F29D50-204D-45B5-84DC-1FBBA047728C}" destId="{8B7FDCC4-F667-4046-AC87-C79740A36FB3}" srcOrd="2" destOrd="0" presId="urn:microsoft.com/office/officeart/2018/2/layout/IconVerticalSolidList"/>
    <dgm:cxn modelId="{BE8BC154-CEAD-4568-9D4F-C5E187316F56}" type="presParOf" srcId="{02F29D50-204D-45B5-84DC-1FBBA047728C}" destId="{0852F2EF-92D8-434A-871E-FD43D9950B84}" srcOrd="3" destOrd="0" presId="urn:microsoft.com/office/officeart/2018/2/layout/IconVerticalSolidList"/>
    <dgm:cxn modelId="{E9686508-DF04-4C95-936A-D26B02672DE6}" type="presParOf" srcId="{6D79BD06-07BC-4EF2-B9F9-834188C7C37F}" destId="{F8FDDDC4-447E-4BF2-88D1-F350E7B5060F}" srcOrd="5" destOrd="0" presId="urn:microsoft.com/office/officeart/2018/2/layout/IconVerticalSolidList"/>
    <dgm:cxn modelId="{9E22241F-9182-4B0D-8CAB-E08C3F91537C}" type="presParOf" srcId="{6D79BD06-07BC-4EF2-B9F9-834188C7C37F}" destId="{11C844FC-9C39-4C9A-BC27-666A946FC8C1}" srcOrd="6" destOrd="0" presId="urn:microsoft.com/office/officeart/2018/2/layout/IconVerticalSolidList"/>
    <dgm:cxn modelId="{80D86892-AF85-4C37-875A-49078A5CD277}" type="presParOf" srcId="{11C844FC-9C39-4C9A-BC27-666A946FC8C1}" destId="{0DDBE8E0-C2ED-43C2-BACD-AB81397CCF0C}" srcOrd="0" destOrd="0" presId="urn:microsoft.com/office/officeart/2018/2/layout/IconVerticalSolidList"/>
    <dgm:cxn modelId="{39B5A6C3-86C9-4172-BEE2-CDE017E84C85}" type="presParOf" srcId="{11C844FC-9C39-4C9A-BC27-666A946FC8C1}" destId="{3D1A18C0-0422-408C-AF97-FF3ABE431FC1}" srcOrd="1" destOrd="0" presId="urn:microsoft.com/office/officeart/2018/2/layout/IconVerticalSolidList"/>
    <dgm:cxn modelId="{3E97FB56-0643-42ED-9AB9-E038F370D2F9}" type="presParOf" srcId="{11C844FC-9C39-4C9A-BC27-666A946FC8C1}" destId="{978E6134-C580-4978-B399-9C89CE49CB76}" srcOrd="2" destOrd="0" presId="urn:microsoft.com/office/officeart/2018/2/layout/IconVerticalSolidList"/>
    <dgm:cxn modelId="{8EB2FE99-0476-49E5-BA52-19DC85796394}" type="presParOf" srcId="{11C844FC-9C39-4C9A-BC27-666A946FC8C1}" destId="{2183F028-2947-4390-A725-A0130CDC29A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67A08B-8A43-4DAC-BD07-FC356423320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624E435-D8FA-40F5-8B0C-16AA658E68A0}">
      <dgm:prSet/>
      <dgm:spPr/>
      <dgm:t>
        <a:bodyPr/>
        <a:lstStyle/>
        <a:p>
          <a:pPr>
            <a:lnSpc>
              <a:spcPct val="100000"/>
            </a:lnSpc>
          </a:pPr>
          <a:r>
            <a:rPr lang="en-US"/>
            <a:t>1) What/why of BDD</a:t>
          </a:r>
        </a:p>
      </dgm:t>
    </dgm:pt>
    <dgm:pt modelId="{3E39FAA3-D0C8-42C8-A55B-9D9891AE84B5}" type="parTrans" cxnId="{A73858ED-FDD1-438D-B105-EAE5085814A8}">
      <dgm:prSet/>
      <dgm:spPr/>
      <dgm:t>
        <a:bodyPr/>
        <a:lstStyle/>
        <a:p>
          <a:endParaRPr lang="en-US"/>
        </a:p>
      </dgm:t>
    </dgm:pt>
    <dgm:pt modelId="{7785D9CB-1F63-449B-86F7-5F40DE3C9B7A}" type="sibTrans" cxnId="{A73858ED-FDD1-438D-B105-EAE5085814A8}">
      <dgm:prSet/>
      <dgm:spPr/>
      <dgm:t>
        <a:bodyPr/>
        <a:lstStyle/>
        <a:p>
          <a:endParaRPr lang="en-US"/>
        </a:p>
      </dgm:t>
    </dgm:pt>
    <dgm:pt modelId="{540C82D3-2B7D-440C-A15F-07DE03CD7F52}">
      <dgm:prSet/>
      <dgm:spPr/>
      <dgm:t>
        <a:bodyPr/>
        <a:lstStyle/>
        <a:p>
          <a:pPr>
            <a:lnSpc>
              <a:spcPct val="100000"/>
            </a:lnSpc>
          </a:pPr>
          <a:r>
            <a:rPr lang="en-US"/>
            <a:t>2) Behavior + examples + shared language</a:t>
          </a:r>
        </a:p>
      </dgm:t>
    </dgm:pt>
    <dgm:pt modelId="{3F39752B-9C58-42F3-AB10-7F6A8A517EEE}" type="parTrans" cxnId="{685154BC-DC97-419C-9B8C-0CFA2FDF5473}">
      <dgm:prSet/>
      <dgm:spPr/>
      <dgm:t>
        <a:bodyPr/>
        <a:lstStyle/>
        <a:p>
          <a:endParaRPr lang="en-US"/>
        </a:p>
      </dgm:t>
    </dgm:pt>
    <dgm:pt modelId="{B9114C5F-A5FB-4F82-9200-0AD90AFA5390}" type="sibTrans" cxnId="{685154BC-DC97-419C-9B8C-0CFA2FDF5473}">
      <dgm:prSet/>
      <dgm:spPr/>
      <dgm:t>
        <a:bodyPr/>
        <a:lstStyle/>
        <a:p>
          <a:endParaRPr lang="en-US"/>
        </a:p>
      </dgm:t>
    </dgm:pt>
    <dgm:pt modelId="{A7FB9824-E1A7-458C-AB72-7465BCECE62D}">
      <dgm:prSet/>
      <dgm:spPr/>
      <dgm:t>
        <a:bodyPr/>
        <a:lstStyle/>
        <a:p>
          <a:pPr>
            <a:lnSpc>
              <a:spcPct val="100000"/>
            </a:lnSpc>
          </a:pPr>
          <a:r>
            <a:rPr lang="en-US"/>
            <a:t>3) Gherkin basics</a:t>
          </a:r>
        </a:p>
      </dgm:t>
    </dgm:pt>
    <dgm:pt modelId="{66F0E63B-67A4-48BC-9907-84BBD1837F3A}" type="parTrans" cxnId="{55C143C1-2269-453C-9164-0983140AC95F}">
      <dgm:prSet/>
      <dgm:spPr/>
      <dgm:t>
        <a:bodyPr/>
        <a:lstStyle/>
        <a:p>
          <a:endParaRPr lang="en-US"/>
        </a:p>
      </dgm:t>
    </dgm:pt>
    <dgm:pt modelId="{CCB9CC20-727A-47A7-883F-DCC890910A94}" type="sibTrans" cxnId="{55C143C1-2269-453C-9164-0983140AC95F}">
      <dgm:prSet/>
      <dgm:spPr/>
      <dgm:t>
        <a:bodyPr/>
        <a:lstStyle/>
        <a:p>
          <a:endParaRPr lang="en-US"/>
        </a:p>
      </dgm:t>
    </dgm:pt>
    <dgm:pt modelId="{FDDAD8C8-F6C7-4635-A246-F8ED50F99BF2}">
      <dgm:prSet/>
      <dgm:spPr/>
      <dgm:t>
        <a:bodyPr/>
        <a:lstStyle/>
        <a:p>
          <a:pPr>
            <a:lnSpc>
              <a:spcPct val="100000"/>
            </a:lnSpc>
          </a:pPr>
          <a:r>
            <a:rPr lang="en-US"/>
            <a:t>4) Writing good scenarios</a:t>
          </a:r>
        </a:p>
      </dgm:t>
    </dgm:pt>
    <dgm:pt modelId="{BD65DB62-83A0-4BA0-B08D-CB67B86F2DBA}" type="parTrans" cxnId="{61B24131-2394-4FEA-A25A-A4954FC27DAA}">
      <dgm:prSet/>
      <dgm:spPr/>
      <dgm:t>
        <a:bodyPr/>
        <a:lstStyle/>
        <a:p>
          <a:endParaRPr lang="en-US"/>
        </a:p>
      </dgm:t>
    </dgm:pt>
    <dgm:pt modelId="{F187D4BB-A76E-408D-A1F8-48A9556BA1E1}" type="sibTrans" cxnId="{61B24131-2394-4FEA-A25A-A4954FC27DAA}">
      <dgm:prSet/>
      <dgm:spPr/>
      <dgm:t>
        <a:bodyPr/>
        <a:lstStyle/>
        <a:p>
          <a:endParaRPr lang="en-US"/>
        </a:p>
      </dgm:t>
    </dgm:pt>
    <dgm:pt modelId="{76C455C5-D65C-4C70-86BE-9F5E2B5E9DB1}">
      <dgm:prSet/>
      <dgm:spPr/>
      <dgm:t>
        <a:bodyPr/>
        <a:lstStyle/>
        <a:p>
          <a:pPr>
            <a:lnSpc>
              <a:spcPct val="100000"/>
            </a:lnSpc>
          </a:pPr>
          <a:r>
            <a:rPr lang="en-US"/>
            <a:t>5) Automation and step design</a:t>
          </a:r>
        </a:p>
      </dgm:t>
    </dgm:pt>
    <dgm:pt modelId="{283CBBA1-75CF-4601-9247-2DA8B42B6731}" type="parTrans" cxnId="{DA10E4DA-A625-4258-8C07-F9FE9FBE2F3C}">
      <dgm:prSet/>
      <dgm:spPr/>
      <dgm:t>
        <a:bodyPr/>
        <a:lstStyle/>
        <a:p>
          <a:endParaRPr lang="en-US"/>
        </a:p>
      </dgm:t>
    </dgm:pt>
    <dgm:pt modelId="{0332FFD7-285A-4414-A42C-F48C37D0F452}" type="sibTrans" cxnId="{DA10E4DA-A625-4258-8C07-F9FE9FBE2F3C}">
      <dgm:prSet/>
      <dgm:spPr/>
      <dgm:t>
        <a:bodyPr/>
        <a:lstStyle/>
        <a:p>
          <a:endParaRPr lang="en-US"/>
        </a:p>
      </dgm:t>
    </dgm:pt>
    <dgm:pt modelId="{58C20162-B4C5-462D-B989-5787E443CB13}">
      <dgm:prSet/>
      <dgm:spPr/>
      <dgm:t>
        <a:bodyPr/>
        <a:lstStyle/>
        <a:p>
          <a:pPr>
            <a:lnSpc>
              <a:spcPct val="100000"/>
            </a:lnSpc>
          </a:pPr>
          <a:r>
            <a:rPr lang="en-US"/>
            <a:t>6) Workflow, strategy, pitfalls</a:t>
          </a:r>
        </a:p>
      </dgm:t>
    </dgm:pt>
    <dgm:pt modelId="{4B02DC22-66B8-4A7C-9CB1-BAE5A7C21309}" type="parTrans" cxnId="{8CA55876-6183-4C17-87FF-47449486DD87}">
      <dgm:prSet/>
      <dgm:spPr/>
      <dgm:t>
        <a:bodyPr/>
        <a:lstStyle/>
        <a:p>
          <a:endParaRPr lang="en-US"/>
        </a:p>
      </dgm:t>
    </dgm:pt>
    <dgm:pt modelId="{AD5BB39C-2EC8-429C-BF5B-77A0672479A0}" type="sibTrans" cxnId="{8CA55876-6183-4C17-87FF-47449486DD87}">
      <dgm:prSet/>
      <dgm:spPr/>
      <dgm:t>
        <a:bodyPr/>
        <a:lstStyle/>
        <a:p>
          <a:endParaRPr lang="en-US"/>
        </a:p>
      </dgm:t>
    </dgm:pt>
    <dgm:pt modelId="{955F7EBC-D57C-4402-B032-ADA699D3C363}" type="pres">
      <dgm:prSet presAssocID="{2167A08B-8A43-4DAC-BD07-FC356423320B}" presName="root" presStyleCnt="0">
        <dgm:presLayoutVars>
          <dgm:dir/>
          <dgm:resizeHandles val="exact"/>
        </dgm:presLayoutVars>
      </dgm:prSet>
      <dgm:spPr/>
    </dgm:pt>
    <dgm:pt modelId="{84FE75A5-67B5-4DB3-8166-724725C4AEBC}" type="pres">
      <dgm:prSet presAssocID="{F624E435-D8FA-40F5-8B0C-16AA658E68A0}" presName="compNode" presStyleCnt="0"/>
      <dgm:spPr/>
    </dgm:pt>
    <dgm:pt modelId="{4DD2B7CB-17E2-4C5E-A8B4-1DAF4D75FFC0}" type="pres">
      <dgm:prSet presAssocID="{F624E435-D8FA-40F5-8B0C-16AA658E68A0}" presName="bgRect" presStyleLbl="bgShp" presStyleIdx="0" presStyleCnt="6"/>
      <dgm:spPr/>
    </dgm:pt>
    <dgm:pt modelId="{B9B6C486-7935-4518-BEB5-2CE587E98F35}" type="pres">
      <dgm:prSet presAssocID="{F624E435-D8FA-40F5-8B0C-16AA658E68A0}"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Irritant"/>
        </a:ext>
      </dgm:extLst>
    </dgm:pt>
    <dgm:pt modelId="{9E67D886-6E4F-4FDF-96A8-D70CBDD79B58}" type="pres">
      <dgm:prSet presAssocID="{F624E435-D8FA-40F5-8B0C-16AA658E68A0}" presName="spaceRect" presStyleCnt="0"/>
      <dgm:spPr/>
    </dgm:pt>
    <dgm:pt modelId="{F57FFEA6-F15F-4868-94CD-94BB5F8CC020}" type="pres">
      <dgm:prSet presAssocID="{F624E435-D8FA-40F5-8B0C-16AA658E68A0}" presName="parTx" presStyleLbl="revTx" presStyleIdx="0" presStyleCnt="6">
        <dgm:presLayoutVars>
          <dgm:chMax val="0"/>
          <dgm:chPref val="0"/>
        </dgm:presLayoutVars>
      </dgm:prSet>
      <dgm:spPr/>
    </dgm:pt>
    <dgm:pt modelId="{EF6BD040-15E7-4A67-96A8-720B26E6C36B}" type="pres">
      <dgm:prSet presAssocID="{7785D9CB-1F63-449B-86F7-5F40DE3C9B7A}" presName="sibTrans" presStyleCnt="0"/>
      <dgm:spPr/>
    </dgm:pt>
    <dgm:pt modelId="{7A68689B-39C4-403B-AF97-CED68E02FDF5}" type="pres">
      <dgm:prSet presAssocID="{540C82D3-2B7D-440C-A15F-07DE03CD7F52}" presName="compNode" presStyleCnt="0"/>
      <dgm:spPr/>
    </dgm:pt>
    <dgm:pt modelId="{15DDB939-CA4E-4DE4-95A2-BAD9A30A17CC}" type="pres">
      <dgm:prSet presAssocID="{540C82D3-2B7D-440C-A15F-07DE03CD7F52}" presName="bgRect" presStyleLbl="bgShp" presStyleIdx="1" presStyleCnt="6"/>
      <dgm:spPr/>
    </dgm:pt>
    <dgm:pt modelId="{E4F3F66A-AF42-43B5-93D6-E0B84EEBDCFC}" type="pres">
      <dgm:prSet presAssocID="{540C82D3-2B7D-440C-A15F-07DE03CD7F52}"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at"/>
        </a:ext>
      </dgm:extLst>
    </dgm:pt>
    <dgm:pt modelId="{C11BC3E0-C001-4C66-ADA7-25E2CD54C61D}" type="pres">
      <dgm:prSet presAssocID="{540C82D3-2B7D-440C-A15F-07DE03CD7F52}" presName="spaceRect" presStyleCnt="0"/>
      <dgm:spPr/>
    </dgm:pt>
    <dgm:pt modelId="{DBB63477-7A57-44A2-8FAC-6390C77B9E24}" type="pres">
      <dgm:prSet presAssocID="{540C82D3-2B7D-440C-A15F-07DE03CD7F52}" presName="parTx" presStyleLbl="revTx" presStyleIdx="1" presStyleCnt="6">
        <dgm:presLayoutVars>
          <dgm:chMax val="0"/>
          <dgm:chPref val="0"/>
        </dgm:presLayoutVars>
      </dgm:prSet>
      <dgm:spPr/>
    </dgm:pt>
    <dgm:pt modelId="{A89EED14-5DC1-4F8F-AE3B-C2D33B7F8DE0}" type="pres">
      <dgm:prSet presAssocID="{B9114C5F-A5FB-4F82-9200-0AD90AFA5390}" presName="sibTrans" presStyleCnt="0"/>
      <dgm:spPr/>
    </dgm:pt>
    <dgm:pt modelId="{14B0FFCF-6A63-4965-826F-4461C6A3852C}" type="pres">
      <dgm:prSet presAssocID="{A7FB9824-E1A7-458C-AB72-7465BCECE62D}" presName="compNode" presStyleCnt="0"/>
      <dgm:spPr/>
    </dgm:pt>
    <dgm:pt modelId="{3EF2CB2A-8987-43A4-A0B0-DD56B5E58637}" type="pres">
      <dgm:prSet presAssocID="{A7FB9824-E1A7-458C-AB72-7465BCECE62D}" presName="bgRect" presStyleLbl="bgShp" presStyleIdx="2" presStyleCnt="6"/>
      <dgm:spPr/>
    </dgm:pt>
    <dgm:pt modelId="{E40F5A8B-057D-4533-8BDD-5352BADA7C6F}" type="pres">
      <dgm:prSet presAssocID="{A7FB9824-E1A7-458C-AB72-7465BCECE62D}"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F28002F1-E450-4B1B-B099-1D28B223FD56}" type="pres">
      <dgm:prSet presAssocID="{A7FB9824-E1A7-458C-AB72-7465BCECE62D}" presName="spaceRect" presStyleCnt="0"/>
      <dgm:spPr/>
    </dgm:pt>
    <dgm:pt modelId="{B29B42D3-D53C-419D-AF88-BA77FBC75701}" type="pres">
      <dgm:prSet presAssocID="{A7FB9824-E1A7-458C-AB72-7465BCECE62D}" presName="parTx" presStyleLbl="revTx" presStyleIdx="2" presStyleCnt="6">
        <dgm:presLayoutVars>
          <dgm:chMax val="0"/>
          <dgm:chPref val="0"/>
        </dgm:presLayoutVars>
      </dgm:prSet>
      <dgm:spPr/>
    </dgm:pt>
    <dgm:pt modelId="{02A2D483-7FA1-4964-B152-90F5F857EE7E}" type="pres">
      <dgm:prSet presAssocID="{CCB9CC20-727A-47A7-883F-DCC890910A94}" presName="sibTrans" presStyleCnt="0"/>
      <dgm:spPr/>
    </dgm:pt>
    <dgm:pt modelId="{C1379D25-D20B-448E-8B14-589EDE6F7C24}" type="pres">
      <dgm:prSet presAssocID="{FDDAD8C8-F6C7-4635-A246-F8ED50F99BF2}" presName="compNode" presStyleCnt="0"/>
      <dgm:spPr/>
    </dgm:pt>
    <dgm:pt modelId="{422AB215-CAB2-4F3C-B79D-68A974F668DB}" type="pres">
      <dgm:prSet presAssocID="{FDDAD8C8-F6C7-4635-A246-F8ED50F99BF2}" presName="bgRect" presStyleLbl="bgShp" presStyleIdx="3" presStyleCnt="6"/>
      <dgm:spPr/>
    </dgm:pt>
    <dgm:pt modelId="{6E365D8D-4B04-47AB-93DD-11D316E4A09B}" type="pres">
      <dgm:prSet presAssocID="{FDDAD8C8-F6C7-4635-A246-F8ED50F99BF2}"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encil"/>
        </a:ext>
      </dgm:extLst>
    </dgm:pt>
    <dgm:pt modelId="{2FF33C62-7F6E-481E-B8EE-ED04FF72E796}" type="pres">
      <dgm:prSet presAssocID="{FDDAD8C8-F6C7-4635-A246-F8ED50F99BF2}" presName="spaceRect" presStyleCnt="0"/>
      <dgm:spPr/>
    </dgm:pt>
    <dgm:pt modelId="{D41301AC-7A06-4301-8488-3ECB2AA6CA54}" type="pres">
      <dgm:prSet presAssocID="{FDDAD8C8-F6C7-4635-A246-F8ED50F99BF2}" presName="parTx" presStyleLbl="revTx" presStyleIdx="3" presStyleCnt="6">
        <dgm:presLayoutVars>
          <dgm:chMax val="0"/>
          <dgm:chPref val="0"/>
        </dgm:presLayoutVars>
      </dgm:prSet>
      <dgm:spPr/>
    </dgm:pt>
    <dgm:pt modelId="{0A4D1B74-DB26-49AE-945B-730CE127562F}" type="pres">
      <dgm:prSet presAssocID="{F187D4BB-A76E-408D-A1F8-48A9556BA1E1}" presName="sibTrans" presStyleCnt="0"/>
      <dgm:spPr/>
    </dgm:pt>
    <dgm:pt modelId="{57C0A10E-5400-483F-8A37-F5D4B524B74A}" type="pres">
      <dgm:prSet presAssocID="{76C455C5-D65C-4C70-86BE-9F5E2B5E9DB1}" presName="compNode" presStyleCnt="0"/>
      <dgm:spPr/>
    </dgm:pt>
    <dgm:pt modelId="{1739D48B-9B1D-4E6E-AE78-AA2F7C8CD443}" type="pres">
      <dgm:prSet presAssocID="{76C455C5-D65C-4C70-86BE-9F5E2B5E9DB1}" presName="bgRect" presStyleLbl="bgShp" presStyleIdx="4" presStyleCnt="6"/>
      <dgm:spPr/>
    </dgm:pt>
    <dgm:pt modelId="{1B5FBB9F-C897-46C8-B693-A0B9A48543DA}" type="pres">
      <dgm:prSet presAssocID="{76C455C5-D65C-4C70-86BE-9F5E2B5E9DB1}"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Workflow"/>
        </a:ext>
      </dgm:extLst>
    </dgm:pt>
    <dgm:pt modelId="{AEE8A7DE-8EA8-454C-BAFB-513CEEE7719D}" type="pres">
      <dgm:prSet presAssocID="{76C455C5-D65C-4C70-86BE-9F5E2B5E9DB1}" presName="spaceRect" presStyleCnt="0"/>
      <dgm:spPr/>
    </dgm:pt>
    <dgm:pt modelId="{F5EC9243-92C4-4544-AD6A-AB3C577410F6}" type="pres">
      <dgm:prSet presAssocID="{76C455C5-D65C-4C70-86BE-9F5E2B5E9DB1}" presName="parTx" presStyleLbl="revTx" presStyleIdx="4" presStyleCnt="6">
        <dgm:presLayoutVars>
          <dgm:chMax val="0"/>
          <dgm:chPref val="0"/>
        </dgm:presLayoutVars>
      </dgm:prSet>
      <dgm:spPr/>
    </dgm:pt>
    <dgm:pt modelId="{59CAD703-2C50-40FC-9777-5ECE8F7A4283}" type="pres">
      <dgm:prSet presAssocID="{0332FFD7-285A-4414-A42C-F48C37D0F452}" presName="sibTrans" presStyleCnt="0"/>
      <dgm:spPr/>
    </dgm:pt>
    <dgm:pt modelId="{83059BAF-4F50-4514-AD8C-68297616D5A3}" type="pres">
      <dgm:prSet presAssocID="{58C20162-B4C5-462D-B989-5787E443CB13}" presName="compNode" presStyleCnt="0"/>
      <dgm:spPr/>
    </dgm:pt>
    <dgm:pt modelId="{83A38D68-4227-4C9C-B1AF-43E67BE51A1A}" type="pres">
      <dgm:prSet presAssocID="{58C20162-B4C5-462D-B989-5787E443CB13}" presName="bgRect" presStyleLbl="bgShp" presStyleIdx="5" presStyleCnt="6"/>
      <dgm:spPr/>
    </dgm:pt>
    <dgm:pt modelId="{81846A15-08F0-4C59-8A31-774C9A98C9E5}" type="pres">
      <dgm:prSet presAssocID="{58C20162-B4C5-462D-B989-5787E443CB13}"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Playbook"/>
        </a:ext>
      </dgm:extLst>
    </dgm:pt>
    <dgm:pt modelId="{A72ACC13-72CC-48DE-99EA-B4A9B8465FBD}" type="pres">
      <dgm:prSet presAssocID="{58C20162-B4C5-462D-B989-5787E443CB13}" presName="spaceRect" presStyleCnt="0"/>
      <dgm:spPr/>
    </dgm:pt>
    <dgm:pt modelId="{503597BC-A568-4FF3-83D6-077AADD51A2D}" type="pres">
      <dgm:prSet presAssocID="{58C20162-B4C5-462D-B989-5787E443CB13}" presName="parTx" presStyleLbl="revTx" presStyleIdx="5" presStyleCnt="6">
        <dgm:presLayoutVars>
          <dgm:chMax val="0"/>
          <dgm:chPref val="0"/>
        </dgm:presLayoutVars>
      </dgm:prSet>
      <dgm:spPr/>
    </dgm:pt>
  </dgm:ptLst>
  <dgm:cxnLst>
    <dgm:cxn modelId="{3BF6831C-9C09-4F59-9003-C9F386838AE5}" type="presOf" srcId="{A7FB9824-E1A7-458C-AB72-7465BCECE62D}" destId="{B29B42D3-D53C-419D-AF88-BA77FBC75701}" srcOrd="0" destOrd="0" presId="urn:microsoft.com/office/officeart/2018/2/layout/IconVerticalSolidList"/>
    <dgm:cxn modelId="{61B24131-2394-4FEA-A25A-A4954FC27DAA}" srcId="{2167A08B-8A43-4DAC-BD07-FC356423320B}" destId="{FDDAD8C8-F6C7-4635-A246-F8ED50F99BF2}" srcOrd="3" destOrd="0" parTransId="{BD65DB62-83A0-4BA0-B08D-CB67B86F2DBA}" sibTransId="{F187D4BB-A76E-408D-A1F8-48A9556BA1E1}"/>
    <dgm:cxn modelId="{A2C00239-F347-4217-A37E-0EC9F4A32E11}" type="presOf" srcId="{58C20162-B4C5-462D-B989-5787E443CB13}" destId="{503597BC-A568-4FF3-83D6-077AADD51A2D}" srcOrd="0" destOrd="0" presId="urn:microsoft.com/office/officeart/2018/2/layout/IconVerticalSolidList"/>
    <dgm:cxn modelId="{E1494F41-1EBF-4606-AE04-6FBA3D6B9C5B}" type="presOf" srcId="{F624E435-D8FA-40F5-8B0C-16AA658E68A0}" destId="{F57FFEA6-F15F-4868-94CD-94BB5F8CC020}" srcOrd="0" destOrd="0" presId="urn:microsoft.com/office/officeart/2018/2/layout/IconVerticalSolidList"/>
    <dgm:cxn modelId="{76961D60-BAE5-49D5-B1ED-3C843574BFAA}" type="presOf" srcId="{2167A08B-8A43-4DAC-BD07-FC356423320B}" destId="{955F7EBC-D57C-4402-B032-ADA699D3C363}" srcOrd="0" destOrd="0" presId="urn:microsoft.com/office/officeart/2018/2/layout/IconVerticalSolidList"/>
    <dgm:cxn modelId="{381A2960-695A-4D25-A51E-BD1E8DD5A027}" type="presOf" srcId="{540C82D3-2B7D-440C-A15F-07DE03CD7F52}" destId="{DBB63477-7A57-44A2-8FAC-6390C77B9E24}" srcOrd="0" destOrd="0" presId="urn:microsoft.com/office/officeart/2018/2/layout/IconVerticalSolidList"/>
    <dgm:cxn modelId="{8CA55876-6183-4C17-87FF-47449486DD87}" srcId="{2167A08B-8A43-4DAC-BD07-FC356423320B}" destId="{58C20162-B4C5-462D-B989-5787E443CB13}" srcOrd="5" destOrd="0" parTransId="{4B02DC22-66B8-4A7C-9CB1-BAE5A7C21309}" sibTransId="{AD5BB39C-2EC8-429C-BF5B-77A0672479A0}"/>
    <dgm:cxn modelId="{685154BC-DC97-419C-9B8C-0CFA2FDF5473}" srcId="{2167A08B-8A43-4DAC-BD07-FC356423320B}" destId="{540C82D3-2B7D-440C-A15F-07DE03CD7F52}" srcOrd="1" destOrd="0" parTransId="{3F39752B-9C58-42F3-AB10-7F6A8A517EEE}" sibTransId="{B9114C5F-A5FB-4F82-9200-0AD90AFA5390}"/>
    <dgm:cxn modelId="{0AD5EEC0-FA61-4077-A986-B82B209AD4CE}" type="presOf" srcId="{FDDAD8C8-F6C7-4635-A246-F8ED50F99BF2}" destId="{D41301AC-7A06-4301-8488-3ECB2AA6CA54}" srcOrd="0" destOrd="0" presId="urn:microsoft.com/office/officeart/2018/2/layout/IconVerticalSolidList"/>
    <dgm:cxn modelId="{55C143C1-2269-453C-9164-0983140AC95F}" srcId="{2167A08B-8A43-4DAC-BD07-FC356423320B}" destId="{A7FB9824-E1A7-458C-AB72-7465BCECE62D}" srcOrd="2" destOrd="0" parTransId="{66F0E63B-67A4-48BC-9907-84BBD1837F3A}" sibTransId="{CCB9CC20-727A-47A7-883F-DCC890910A94}"/>
    <dgm:cxn modelId="{DA10E4DA-A625-4258-8C07-F9FE9FBE2F3C}" srcId="{2167A08B-8A43-4DAC-BD07-FC356423320B}" destId="{76C455C5-D65C-4C70-86BE-9F5E2B5E9DB1}" srcOrd="4" destOrd="0" parTransId="{283CBBA1-75CF-4601-9247-2DA8B42B6731}" sibTransId="{0332FFD7-285A-4414-A42C-F48C37D0F452}"/>
    <dgm:cxn modelId="{A73858ED-FDD1-438D-B105-EAE5085814A8}" srcId="{2167A08B-8A43-4DAC-BD07-FC356423320B}" destId="{F624E435-D8FA-40F5-8B0C-16AA658E68A0}" srcOrd="0" destOrd="0" parTransId="{3E39FAA3-D0C8-42C8-A55B-9D9891AE84B5}" sibTransId="{7785D9CB-1F63-449B-86F7-5F40DE3C9B7A}"/>
    <dgm:cxn modelId="{9C2101FD-0244-484A-BB14-B07B39FF47E8}" type="presOf" srcId="{76C455C5-D65C-4C70-86BE-9F5E2B5E9DB1}" destId="{F5EC9243-92C4-4544-AD6A-AB3C577410F6}" srcOrd="0" destOrd="0" presId="urn:microsoft.com/office/officeart/2018/2/layout/IconVerticalSolidList"/>
    <dgm:cxn modelId="{6A6A0E04-77DD-4D2A-906A-7506B166E5CE}" type="presParOf" srcId="{955F7EBC-D57C-4402-B032-ADA699D3C363}" destId="{84FE75A5-67B5-4DB3-8166-724725C4AEBC}" srcOrd="0" destOrd="0" presId="urn:microsoft.com/office/officeart/2018/2/layout/IconVerticalSolidList"/>
    <dgm:cxn modelId="{1AC05EFA-D114-480C-AE0F-55A3B8BA399D}" type="presParOf" srcId="{84FE75A5-67B5-4DB3-8166-724725C4AEBC}" destId="{4DD2B7CB-17E2-4C5E-A8B4-1DAF4D75FFC0}" srcOrd="0" destOrd="0" presId="urn:microsoft.com/office/officeart/2018/2/layout/IconVerticalSolidList"/>
    <dgm:cxn modelId="{F8EF9E34-2EA0-4617-A4AD-C89F74FE65CB}" type="presParOf" srcId="{84FE75A5-67B5-4DB3-8166-724725C4AEBC}" destId="{B9B6C486-7935-4518-BEB5-2CE587E98F35}" srcOrd="1" destOrd="0" presId="urn:microsoft.com/office/officeart/2018/2/layout/IconVerticalSolidList"/>
    <dgm:cxn modelId="{99048D4F-815B-47F8-9AB6-5174080E2A7D}" type="presParOf" srcId="{84FE75A5-67B5-4DB3-8166-724725C4AEBC}" destId="{9E67D886-6E4F-4FDF-96A8-D70CBDD79B58}" srcOrd="2" destOrd="0" presId="urn:microsoft.com/office/officeart/2018/2/layout/IconVerticalSolidList"/>
    <dgm:cxn modelId="{66471299-D8D6-4AF1-BDD2-423BBAD49464}" type="presParOf" srcId="{84FE75A5-67B5-4DB3-8166-724725C4AEBC}" destId="{F57FFEA6-F15F-4868-94CD-94BB5F8CC020}" srcOrd="3" destOrd="0" presId="urn:microsoft.com/office/officeart/2018/2/layout/IconVerticalSolidList"/>
    <dgm:cxn modelId="{5015FBBA-575A-426A-A8A5-058C884D328B}" type="presParOf" srcId="{955F7EBC-D57C-4402-B032-ADA699D3C363}" destId="{EF6BD040-15E7-4A67-96A8-720B26E6C36B}" srcOrd="1" destOrd="0" presId="urn:microsoft.com/office/officeart/2018/2/layout/IconVerticalSolidList"/>
    <dgm:cxn modelId="{8CF1B20A-6765-45C3-9E51-FC55F4A012EF}" type="presParOf" srcId="{955F7EBC-D57C-4402-B032-ADA699D3C363}" destId="{7A68689B-39C4-403B-AF97-CED68E02FDF5}" srcOrd="2" destOrd="0" presId="urn:microsoft.com/office/officeart/2018/2/layout/IconVerticalSolidList"/>
    <dgm:cxn modelId="{D3660160-1A76-4CF7-AB67-F0B98FB5B49B}" type="presParOf" srcId="{7A68689B-39C4-403B-AF97-CED68E02FDF5}" destId="{15DDB939-CA4E-4DE4-95A2-BAD9A30A17CC}" srcOrd="0" destOrd="0" presId="urn:microsoft.com/office/officeart/2018/2/layout/IconVerticalSolidList"/>
    <dgm:cxn modelId="{ED6BCDA9-28B9-487B-A854-D919FC01D54E}" type="presParOf" srcId="{7A68689B-39C4-403B-AF97-CED68E02FDF5}" destId="{E4F3F66A-AF42-43B5-93D6-E0B84EEBDCFC}" srcOrd="1" destOrd="0" presId="urn:microsoft.com/office/officeart/2018/2/layout/IconVerticalSolidList"/>
    <dgm:cxn modelId="{A16D86D3-44C6-48D6-860E-6F0C6C475A6D}" type="presParOf" srcId="{7A68689B-39C4-403B-AF97-CED68E02FDF5}" destId="{C11BC3E0-C001-4C66-ADA7-25E2CD54C61D}" srcOrd="2" destOrd="0" presId="urn:microsoft.com/office/officeart/2018/2/layout/IconVerticalSolidList"/>
    <dgm:cxn modelId="{C908B39B-CB0C-4EE5-9162-B2C55BCB4CAC}" type="presParOf" srcId="{7A68689B-39C4-403B-AF97-CED68E02FDF5}" destId="{DBB63477-7A57-44A2-8FAC-6390C77B9E24}" srcOrd="3" destOrd="0" presId="urn:microsoft.com/office/officeart/2018/2/layout/IconVerticalSolidList"/>
    <dgm:cxn modelId="{C535DF50-0B01-4812-A17B-C3B628299B82}" type="presParOf" srcId="{955F7EBC-D57C-4402-B032-ADA699D3C363}" destId="{A89EED14-5DC1-4F8F-AE3B-C2D33B7F8DE0}" srcOrd="3" destOrd="0" presId="urn:microsoft.com/office/officeart/2018/2/layout/IconVerticalSolidList"/>
    <dgm:cxn modelId="{DE246D19-F318-49EF-9866-35AFE4D64599}" type="presParOf" srcId="{955F7EBC-D57C-4402-B032-ADA699D3C363}" destId="{14B0FFCF-6A63-4965-826F-4461C6A3852C}" srcOrd="4" destOrd="0" presId="urn:microsoft.com/office/officeart/2018/2/layout/IconVerticalSolidList"/>
    <dgm:cxn modelId="{5932A06B-FA21-4FE5-A088-435A59670778}" type="presParOf" srcId="{14B0FFCF-6A63-4965-826F-4461C6A3852C}" destId="{3EF2CB2A-8987-43A4-A0B0-DD56B5E58637}" srcOrd="0" destOrd="0" presId="urn:microsoft.com/office/officeart/2018/2/layout/IconVerticalSolidList"/>
    <dgm:cxn modelId="{DE186FC4-9FD7-4C6A-9777-07EF4B8E7A9F}" type="presParOf" srcId="{14B0FFCF-6A63-4965-826F-4461C6A3852C}" destId="{E40F5A8B-057D-4533-8BDD-5352BADA7C6F}" srcOrd="1" destOrd="0" presId="urn:microsoft.com/office/officeart/2018/2/layout/IconVerticalSolidList"/>
    <dgm:cxn modelId="{397083AE-2F2A-4132-B4C7-FC1AA5E34D20}" type="presParOf" srcId="{14B0FFCF-6A63-4965-826F-4461C6A3852C}" destId="{F28002F1-E450-4B1B-B099-1D28B223FD56}" srcOrd="2" destOrd="0" presId="urn:microsoft.com/office/officeart/2018/2/layout/IconVerticalSolidList"/>
    <dgm:cxn modelId="{6E14DAE3-F43B-451F-913A-6692655F98AF}" type="presParOf" srcId="{14B0FFCF-6A63-4965-826F-4461C6A3852C}" destId="{B29B42D3-D53C-419D-AF88-BA77FBC75701}" srcOrd="3" destOrd="0" presId="urn:microsoft.com/office/officeart/2018/2/layout/IconVerticalSolidList"/>
    <dgm:cxn modelId="{7A50595C-657B-43F4-BCC6-E76E139C4FA5}" type="presParOf" srcId="{955F7EBC-D57C-4402-B032-ADA699D3C363}" destId="{02A2D483-7FA1-4964-B152-90F5F857EE7E}" srcOrd="5" destOrd="0" presId="urn:microsoft.com/office/officeart/2018/2/layout/IconVerticalSolidList"/>
    <dgm:cxn modelId="{E1D6D68B-9EDD-453A-856B-E9838DAC5098}" type="presParOf" srcId="{955F7EBC-D57C-4402-B032-ADA699D3C363}" destId="{C1379D25-D20B-448E-8B14-589EDE6F7C24}" srcOrd="6" destOrd="0" presId="urn:microsoft.com/office/officeart/2018/2/layout/IconVerticalSolidList"/>
    <dgm:cxn modelId="{4A3790B4-627E-43A6-AA62-14FA987FA232}" type="presParOf" srcId="{C1379D25-D20B-448E-8B14-589EDE6F7C24}" destId="{422AB215-CAB2-4F3C-B79D-68A974F668DB}" srcOrd="0" destOrd="0" presId="urn:microsoft.com/office/officeart/2018/2/layout/IconVerticalSolidList"/>
    <dgm:cxn modelId="{305D41BE-C509-483B-A2F8-482D9C22D3E4}" type="presParOf" srcId="{C1379D25-D20B-448E-8B14-589EDE6F7C24}" destId="{6E365D8D-4B04-47AB-93DD-11D316E4A09B}" srcOrd="1" destOrd="0" presId="urn:microsoft.com/office/officeart/2018/2/layout/IconVerticalSolidList"/>
    <dgm:cxn modelId="{285F412B-7F54-48AE-8C8D-B52F1561F550}" type="presParOf" srcId="{C1379D25-D20B-448E-8B14-589EDE6F7C24}" destId="{2FF33C62-7F6E-481E-B8EE-ED04FF72E796}" srcOrd="2" destOrd="0" presId="urn:microsoft.com/office/officeart/2018/2/layout/IconVerticalSolidList"/>
    <dgm:cxn modelId="{8117E1E5-D2E4-4BA8-8F91-27A21A16DDDB}" type="presParOf" srcId="{C1379D25-D20B-448E-8B14-589EDE6F7C24}" destId="{D41301AC-7A06-4301-8488-3ECB2AA6CA54}" srcOrd="3" destOrd="0" presId="urn:microsoft.com/office/officeart/2018/2/layout/IconVerticalSolidList"/>
    <dgm:cxn modelId="{DEF7276A-300D-4C78-9AE3-CB4113B881C4}" type="presParOf" srcId="{955F7EBC-D57C-4402-B032-ADA699D3C363}" destId="{0A4D1B74-DB26-49AE-945B-730CE127562F}" srcOrd="7" destOrd="0" presId="urn:microsoft.com/office/officeart/2018/2/layout/IconVerticalSolidList"/>
    <dgm:cxn modelId="{B559CCE5-A4C1-481E-AFCA-EA2031946814}" type="presParOf" srcId="{955F7EBC-D57C-4402-B032-ADA699D3C363}" destId="{57C0A10E-5400-483F-8A37-F5D4B524B74A}" srcOrd="8" destOrd="0" presId="urn:microsoft.com/office/officeart/2018/2/layout/IconVerticalSolidList"/>
    <dgm:cxn modelId="{AF28D093-3547-4E47-885D-155C0078ECB7}" type="presParOf" srcId="{57C0A10E-5400-483F-8A37-F5D4B524B74A}" destId="{1739D48B-9B1D-4E6E-AE78-AA2F7C8CD443}" srcOrd="0" destOrd="0" presId="urn:microsoft.com/office/officeart/2018/2/layout/IconVerticalSolidList"/>
    <dgm:cxn modelId="{A8014761-94AD-41FA-A919-F8E9F527FC5E}" type="presParOf" srcId="{57C0A10E-5400-483F-8A37-F5D4B524B74A}" destId="{1B5FBB9F-C897-46C8-B693-A0B9A48543DA}" srcOrd="1" destOrd="0" presId="urn:microsoft.com/office/officeart/2018/2/layout/IconVerticalSolidList"/>
    <dgm:cxn modelId="{B32DED0C-8CBA-45DF-A9F2-EA3FF9ACB67D}" type="presParOf" srcId="{57C0A10E-5400-483F-8A37-F5D4B524B74A}" destId="{AEE8A7DE-8EA8-454C-BAFB-513CEEE7719D}" srcOrd="2" destOrd="0" presId="urn:microsoft.com/office/officeart/2018/2/layout/IconVerticalSolidList"/>
    <dgm:cxn modelId="{68ED4533-E3C2-486C-9618-055E7FDB8E03}" type="presParOf" srcId="{57C0A10E-5400-483F-8A37-F5D4B524B74A}" destId="{F5EC9243-92C4-4544-AD6A-AB3C577410F6}" srcOrd="3" destOrd="0" presId="urn:microsoft.com/office/officeart/2018/2/layout/IconVerticalSolidList"/>
    <dgm:cxn modelId="{A35F7D38-25FF-4C7B-B473-9FDDA460D199}" type="presParOf" srcId="{955F7EBC-D57C-4402-B032-ADA699D3C363}" destId="{59CAD703-2C50-40FC-9777-5ECE8F7A4283}" srcOrd="9" destOrd="0" presId="urn:microsoft.com/office/officeart/2018/2/layout/IconVerticalSolidList"/>
    <dgm:cxn modelId="{69CB9301-8CC6-43AF-804F-0A1EE7B466BC}" type="presParOf" srcId="{955F7EBC-D57C-4402-B032-ADA699D3C363}" destId="{83059BAF-4F50-4514-AD8C-68297616D5A3}" srcOrd="10" destOrd="0" presId="urn:microsoft.com/office/officeart/2018/2/layout/IconVerticalSolidList"/>
    <dgm:cxn modelId="{EC80B784-3E1E-4B9E-82E8-73F5FF8C492D}" type="presParOf" srcId="{83059BAF-4F50-4514-AD8C-68297616D5A3}" destId="{83A38D68-4227-4C9C-B1AF-43E67BE51A1A}" srcOrd="0" destOrd="0" presId="urn:microsoft.com/office/officeart/2018/2/layout/IconVerticalSolidList"/>
    <dgm:cxn modelId="{D49237A2-2B6A-4CAF-8FEC-98A103B863B1}" type="presParOf" srcId="{83059BAF-4F50-4514-AD8C-68297616D5A3}" destId="{81846A15-08F0-4C59-8A31-774C9A98C9E5}" srcOrd="1" destOrd="0" presId="urn:microsoft.com/office/officeart/2018/2/layout/IconVerticalSolidList"/>
    <dgm:cxn modelId="{DE5E3CFE-590C-42B8-BC5E-9C1710AC0A39}" type="presParOf" srcId="{83059BAF-4F50-4514-AD8C-68297616D5A3}" destId="{A72ACC13-72CC-48DE-99EA-B4A9B8465FBD}" srcOrd="2" destOrd="0" presId="urn:microsoft.com/office/officeart/2018/2/layout/IconVerticalSolidList"/>
    <dgm:cxn modelId="{AE724040-A588-46C0-9552-823B353EE52E}" type="presParOf" srcId="{83059BAF-4F50-4514-AD8C-68297616D5A3}" destId="{503597BC-A568-4FF3-83D6-077AADD51A2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D72B3A2-3DBE-4C15-BC16-739FCD21C031}"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en-US"/>
        </a:p>
      </dgm:t>
    </dgm:pt>
    <dgm:pt modelId="{BD56DCD8-C9B2-4101-A233-3742A3747323}">
      <dgm:prSet/>
      <dgm:spPr/>
      <dgm:t>
        <a:bodyPr/>
        <a:lstStyle/>
        <a:p>
          <a:r>
            <a:rPr lang="en-US"/>
            <a:t>Vague requirements → different interpretations</a:t>
          </a:r>
        </a:p>
      </dgm:t>
    </dgm:pt>
    <dgm:pt modelId="{E22D263F-1465-4509-898A-32EE87E590C0}" type="parTrans" cxnId="{8E52C8C0-495A-43DA-A8D6-EB126E328B69}">
      <dgm:prSet/>
      <dgm:spPr/>
      <dgm:t>
        <a:bodyPr/>
        <a:lstStyle/>
        <a:p>
          <a:endParaRPr lang="en-US"/>
        </a:p>
      </dgm:t>
    </dgm:pt>
    <dgm:pt modelId="{706427F3-C2AF-4EB8-B610-A3FEDC8C2964}" type="sibTrans" cxnId="{8E52C8C0-495A-43DA-A8D6-EB126E328B69}">
      <dgm:prSet/>
      <dgm:spPr/>
      <dgm:t>
        <a:bodyPr/>
        <a:lstStyle/>
        <a:p>
          <a:endParaRPr lang="en-US"/>
        </a:p>
      </dgm:t>
    </dgm:pt>
    <dgm:pt modelId="{186182EE-7FB5-47DE-A150-1605B99E890E}">
      <dgm:prSet/>
      <dgm:spPr/>
      <dgm:t>
        <a:bodyPr/>
        <a:lstStyle/>
        <a:p>
          <a:r>
            <a:rPr lang="en-US"/>
            <a:t>Hard-to-verify acceptance criteria</a:t>
          </a:r>
        </a:p>
      </dgm:t>
    </dgm:pt>
    <dgm:pt modelId="{5DBF8A71-10C7-44BF-87A0-EAD725BFFE9F}" type="parTrans" cxnId="{AD277FDC-FF77-49DC-A49B-081C40523331}">
      <dgm:prSet/>
      <dgm:spPr/>
      <dgm:t>
        <a:bodyPr/>
        <a:lstStyle/>
        <a:p>
          <a:endParaRPr lang="en-US"/>
        </a:p>
      </dgm:t>
    </dgm:pt>
    <dgm:pt modelId="{7BE66B75-ACE4-4542-BF07-91B5FB4ED6FB}" type="sibTrans" cxnId="{AD277FDC-FF77-49DC-A49B-081C40523331}">
      <dgm:prSet/>
      <dgm:spPr/>
      <dgm:t>
        <a:bodyPr/>
        <a:lstStyle/>
        <a:p>
          <a:endParaRPr lang="en-US"/>
        </a:p>
      </dgm:t>
    </dgm:pt>
    <dgm:pt modelId="{D526A1A6-18B0-4558-91BE-F5B0EBC74891}">
      <dgm:prSet/>
      <dgm:spPr/>
      <dgm:t>
        <a:bodyPr/>
        <a:lstStyle/>
        <a:p>
          <a:r>
            <a:rPr lang="en-US"/>
            <a:t>Late surprises during QA/release</a:t>
          </a:r>
        </a:p>
      </dgm:t>
    </dgm:pt>
    <dgm:pt modelId="{A4462F3C-DA05-46EF-9E4C-A852D5BF4DAF}" type="parTrans" cxnId="{7FE4BAB6-5DA8-48A0-A983-868C52664BE5}">
      <dgm:prSet/>
      <dgm:spPr/>
      <dgm:t>
        <a:bodyPr/>
        <a:lstStyle/>
        <a:p>
          <a:endParaRPr lang="en-US"/>
        </a:p>
      </dgm:t>
    </dgm:pt>
    <dgm:pt modelId="{07E46CCC-BD7A-4490-AD0D-958944A8A6EB}" type="sibTrans" cxnId="{7FE4BAB6-5DA8-48A0-A983-868C52664BE5}">
      <dgm:prSet/>
      <dgm:spPr/>
      <dgm:t>
        <a:bodyPr/>
        <a:lstStyle/>
        <a:p>
          <a:endParaRPr lang="en-US"/>
        </a:p>
      </dgm:t>
    </dgm:pt>
    <dgm:pt modelId="{86BA606E-A075-4EBA-8BAC-A009A3A0A715}">
      <dgm:prSet/>
      <dgm:spPr/>
      <dgm:t>
        <a:bodyPr/>
        <a:lstStyle/>
        <a:p>
          <a:r>
            <a:rPr lang="en-US"/>
            <a:t>Knowledge trapped in heads and chat logs</a:t>
          </a:r>
        </a:p>
      </dgm:t>
    </dgm:pt>
    <dgm:pt modelId="{9723F6AE-56D1-43A6-88CB-D85F35B542BE}" type="parTrans" cxnId="{FBBE0075-5406-42E1-8AE7-C89F7256769B}">
      <dgm:prSet/>
      <dgm:spPr/>
      <dgm:t>
        <a:bodyPr/>
        <a:lstStyle/>
        <a:p>
          <a:endParaRPr lang="en-US"/>
        </a:p>
      </dgm:t>
    </dgm:pt>
    <dgm:pt modelId="{C1E22B99-3EE8-4998-B2F5-0E1A59E94523}" type="sibTrans" cxnId="{FBBE0075-5406-42E1-8AE7-C89F7256769B}">
      <dgm:prSet/>
      <dgm:spPr/>
      <dgm:t>
        <a:bodyPr/>
        <a:lstStyle/>
        <a:p>
          <a:endParaRPr lang="en-US"/>
        </a:p>
      </dgm:t>
    </dgm:pt>
    <dgm:pt modelId="{DDA80F74-5A7F-C344-B428-597F4C0D6E2C}" type="pres">
      <dgm:prSet presAssocID="{6D72B3A2-3DBE-4C15-BC16-739FCD21C031}" presName="matrix" presStyleCnt="0">
        <dgm:presLayoutVars>
          <dgm:chMax val="1"/>
          <dgm:dir/>
          <dgm:resizeHandles val="exact"/>
        </dgm:presLayoutVars>
      </dgm:prSet>
      <dgm:spPr/>
    </dgm:pt>
    <dgm:pt modelId="{5245D0D2-D20F-5F42-A6FB-E2DEAF82CE32}" type="pres">
      <dgm:prSet presAssocID="{6D72B3A2-3DBE-4C15-BC16-739FCD21C031}" presName="diamond" presStyleLbl="bgShp" presStyleIdx="0" presStyleCnt="1"/>
      <dgm:spPr/>
    </dgm:pt>
    <dgm:pt modelId="{CCABDD29-96BD-D243-A4D1-1CA07D5DA04D}" type="pres">
      <dgm:prSet presAssocID="{6D72B3A2-3DBE-4C15-BC16-739FCD21C031}" presName="quad1" presStyleLbl="node1" presStyleIdx="0" presStyleCnt="4">
        <dgm:presLayoutVars>
          <dgm:chMax val="0"/>
          <dgm:chPref val="0"/>
          <dgm:bulletEnabled val="1"/>
        </dgm:presLayoutVars>
      </dgm:prSet>
      <dgm:spPr/>
    </dgm:pt>
    <dgm:pt modelId="{CAF362A7-3964-0E41-A992-35E423B65138}" type="pres">
      <dgm:prSet presAssocID="{6D72B3A2-3DBE-4C15-BC16-739FCD21C031}" presName="quad2" presStyleLbl="node1" presStyleIdx="1" presStyleCnt="4">
        <dgm:presLayoutVars>
          <dgm:chMax val="0"/>
          <dgm:chPref val="0"/>
          <dgm:bulletEnabled val="1"/>
        </dgm:presLayoutVars>
      </dgm:prSet>
      <dgm:spPr/>
    </dgm:pt>
    <dgm:pt modelId="{6424156F-0C6F-6746-8BC2-7F1EF8B80534}" type="pres">
      <dgm:prSet presAssocID="{6D72B3A2-3DBE-4C15-BC16-739FCD21C031}" presName="quad3" presStyleLbl="node1" presStyleIdx="2" presStyleCnt="4">
        <dgm:presLayoutVars>
          <dgm:chMax val="0"/>
          <dgm:chPref val="0"/>
          <dgm:bulletEnabled val="1"/>
        </dgm:presLayoutVars>
      </dgm:prSet>
      <dgm:spPr/>
    </dgm:pt>
    <dgm:pt modelId="{D0C3F3F9-46C0-5343-A32B-86FA4A2968C2}" type="pres">
      <dgm:prSet presAssocID="{6D72B3A2-3DBE-4C15-BC16-739FCD21C031}" presName="quad4" presStyleLbl="node1" presStyleIdx="3" presStyleCnt="4">
        <dgm:presLayoutVars>
          <dgm:chMax val="0"/>
          <dgm:chPref val="0"/>
          <dgm:bulletEnabled val="1"/>
        </dgm:presLayoutVars>
      </dgm:prSet>
      <dgm:spPr/>
    </dgm:pt>
  </dgm:ptLst>
  <dgm:cxnLst>
    <dgm:cxn modelId="{AF1E9143-D1F7-FD4D-B5BB-FD12786DEAE8}" type="presOf" srcId="{D526A1A6-18B0-4558-91BE-F5B0EBC74891}" destId="{6424156F-0C6F-6746-8BC2-7F1EF8B80534}" srcOrd="0" destOrd="0" presId="urn:microsoft.com/office/officeart/2005/8/layout/matrix3"/>
    <dgm:cxn modelId="{71623546-BEFF-BA45-BE29-E99ACAB643B6}" type="presOf" srcId="{6D72B3A2-3DBE-4C15-BC16-739FCD21C031}" destId="{DDA80F74-5A7F-C344-B428-597F4C0D6E2C}" srcOrd="0" destOrd="0" presId="urn:microsoft.com/office/officeart/2005/8/layout/matrix3"/>
    <dgm:cxn modelId="{A29D4A59-2209-3440-A3E1-54735BF436B3}" type="presOf" srcId="{BD56DCD8-C9B2-4101-A233-3742A3747323}" destId="{CCABDD29-96BD-D243-A4D1-1CA07D5DA04D}" srcOrd="0" destOrd="0" presId="urn:microsoft.com/office/officeart/2005/8/layout/matrix3"/>
    <dgm:cxn modelId="{6D3D6C65-5398-B047-A70D-82964A8E6ABA}" type="presOf" srcId="{86BA606E-A075-4EBA-8BAC-A009A3A0A715}" destId="{D0C3F3F9-46C0-5343-A32B-86FA4A2968C2}" srcOrd="0" destOrd="0" presId="urn:microsoft.com/office/officeart/2005/8/layout/matrix3"/>
    <dgm:cxn modelId="{624D096D-078E-2641-A833-C6B07D1E9715}" type="presOf" srcId="{186182EE-7FB5-47DE-A150-1605B99E890E}" destId="{CAF362A7-3964-0E41-A992-35E423B65138}" srcOrd="0" destOrd="0" presId="urn:microsoft.com/office/officeart/2005/8/layout/matrix3"/>
    <dgm:cxn modelId="{FBBE0075-5406-42E1-8AE7-C89F7256769B}" srcId="{6D72B3A2-3DBE-4C15-BC16-739FCD21C031}" destId="{86BA606E-A075-4EBA-8BAC-A009A3A0A715}" srcOrd="3" destOrd="0" parTransId="{9723F6AE-56D1-43A6-88CB-D85F35B542BE}" sibTransId="{C1E22B99-3EE8-4998-B2F5-0E1A59E94523}"/>
    <dgm:cxn modelId="{7FE4BAB6-5DA8-48A0-A983-868C52664BE5}" srcId="{6D72B3A2-3DBE-4C15-BC16-739FCD21C031}" destId="{D526A1A6-18B0-4558-91BE-F5B0EBC74891}" srcOrd="2" destOrd="0" parTransId="{A4462F3C-DA05-46EF-9E4C-A852D5BF4DAF}" sibTransId="{07E46CCC-BD7A-4490-AD0D-958944A8A6EB}"/>
    <dgm:cxn modelId="{8E52C8C0-495A-43DA-A8D6-EB126E328B69}" srcId="{6D72B3A2-3DBE-4C15-BC16-739FCD21C031}" destId="{BD56DCD8-C9B2-4101-A233-3742A3747323}" srcOrd="0" destOrd="0" parTransId="{E22D263F-1465-4509-898A-32EE87E590C0}" sibTransId="{706427F3-C2AF-4EB8-B610-A3FEDC8C2964}"/>
    <dgm:cxn modelId="{AD277FDC-FF77-49DC-A49B-081C40523331}" srcId="{6D72B3A2-3DBE-4C15-BC16-739FCD21C031}" destId="{186182EE-7FB5-47DE-A150-1605B99E890E}" srcOrd="1" destOrd="0" parTransId="{5DBF8A71-10C7-44BF-87A0-EAD725BFFE9F}" sibTransId="{7BE66B75-ACE4-4542-BF07-91B5FB4ED6FB}"/>
    <dgm:cxn modelId="{6A14D28A-3EF1-3545-ACE1-7BB9C560C032}" type="presParOf" srcId="{DDA80F74-5A7F-C344-B428-597F4C0D6E2C}" destId="{5245D0D2-D20F-5F42-A6FB-E2DEAF82CE32}" srcOrd="0" destOrd="0" presId="urn:microsoft.com/office/officeart/2005/8/layout/matrix3"/>
    <dgm:cxn modelId="{B0C60E5A-3448-B14D-B525-535D22944611}" type="presParOf" srcId="{DDA80F74-5A7F-C344-B428-597F4C0D6E2C}" destId="{CCABDD29-96BD-D243-A4D1-1CA07D5DA04D}" srcOrd="1" destOrd="0" presId="urn:microsoft.com/office/officeart/2005/8/layout/matrix3"/>
    <dgm:cxn modelId="{C024DD77-4488-B04D-984A-F817840A616D}" type="presParOf" srcId="{DDA80F74-5A7F-C344-B428-597F4C0D6E2C}" destId="{CAF362A7-3964-0E41-A992-35E423B65138}" srcOrd="2" destOrd="0" presId="urn:microsoft.com/office/officeart/2005/8/layout/matrix3"/>
    <dgm:cxn modelId="{179718C2-D673-F34F-9D99-D58125497880}" type="presParOf" srcId="{DDA80F74-5A7F-C344-B428-597F4C0D6E2C}" destId="{6424156F-0C6F-6746-8BC2-7F1EF8B80534}" srcOrd="3" destOrd="0" presId="urn:microsoft.com/office/officeart/2005/8/layout/matrix3"/>
    <dgm:cxn modelId="{5FBEB146-3BDF-AF47-9442-D9454F84CEB8}" type="presParOf" srcId="{DDA80F74-5A7F-C344-B428-597F4C0D6E2C}" destId="{D0C3F3F9-46C0-5343-A32B-86FA4A2968C2}"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6E97EBD-2D91-47D9-8D37-91886FD01783}"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A43B5CB-0B2A-4921-97BF-CAFD5BF9DF45}">
      <dgm:prSet/>
      <dgm:spPr/>
      <dgm:t>
        <a:bodyPr/>
        <a:lstStyle/>
        <a:p>
          <a:pPr>
            <a:defRPr cap="all"/>
          </a:pPr>
          <a:r>
            <a:rPr lang="en-US"/>
            <a:t>Bring a story/requirement</a:t>
          </a:r>
        </a:p>
      </dgm:t>
    </dgm:pt>
    <dgm:pt modelId="{BF022EB8-FEAD-47EB-8E53-851176B00284}" type="parTrans" cxnId="{99EA0B34-E140-48CA-B43B-DE72DE7A7EC3}">
      <dgm:prSet/>
      <dgm:spPr/>
      <dgm:t>
        <a:bodyPr/>
        <a:lstStyle/>
        <a:p>
          <a:endParaRPr lang="en-US"/>
        </a:p>
      </dgm:t>
    </dgm:pt>
    <dgm:pt modelId="{CBFA0898-27FB-44D9-A92C-57A8A33B304B}" type="sibTrans" cxnId="{99EA0B34-E140-48CA-B43B-DE72DE7A7EC3}">
      <dgm:prSet/>
      <dgm:spPr/>
      <dgm:t>
        <a:bodyPr/>
        <a:lstStyle/>
        <a:p>
          <a:endParaRPr lang="en-US"/>
        </a:p>
      </dgm:t>
    </dgm:pt>
    <dgm:pt modelId="{B014E17D-8A9D-46D6-94CB-3B81118576D3}">
      <dgm:prSet/>
      <dgm:spPr/>
      <dgm:t>
        <a:bodyPr/>
        <a:lstStyle/>
        <a:p>
          <a:pPr>
            <a:defRPr cap="all"/>
          </a:pPr>
          <a:r>
            <a:rPr lang="en-US"/>
            <a:t>Ask: “What are real examples?”</a:t>
          </a:r>
        </a:p>
      </dgm:t>
    </dgm:pt>
    <dgm:pt modelId="{22CD39B5-96F0-40E1-8D1F-39C688250B94}" type="parTrans" cxnId="{F54598FA-2AD8-4961-948A-74322295D11C}">
      <dgm:prSet/>
      <dgm:spPr/>
      <dgm:t>
        <a:bodyPr/>
        <a:lstStyle/>
        <a:p>
          <a:endParaRPr lang="en-US"/>
        </a:p>
      </dgm:t>
    </dgm:pt>
    <dgm:pt modelId="{3C027392-9CB8-4F00-8D83-A4CE519F6FBD}" type="sibTrans" cxnId="{F54598FA-2AD8-4961-948A-74322295D11C}">
      <dgm:prSet/>
      <dgm:spPr/>
      <dgm:t>
        <a:bodyPr/>
        <a:lstStyle/>
        <a:p>
          <a:endParaRPr lang="en-US"/>
        </a:p>
      </dgm:t>
    </dgm:pt>
    <dgm:pt modelId="{11B2F5EC-1777-4471-80D9-200EF85C68FC}">
      <dgm:prSet/>
      <dgm:spPr/>
      <dgm:t>
        <a:bodyPr/>
        <a:lstStyle/>
        <a:p>
          <a:pPr>
            <a:defRPr cap="all"/>
          </a:pPr>
          <a:r>
            <a:rPr lang="en-US"/>
            <a:t>Capture rules, edge cases, risks</a:t>
          </a:r>
        </a:p>
      </dgm:t>
    </dgm:pt>
    <dgm:pt modelId="{9CD2153E-82FA-4888-90CC-5CD9868D9E4A}" type="parTrans" cxnId="{EB53ADCC-B76C-4B35-AAC9-1799418114B5}">
      <dgm:prSet/>
      <dgm:spPr/>
      <dgm:t>
        <a:bodyPr/>
        <a:lstStyle/>
        <a:p>
          <a:endParaRPr lang="en-US"/>
        </a:p>
      </dgm:t>
    </dgm:pt>
    <dgm:pt modelId="{074FF864-672E-49D6-BF0E-AE102705A8F0}" type="sibTrans" cxnId="{EB53ADCC-B76C-4B35-AAC9-1799418114B5}">
      <dgm:prSet/>
      <dgm:spPr/>
      <dgm:t>
        <a:bodyPr/>
        <a:lstStyle/>
        <a:p>
          <a:endParaRPr lang="en-US"/>
        </a:p>
      </dgm:t>
    </dgm:pt>
    <dgm:pt modelId="{8FDC13AE-887C-42E3-93FD-1CCEB7F27C6D}">
      <dgm:prSet/>
      <dgm:spPr/>
      <dgm:t>
        <a:bodyPr/>
        <a:lstStyle/>
        <a:p>
          <a:pPr>
            <a:defRPr cap="all"/>
          </a:pPr>
          <a:r>
            <a:rPr lang="en-US"/>
            <a:t>Agree on wording (shared language)</a:t>
          </a:r>
        </a:p>
      </dgm:t>
    </dgm:pt>
    <dgm:pt modelId="{6E3DE307-4FC6-445D-A4C5-9DFD17F5E99A}" type="parTrans" cxnId="{08D6CD62-27FC-4130-B2E6-51B997894081}">
      <dgm:prSet/>
      <dgm:spPr/>
      <dgm:t>
        <a:bodyPr/>
        <a:lstStyle/>
        <a:p>
          <a:endParaRPr lang="en-US"/>
        </a:p>
      </dgm:t>
    </dgm:pt>
    <dgm:pt modelId="{842D24DC-F900-43CC-B695-33D2F8BB4D3D}" type="sibTrans" cxnId="{08D6CD62-27FC-4130-B2E6-51B997894081}">
      <dgm:prSet/>
      <dgm:spPr/>
      <dgm:t>
        <a:bodyPr/>
        <a:lstStyle/>
        <a:p>
          <a:endParaRPr lang="en-US"/>
        </a:p>
      </dgm:t>
    </dgm:pt>
    <dgm:pt modelId="{7F6D92A0-5569-4449-B105-B5DB3A5CEDEA}" type="pres">
      <dgm:prSet presAssocID="{F6E97EBD-2D91-47D9-8D37-91886FD01783}" presName="root" presStyleCnt="0">
        <dgm:presLayoutVars>
          <dgm:dir/>
          <dgm:resizeHandles val="exact"/>
        </dgm:presLayoutVars>
      </dgm:prSet>
      <dgm:spPr/>
    </dgm:pt>
    <dgm:pt modelId="{AA33FB3E-1C4E-47CB-8D72-DA337C2C2305}" type="pres">
      <dgm:prSet presAssocID="{FA43B5CB-0B2A-4921-97BF-CAFD5BF9DF45}" presName="compNode" presStyleCnt="0"/>
      <dgm:spPr/>
    </dgm:pt>
    <dgm:pt modelId="{D5CD90FE-C3DC-40B9-949F-DE27D2E07253}" type="pres">
      <dgm:prSet presAssocID="{FA43B5CB-0B2A-4921-97BF-CAFD5BF9DF45}" presName="iconBgRect" presStyleLbl="bgShp" presStyleIdx="0" presStyleCnt="4"/>
      <dgm:spPr/>
    </dgm:pt>
    <dgm:pt modelId="{7B0D1BB0-0ECE-4451-8AC8-C3AE33FB0DD0}" type="pres">
      <dgm:prSet presAssocID="{FA43B5CB-0B2A-4921-97BF-CAFD5BF9DF4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wspaper"/>
        </a:ext>
      </dgm:extLst>
    </dgm:pt>
    <dgm:pt modelId="{BE85AEFE-CBCB-4380-9363-9191290F0D81}" type="pres">
      <dgm:prSet presAssocID="{FA43B5CB-0B2A-4921-97BF-CAFD5BF9DF45}" presName="spaceRect" presStyleCnt="0"/>
      <dgm:spPr/>
    </dgm:pt>
    <dgm:pt modelId="{85BB6082-0527-4595-8F22-2FB3633F0C5E}" type="pres">
      <dgm:prSet presAssocID="{FA43B5CB-0B2A-4921-97BF-CAFD5BF9DF45}" presName="textRect" presStyleLbl="revTx" presStyleIdx="0" presStyleCnt="4">
        <dgm:presLayoutVars>
          <dgm:chMax val="1"/>
          <dgm:chPref val="1"/>
        </dgm:presLayoutVars>
      </dgm:prSet>
      <dgm:spPr/>
    </dgm:pt>
    <dgm:pt modelId="{3593AE26-780D-46ED-AA54-61A1CF4750F6}" type="pres">
      <dgm:prSet presAssocID="{CBFA0898-27FB-44D9-A92C-57A8A33B304B}" presName="sibTrans" presStyleCnt="0"/>
      <dgm:spPr/>
    </dgm:pt>
    <dgm:pt modelId="{0C92157F-A2B0-430F-B009-91DDC9615916}" type="pres">
      <dgm:prSet presAssocID="{B014E17D-8A9D-46D6-94CB-3B81118576D3}" presName="compNode" presStyleCnt="0"/>
      <dgm:spPr/>
    </dgm:pt>
    <dgm:pt modelId="{C64BEAFA-9C94-43B9-BA1B-449546B1D58E}" type="pres">
      <dgm:prSet presAssocID="{B014E17D-8A9D-46D6-94CB-3B81118576D3}" presName="iconBgRect" presStyleLbl="bgShp" presStyleIdx="1" presStyleCnt="4"/>
      <dgm:spPr/>
    </dgm:pt>
    <dgm:pt modelId="{34E3FC6E-B53A-47FA-A493-F0DFAA573F4D}" type="pres">
      <dgm:prSet presAssocID="{B014E17D-8A9D-46D6-94CB-3B81118576D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DB6D0C5A-2F53-4D19-B821-D7CF4705910D}" type="pres">
      <dgm:prSet presAssocID="{B014E17D-8A9D-46D6-94CB-3B81118576D3}" presName="spaceRect" presStyleCnt="0"/>
      <dgm:spPr/>
    </dgm:pt>
    <dgm:pt modelId="{DB5B4564-B0E5-4BD0-BD1D-43E06330AC45}" type="pres">
      <dgm:prSet presAssocID="{B014E17D-8A9D-46D6-94CB-3B81118576D3}" presName="textRect" presStyleLbl="revTx" presStyleIdx="1" presStyleCnt="4">
        <dgm:presLayoutVars>
          <dgm:chMax val="1"/>
          <dgm:chPref val="1"/>
        </dgm:presLayoutVars>
      </dgm:prSet>
      <dgm:spPr/>
    </dgm:pt>
    <dgm:pt modelId="{EB3B84D0-E9D0-4D5B-ACB2-5CBB4251C0DC}" type="pres">
      <dgm:prSet presAssocID="{3C027392-9CB8-4F00-8D83-A4CE519F6FBD}" presName="sibTrans" presStyleCnt="0"/>
      <dgm:spPr/>
    </dgm:pt>
    <dgm:pt modelId="{745A24F1-B287-4D72-84D6-89FBA8867929}" type="pres">
      <dgm:prSet presAssocID="{11B2F5EC-1777-4471-80D9-200EF85C68FC}" presName="compNode" presStyleCnt="0"/>
      <dgm:spPr/>
    </dgm:pt>
    <dgm:pt modelId="{55AD672F-4BED-497A-BD5F-536D9452D13D}" type="pres">
      <dgm:prSet presAssocID="{11B2F5EC-1777-4471-80D9-200EF85C68FC}" presName="iconBgRect" presStyleLbl="bgShp" presStyleIdx="2" presStyleCnt="4"/>
      <dgm:spPr/>
    </dgm:pt>
    <dgm:pt modelId="{8218F18C-984E-461F-A83E-03A1BCC567C1}" type="pres">
      <dgm:prSet presAssocID="{11B2F5EC-1777-4471-80D9-200EF85C68F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VD player"/>
        </a:ext>
      </dgm:extLst>
    </dgm:pt>
    <dgm:pt modelId="{E9C62901-1869-4D30-8ABE-13D2674D82F8}" type="pres">
      <dgm:prSet presAssocID="{11B2F5EC-1777-4471-80D9-200EF85C68FC}" presName="spaceRect" presStyleCnt="0"/>
      <dgm:spPr/>
    </dgm:pt>
    <dgm:pt modelId="{93B1B210-B5E0-47C5-AA62-517E1CB47C14}" type="pres">
      <dgm:prSet presAssocID="{11B2F5EC-1777-4471-80D9-200EF85C68FC}" presName="textRect" presStyleLbl="revTx" presStyleIdx="2" presStyleCnt="4">
        <dgm:presLayoutVars>
          <dgm:chMax val="1"/>
          <dgm:chPref val="1"/>
        </dgm:presLayoutVars>
      </dgm:prSet>
      <dgm:spPr/>
    </dgm:pt>
    <dgm:pt modelId="{7FC4536F-0C0F-4C0F-AE71-3A393B378381}" type="pres">
      <dgm:prSet presAssocID="{074FF864-672E-49D6-BF0E-AE102705A8F0}" presName="sibTrans" presStyleCnt="0"/>
      <dgm:spPr/>
    </dgm:pt>
    <dgm:pt modelId="{A13E1325-C915-4E0D-9457-6FDA94257D88}" type="pres">
      <dgm:prSet presAssocID="{8FDC13AE-887C-42E3-93FD-1CCEB7F27C6D}" presName="compNode" presStyleCnt="0"/>
      <dgm:spPr/>
    </dgm:pt>
    <dgm:pt modelId="{E3B70EF9-A749-4B4F-99D8-28DE0BBCF6F2}" type="pres">
      <dgm:prSet presAssocID="{8FDC13AE-887C-42E3-93FD-1CCEB7F27C6D}" presName="iconBgRect" presStyleLbl="bgShp" presStyleIdx="3" presStyleCnt="4"/>
      <dgm:spPr/>
    </dgm:pt>
    <dgm:pt modelId="{E26A027F-27A7-4A94-9A02-995803C48A30}" type="pres">
      <dgm:prSet presAssocID="{8FDC13AE-887C-42E3-93FD-1CCEB7F27C6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at"/>
        </a:ext>
      </dgm:extLst>
    </dgm:pt>
    <dgm:pt modelId="{52C24478-63C1-4FC5-B4FC-B2E4931EAB22}" type="pres">
      <dgm:prSet presAssocID="{8FDC13AE-887C-42E3-93FD-1CCEB7F27C6D}" presName="spaceRect" presStyleCnt="0"/>
      <dgm:spPr/>
    </dgm:pt>
    <dgm:pt modelId="{6A499E56-1223-4882-9452-6417ACC30720}" type="pres">
      <dgm:prSet presAssocID="{8FDC13AE-887C-42E3-93FD-1CCEB7F27C6D}" presName="textRect" presStyleLbl="revTx" presStyleIdx="3" presStyleCnt="4">
        <dgm:presLayoutVars>
          <dgm:chMax val="1"/>
          <dgm:chPref val="1"/>
        </dgm:presLayoutVars>
      </dgm:prSet>
      <dgm:spPr/>
    </dgm:pt>
  </dgm:ptLst>
  <dgm:cxnLst>
    <dgm:cxn modelId="{3FD53D28-C6A5-4D86-A469-40D2DCDDDBFC}" type="presOf" srcId="{F6E97EBD-2D91-47D9-8D37-91886FD01783}" destId="{7F6D92A0-5569-4449-B105-B5DB3A5CEDEA}" srcOrd="0" destOrd="0" presId="urn:microsoft.com/office/officeart/2018/5/layout/IconCircleLabelList"/>
    <dgm:cxn modelId="{99EA0B34-E140-48CA-B43B-DE72DE7A7EC3}" srcId="{F6E97EBD-2D91-47D9-8D37-91886FD01783}" destId="{FA43B5CB-0B2A-4921-97BF-CAFD5BF9DF45}" srcOrd="0" destOrd="0" parTransId="{BF022EB8-FEAD-47EB-8E53-851176B00284}" sibTransId="{CBFA0898-27FB-44D9-A92C-57A8A33B304B}"/>
    <dgm:cxn modelId="{08D6CD62-27FC-4130-B2E6-51B997894081}" srcId="{F6E97EBD-2D91-47D9-8D37-91886FD01783}" destId="{8FDC13AE-887C-42E3-93FD-1CCEB7F27C6D}" srcOrd="3" destOrd="0" parTransId="{6E3DE307-4FC6-445D-A4C5-9DFD17F5E99A}" sibTransId="{842D24DC-F900-43CC-B695-33D2F8BB4D3D}"/>
    <dgm:cxn modelId="{A0BB9D6B-D7FE-4592-8C5A-17CB02997331}" type="presOf" srcId="{11B2F5EC-1777-4471-80D9-200EF85C68FC}" destId="{93B1B210-B5E0-47C5-AA62-517E1CB47C14}" srcOrd="0" destOrd="0" presId="urn:microsoft.com/office/officeart/2018/5/layout/IconCircleLabelList"/>
    <dgm:cxn modelId="{02DA8C7B-E3D9-4513-808A-BE3DA0C525A4}" type="presOf" srcId="{8FDC13AE-887C-42E3-93FD-1CCEB7F27C6D}" destId="{6A499E56-1223-4882-9452-6417ACC30720}" srcOrd="0" destOrd="0" presId="urn:microsoft.com/office/officeart/2018/5/layout/IconCircleLabelList"/>
    <dgm:cxn modelId="{0126A47E-8BF3-42C4-A9E6-EB8A5101AC97}" type="presOf" srcId="{FA43B5CB-0B2A-4921-97BF-CAFD5BF9DF45}" destId="{85BB6082-0527-4595-8F22-2FB3633F0C5E}" srcOrd="0" destOrd="0" presId="urn:microsoft.com/office/officeart/2018/5/layout/IconCircleLabelList"/>
    <dgm:cxn modelId="{A25584A7-6E73-457D-BE67-04E24A3A1BDB}" type="presOf" srcId="{B014E17D-8A9D-46D6-94CB-3B81118576D3}" destId="{DB5B4564-B0E5-4BD0-BD1D-43E06330AC45}" srcOrd="0" destOrd="0" presId="urn:microsoft.com/office/officeart/2018/5/layout/IconCircleLabelList"/>
    <dgm:cxn modelId="{EB53ADCC-B76C-4B35-AAC9-1799418114B5}" srcId="{F6E97EBD-2D91-47D9-8D37-91886FD01783}" destId="{11B2F5EC-1777-4471-80D9-200EF85C68FC}" srcOrd="2" destOrd="0" parTransId="{9CD2153E-82FA-4888-90CC-5CD9868D9E4A}" sibTransId="{074FF864-672E-49D6-BF0E-AE102705A8F0}"/>
    <dgm:cxn modelId="{F54598FA-2AD8-4961-948A-74322295D11C}" srcId="{F6E97EBD-2D91-47D9-8D37-91886FD01783}" destId="{B014E17D-8A9D-46D6-94CB-3B81118576D3}" srcOrd="1" destOrd="0" parTransId="{22CD39B5-96F0-40E1-8D1F-39C688250B94}" sibTransId="{3C027392-9CB8-4F00-8D83-A4CE519F6FBD}"/>
    <dgm:cxn modelId="{2E47D376-DED4-4188-A33A-8549E9E0991D}" type="presParOf" srcId="{7F6D92A0-5569-4449-B105-B5DB3A5CEDEA}" destId="{AA33FB3E-1C4E-47CB-8D72-DA337C2C2305}" srcOrd="0" destOrd="0" presId="urn:microsoft.com/office/officeart/2018/5/layout/IconCircleLabelList"/>
    <dgm:cxn modelId="{57E18530-CFD6-40AC-993B-547D26A77F00}" type="presParOf" srcId="{AA33FB3E-1C4E-47CB-8D72-DA337C2C2305}" destId="{D5CD90FE-C3DC-40B9-949F-DE27D2E07253}" srcOrd="0" destOrd="0" presId="urn:microsoft.com/office/officeart/2018/5/layout/IconCircleLabelList"/>
    <dgm:cxn modelId="{81B76755-F991-4995-8D1A-386889BD8928}" type="presParOf" srcId="{AA33FB3E-1C4E-47CB-8D72-DA337C2C2305}" destId="{7B0D1BB0-0ECE-4451-8AC8-C3AE33FB0DD0}" srcOrd="1" destOrd="0" presId="urn:microsoft.com/office/officeart/2018/5/layout/IconCircleLabelList"/>
    <dgm:cxn modelId="{34780B95-D7F6-4874-B3C0-E011D814B927}" type="presParOf" srcId="{AA33FB3E-1C4E-47CB-8D72-DA337C2C2305}" destId="{BE85AEFE-CBCB-4380-9363-9191290F0D81}" srcOrd="2" destOrd="0" presId="urn:microsoft.com/office/officeart/2018/5/layout/IconCircleLabelList"/>
    <dgm:cxn modelId="{8B716726-3D40-49EF-96FE-B11B1A62EF56}" type="presParOf" srcId="{AA33FB3E-1C4E-47CB-8D72-DA337C2C2305}" destId="{85BB6082-0527-4595-8F22-2FB3633F0C5E}" srcOrd="3" destOrd="0" presId="urn:microsoft.com/office/officeart/2018/5/layout/IconCircleLabelList"/>
    <dgm:cxn modelId="{324DB77C-B37C-4DAE-868D-A3B796DD55CF}" type="presParOf" srcId="{7F6D92A0-5569-4449-B105-B5DB3A5CEDEA}" destId="{3593AE26-780D-46ED-AA54-61A1CF4750F6}" srcOrd="1" destOrd="0" presId="urn:microsoft.com/office/officeart/2018/5/layout/IconCircleLabelList"/>
    <dgm:cxn modelId="{B7F7F0F4-7178-4BEE-863A-490E4D3CF0EB}" type="presParOf" srcId="{7F6D92A0-5569-4449-B105-B5DB3A5CEDEA}" destId="{0C92157F-A2B0-430F-B009-91DDC9615916}" srcOrd="2" destOrd="0" presId="urn:microsoft.com/office/officeart/2018/5/layout/IconCircleLabelList"/>
    <dgm:cxn modelId="{E6E6161F-AE3F-4E80-9B8D-B33866980CFA}" type="presParOf" srcId="{0C92157F-A2B0-430F-B009-91DDC9615916}" destId="{C64BEAFA-9C94-43B9-BA1B-449546B1D58E}" srcOrd="0" destOrd="0" presId="urn:microsoft.com/office/officeart/2018/5/layout/IconCircleLabelList"/>
    <dgm:cxn modelId="{55306DB3-42CC-4877-90B5-AD611E41E593}" type="presParOf" srcId="{0C92157F-A2B0-430F-B009-91DDC9615916}" destId="{34E3FC6E-B53A-47FA-A493-F0DFAA573F4D}" srcOrd="1" destOrd="0" presId="urn:microsoft.com/office/officeart/2018/5/layout/IconCircleLabelList"/>
    <dgm:cxn modelId="{5B9E7E27-E4ED-4BAA-94F8-C3EBCA8DD70C}" type="presParOf" srcId="{0C92157F-A2B0-430F-B009-91DDC9615916}" destId="{DB6D0C5A-2F53-4D19-B821-D7CF4705910D}" srcOrd="2" destOrd="0" presId="urn:microsoft.com/office/officeart/2018/5/layout/IconCircleLabelList"/>
    <dgm:cxn modelId="{4DF18EC4-491D-42C4-B2A6-12AAA8E58E50}" type="presParOf" srcId="{0C92157F-A2B0-430F-B009-91DDC9615916}" destId="{DB5B4564-B0E5-4BD0-BD1D-43E06330AC45}" srcOrd="3" destOrd="0" presId="urn:microsoft.com/office/officeart/2018/5/layout/IconCircleLabelList"/>
    <dgm:cxn modelId="{9889BD6B-B6C2-4FFE-BD4A-278D11053717}" type="presParOf" srcId="{7F6D92A0-5569-4449-B105-B5DB3A5CEDEA}" destId="{EB3B84D0-E9D0-4D5B-ACB2-5CBB4251C0DC}" srcOrd="3" destOrd="0" presId="urn:microsoft.com/office/officeart/2018/5/layout/IconCircleLabelList"/>
    <dgm:cxn modelId="{D3F920D1-0F5F-436D-ABAC-B69BCE1B78FE}" type="presParOf" srcId="{7F6D92A0-5569-4449-B105-B5DB3A5CEDEA}" destId="{745A24F1-B287-4D72-84D6-89FBA8867929}" srcOrd="4" destOrd="0" presId="urn:microsoft.com/office/officeart/2018/5/layout/IconCircleLabelList"/>
    <dgm:cxn modelId="{694811F8-2DC7-465F-B362-13D0CDC6E800}" type="presParOf" srcId="{745A24F1-B287-4D72-84D6-89FBA8867929}" destId="{55AD672F-4BED-497A-BD5F-536D9452D13D}" srcOrd="0" destOrd="0" presId="urn:microsoft.com/office/officeart/2018/5/layout/IconCircleLabelList"/>
    <dgm:cxn modelId="{1C42E623-FCA6-4CD3-9D47-75C1093BF7E9}" type="presParOf" srcId="{745A24F1-B287-4D72-84D6-89FBA8867929}" destId="{8218F18C-984E-461F-A83E-03A1BCC567C1}" srcOrd="1" destOrd="0" presId="urn:microsoft.com/office/officeart/2018/5/layout/IconCircleLabelList"/>
    <dgm:cxn modelId="{2A824778-753A-491E-A62E-216B5494BBFD}" type="presParOf" srcId="{745A24F1-B287-4D72-84D6-89FBA8867929}" destId="{E9C62901-1869-4D30-8ABE-13D2674D82F8}" srcOrd="2" destOrd="0" presId="urn:microsoft.com/office/officeart/2018/5/layout/IconCircleLabelList"/>
    <dgm:cxn modelId="{62CE1203-6DD4-4955-BF8C-79B1C174F343}" type="presParOf" srcId="{745A24F1-B287-4D72-84D6-89FBA8867929}" destId="{93B1B210-B5E0-47C5-AA62-517E1CB47C14}" srcOrd="3" destOrd="0" presId="urn:microsoft.com/office/officeart/2018/5/layout/IconCircleLabelList"/>
    <dgm:cxn modelId="{9702C82F-72E8-4D21-AEDC-4FC83B770A16}" type="presParOf" srcId="{7F6D92A0-5569-4449-B105-B5DB3A5CEDEA}" destId="{7FC4536F-0C0F-4C0F-AE71-3A393B378381}" srcOrd="5" destOrd="0" presId="urn:microsoft.com/office/officeart/2018/5/layout/IconCircleLabelList"/>
    <dgm:cxn modelId="{99A526C6-2E29-4297-91A8-62D7BAD7BDDE}" type="presParOf" srcId="{7F6D92A0-5569-4449-B105-B5DB3A5CEDEA}" destId="{A13E1325-C915-4E0D-9457-6FDA94257D88}" srcOrd="6" destOrd="0" presId="urn:microsoft.com/office/officeart/2018/5/layout/IconCircleLabelList"/>
    <dgm:cxn modelId="{BC2E8EBE-29B7-40F5-8751-5B2E04E83E84}" type="presParOf" srcId="{A13E1325-C915-4E0D-9457-6FDA94257D88}" destId="{E3B70EF9-A749-4B4F-99D8-28DE0BBCF6F2}" srcOrd="0" destOrd="0" presId="urn:microsoft.com/office/officeart/2018/5/layout/IconCircleLabelList"/>
    <dgm:cxn modelId="{A28F6C9B-442D-4601-AC24-D08EC3B9260C}" type="presParOf" srcId="{A13E1325-C915-4E0D-9457-6FDA94257D88}" destId="{E26A027F-27A7-4A94-9A02-995803C48A30}" srcOrd="1" destOrd="0" presId="urn:microsoft.com/office/officeart/2018/5/layout/IconCircleLabelList"/>
    <dgm:cxn modelId="{4351130F-5A9E-438B-B30A-3063B9E0C06B}" type="presParOf" srcId="{A13E1325-C915-4E0D-9457-6FDA94257D88}" destId="{52C24478-63C1-4FC5-B4FC-B2E4931EAB22}" srcOrd="2" destOrd="0" presId="urn:microsoft.com/office/officeart/2018/5/layout/IconCircleLabelList"/>
    <dgm:cxn modelId="{F69F4E88-DA85-42F4-829B-50FCA2566B93}" type="presParOf" srcId="{A13E1325-C915-4E0D-9457-6FDA94257D88}" destId="{6A499E56-1223-4882-9452-6417ACC30720}"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6A3A43F-5867-42FF-BF7A-FACB5D9D0BF2}"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218B702-9D27-4030-B574-9B4A6BB9F68F}">
      <dgm:prSet/>
      <dgm:spPr/>
      <dgm:t>
        <a:bodyPr/>
        <a:lstStyle/>
        <a:p>
          <a:pPr>
            <a:defRPr cap="all"/>
          </a:pPr>
          <a:r>
            <a:rPr lang="en-US"/>
            <a:t>Readable by non-developers</a:t>
          </a:r>
        </a:p>
      </dgm:t>
    </dgm:pt>
    <dgm:pt modelId="{F93805D5-9513-43F2-A8A9-843419DA6A0C}" type="parTrans" cxnId="{20BBF39C-4DD7-4717-AB89-218B22BBF9C9}">
      <dgm:prSet/>
      <dgm:spPr/>
      <dgm:t>
        <a:bodyPr/>
        <a:lstStyle/>
        <a:p>
          <a:endParaRPr lang="en-US"/>
        </a:p>
      </dgm:t>
    </dgm:pt>
    <dgm:pt modelId="{73B8D011-A718-4EB8-B0E6-A8C8A7D889AE}" type="sibTrans" cxnId="{20BBF39C-4DD7-4717-AB89-218B22BBF9C9}">
      <dgm:prSet/>
      <dgm:spPr/>
      <dgm:t>
        <a:bodyPr/>
        <a:lstStyle/>
        <a:p>
          <a:endParaRPr lang="en-US"/>
        </a:p>
      </dgm:t>
    </dgm:pt>
    <dgm:pt modelId="{D00B5321-6D7C-4DFA-B5E8-CBCA3E1C4AA5}">
      <dgm:prSet/>
      <dgm:spPr/>
      <dgm:t>
        <a:bodyPr/>
        <a:lstStyle/>
        <a:p>
          <a:pPr>
            <a:defRPr cap="all"/>
          </a:pPr>
          <a:r>
            <a:rPr lang="en-US"/>
            <a:t>Focused on behavior (not UI mechanics)</a:t>
          </a:r>
        </a:p>
      </dgm:t>
    </dgm:pt>
    <dgm:pt modelId="{F676EF6C-7E75-408F-92E7-61FA1591CD63}" type="parTrans" cxnId="{87F6D5F1-943E-4CA3-91E6-43FCD57D1EEB}">
      <dgm:prSet/>
      <dgm:spPr/>
      <dgm:t>
        <a:bodyPr/>
        <a:lstStyle/>
        <a:p>
          <a:endParaRPr lang="en-US"/>
        </a:p>
      </dgm:t>
    </dgm:pt>
    <dgm:pt modelId="{9BA38D46-3593-413F-B20C-F0C740CBBC2C}" type="sibTrans" cxnId="{87F6D5F1-943E-4CA3-91E6-43FCD57D1EEB}">
      <dgm:prSet/>
      <dgm:spPr/>
      <dgm:t>
        <a:bodyPr/>
        <a:lstStyle/>
        <a:p>
          <a:endParaRPr lang="en-US"/>
        </a:p>
      </dgm:t>
    </dgm:pt>
    <dgm:pt modelId="{BD81FD5B-785A-4C99-8E71-1FEA2E38CA67}">
      <dgm:prSet/>
      <dgm:spPr/>
      <dgm:t>
        <a:bodyPr/>
        <a:lstStyle/>
        <a:p>
          <a:pPr>
            <a:defRPr cap="all"/>
          </a:pPr>
          <a:r>
            <a:rPr lang="en-US"/>
            <a:t>Specific, observable outcomes</a:t>
          </a:r>
        </a:p>
      </dgm:t>
    </dgm:pt>
    <dgm:pt modelId="{AB776D40-A2F4-41BC-A8EF-0891544900C4}" type="parTrans" cxnId="{18F23633-5E15-4A01-86D3-5445D6AAEA8B}">
      <dgm:prSet/>
      <dgm:spPr/>
      <dgm:t>
        <a:bodyPr/>
        <a:lstStyle/>
        <a:p>
          <a:endParaRPr lang="en-US"/>
        </a:p>
      </dgm:t>
    </dgm:pt>
    <dgm:pt modelId="{5A813737-F1DD-42C7-8E08-055FBFE5792D}" type="sibTrans" cxnId="{18F23633-5E15-4A01-86D3-5445D6AAEA8B}">
      <dgm:prSet/>
      <dgm:spPr/>
      <dgm:t>
        <a:bodyPr/>
        <a:lstStyle/>
        <a:p>
          <a:endParaRPr lang="en-US"/>
        </a:p>
      </dgm:t>
    </dgm:pt>
    <dgm:pt modelId="{E86C7AD7-73E8-4528-8E5D-FB58D9A5AA01}">
      <dgm:prSet/>
      <dgm:spPr/>
      <dgm:t>
        <a:bodyPr/>
        <a:lstStyle/>
        <a:p>
          <a:pPr>
            <a:defRPr cap="all"/>
          </a:pPr>
          <a:r>
            <a:rPr lang="en-US"/>
            <a:t>Stable and deterministic</a:t>
          </a:r>
        </a:p>
      </dgm:t>
    </dgm:pt>
    <dgm:pt modelId="{4176AFDD-765B-4A1E-9D18-0DA56BA00BE8}" type="parTrans" cxnId="{485F909F-0642-4B2A-9A6D-3F208C98F896}">
      <dgm:prSet/>
      <dgm:spPr/>
      <dgm:t>
        <a:bodyPr/>
        <a:lstStyle/>
        <a:p>
          <a:endParaRPr lang="en-US"/>
        </a:p>
      </dgm:t>
    </dgm:pt>
    <dgm:pt modelId="{77A2E15A-5BCF-4BD1-A86F-4CA64E184EAA}" type="sibTrans" cxnId="{485F909F-0642-4B2A-9A6D-3F208C98F896}">
      <dgm:prSet/>
      <dgm:spPr/>
      <dgm:t>
        <a:bodyPr/>
        <a:lstStyle/>
        <a:p>
          <a:endParaRPr lang="en-US"/>
        </a:p>
      </dgm:t>
    </dgm:pt>
    <dgm:pt modelId="{372B7CA8-9010-4913-83E3-2867C5070B96}" type="pres">
      <dgm:prSet presAssocID="{66A3A43F-5867-42FF-BF7A-FACB5D9D0BF2}" presName="root" presStyleCnt="0">
        <dgm:presLayoutVars>
          <dgm:dir/>
          <dgm:resizeHandles val="exact"/>
        </dgm:presLayoutVars>
      </dgm:prSet>
      <dgm:spPr/>
    </dgm:pt>
    <dgm:pt modelId="{1F17668F-B6C6-4C27-9474-38DC2612010E}" type="pres">
      <dgm:prSet presAssocID="{5218B702-9D27-4030-B574-9B4A6BB9F68F}" presName="compNode" presStyleCnt="0"/>
      <dgm:spPr/>
    </dgm:pt>
    <dgm:pt modelId="{15C8047F-FD70-4527-9FC3-43AF39975269}" type="pres">
      <dgm:prSet presAssocID="{5218B702-9D27-4030-B574-9B4A6BB9F68F}" presName="iconBgRect" presStyleLbl="bgShp" presStyleIdx="0" presStyleCnt="4"/>
      <dgm:spPr>
        <a:prstGeom prst="round2DiagRect">
          <a:avLst>
            <a:gd name="adj1" fmla="val 29727"/>
            <a:gd name="adj2" fmla="val 0"/>
          </a:avLst>
        </a:prstGeom>
      </dgm:spPr>
    </dgm:pt>
    <dgm:pt modelId="{D15586C9-4253-4754-92BF-6B62C5811F29}" type="pres">
      <dgm:prSet presAssocID="{5218B702-9D27-4030-B574-9B4A6BB9F68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ille"/>
        </a:ext>
      </dgm:extLst>
    </dgm:pt>
    <dgm:pt modelId="{5E80FC46-BBBD-4CF7-8C42-361547D06CC9}" type="pres">
      <dgm:prSet presAssocID="{5218B702-9D27-4030-B574-9B4A6BB9F68F}" presName="spaceRect" presStyleCnt="0"/>
      <dgm:spPr/>
    </dgm:pt>
    <dgm:pt modelId="{5D40C88E-C4B9-4215-8298-070B592746CA}" type="pres">
      <dgm:prSet presAssocID="{5218B702-9D27-4030-B574-9B4A6BB9F68F}" presName="textRect" presStyleLbl="revTx" presStyleIdx="0" presStyleCnt="4">
        <dgm:presLayoutVars>
          <dgm:chMax val="1"/>
          <dgm:chPref val="1"/>
        </dgm:presLayoutVars>
      </dgm:prSet>
      <dgm:spPr/>
    </dgm:pt>
    <dgm:pt modelId="{FC5AFA20-B5E2-4707-90D6-DEDE4251DC3C}" type="pres">
      <dgm:prSet presAssocID="{73B8D011-A718-4EB8-B0E6-A8C8A7D889AE}" presName="sibTrans" presStyleCnt="0"/>
      <dgm:spPr/>
    </dgm:pt>
    <dgm:pt modelId="{6574F4C6-E536-4DB1-A8EE-880FB7AD8E61}" type="pres">
      <dgm:prSet presAssocID="{D00B5321-6D7C-4DFA-B5E8-CBCA3E1C4AA5}" presName="compNode" presStyleCnt="0"/>
      <dgm:spPr/>
    </dgm:pt>
    <dgm:pt modelId="{A93B7119-1FAE-4167-BB98-5DCB82A292D7}" type="pres">
      <dgm:prSet presAssocID="{D00B5321-6D7C-4DFA-B5E8-CBCA3E1C4AA5}" presName="iconBgRect" presStyleLbl="bgShp" presStyleIdx="1" presStyleCnt="4"/>
      <dgm:spPr>
        <a:prstGeom prst="round2DiagRect">
          <a:avLst>
            <a:gd name="adj1" fmla="val 29727"/>
            <a:gd name="adj2" fmla="val 0"/>
          </a:avLst>
        </a:prstGeom>
      </dgm:spPr>
    </dgm:pt>
    <dgm:pt modelId="{3AB1F3E7-6EEE-43ED-9436-92F4C0B56C47}" type="pres">
      <dgm:prSet presAssocID="{D00B5321-6D7C-4DFA-B5E8-CBCA3E1C4AA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D061B854-5D46-4EAA-9CD7-7D976081EB59}" type="pres">
      <dgm:prSet presAssocID="{D00B5321-6D7C-4DFA-B5E8-CBCA3E1C4AA5}" presName="spaceRect" presStyleCnt="0"/>
      <dgm:spPr/>
    </dgm:pt>
    <dgm:pt modelId="{1B61B57F-9291-4A97-AD8C-52DDF39213F3}" type="pres">
      <dgm:prSet presAssocID="{D00B5321-6D7C-4DFA-B5E8-CBCA3E1C4AA5}" presName="textRect" presStyleLbl="revTx" presStyleIdx="1" presStyleCnt="4">
        <dgm:presLayoutVars>
          <dgm:chMax val="1"/>
          <dgm:chPref val="1"/>
        </dgm:presLayoutVars>
      </dgm:prSet>
      <dgm:spPr/>
    </dgm:pt>
    <dgm:pt modelId="{F0269E30-527A-4A15-B687-202D45B1964F}" type="pres">
      <dgm:prSet presAssocID="{9BA38D46-3593-413F-B20C-F0C740CBBC2C}" presName="sibTrans" presStyleCnt="0"/>
      <dgm:spPr/>
    </dgm:pt>
    <dgm:pt modelId="{6A21C9FD-E888-4CDD-BFFD-AB10D02BC1BF}" type="pres">
      <dgm:prSet presAssocID="{BD81FD5B-785A-4C99-8E71-1FEA2E38CA67}" presName="compNode" presStyleCnt="0"/>
      <dgm:spPr/>
    </dgm:pt>
    <dgm:pt modelId="{7522DA11-5EA3-4198-8333-B1283CD40E8F}" type="pres">
      <dgm:prSet presAssocID="{BD81FD5B-785A-4C99-8E71-1FEA2E38CA67}" presName="iconBgRect" presStyleLbl="bgShp" presStyleIdx="2" presStyleCnt="4"/>
      <dgm:spPr>
        <a:prstGeom prst="round2DiagRect">
          <a:avLst>
            <a:gd name="adj1" fmla="val 29727"/>
            <a:gd name="adj2" fmla="val 0"/>
          </a:avLst>
        </a:prstGeom>
      </dgm:spPr>
    </dgm:pt>
    <dgm:pt modelId="{93204520-2708-4734-8DAD-C842C7E6C36D}" type="pres">
      <dgm:prSet presAssocID="{BD81FD5B-785A-4C99-8E71-1FEA2E38CA6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ye"/>
        </a:ext>
      </dgm:extLst>
    </dgm:pt>
    <dgm:pt modelId="{1DF10F2C-0B7A-48F7-BE85-F0F3A8468E52}" type="pres">
      <dgm:prSet presAssocID="{BD81FD5B-785A-4C99-8E71-1FEA2E38CA67}" presName="spaceRect" presStyleCnt="0"/>
      <dgm:spPr/>
    </dgm:pt>
    <dgm:pt modelId="{C81F3CCD-F3BC-4342-A3AE-10C6D94A409D}" type="pres">
      <dgm:prSet presAssocID="{BD81FD5B-785A-4C99-8E71-1FEA2E38CA67}" presName="textRect" presStyleLbl="revTx" presStyleIdx="2" presStyleCnt="4">
        <dgm:presLayoutVars>
          <dgm:chMax val="1"/>
          <dgm:chPref val="1"/>
        </dgm:presLayoutVars>
      </dgm:prSet>
      <dgm:spPr/>
    </dgm:pt>
    <dgm:pt modelId="{808E2DA5-A3FF-4E62-B77D-B1FD0ABE32FB}" type="pres">
      <dgm:prSet presAssocID="{5A813737-F1DD-42C7-8E08-055FBFE5792D}" presName="sibTrans" presStyleCnt="0"/>
      <dgm:spPr/>
    </dgm:pt>
    <dgm:pt modelId="{2E84169B-2760-4538-A545-2CA8E41956C1}" type="pres">
      <dgm:prSet presAssocID="{E86C7AD7-73E8-4528-8E5D-FB58D9A5AA01}" presName="compNode" presStyleCnt="0"/>
      <dgm:spPr/>
    </dgm:pt>
    <dgm:pt modelId="{11E707ED-B27F-465A-A107-F14A87DB8EA8}" type="pres">
      <dgm:prSet presAssocID="{E86C7AD7-73E8-4528-8E5D-FB58D9A5AA01}" presName="iconBgRect" presStyleLbl="bgShp" presStyleIdx="3" presStyleCnt="4"/>
      <dgm:spPr>
        <a:prstGeom prst="round2DiagRect">
          <a:avLst>
            <a:gd name="adj1" fmla="val 29727"/>
            <a:gd name="adj2" fmla="val 0"/>
          </a:avLst>
        </a:prstGeom>
      </dgm:spPr>
    </dgm:pt>
    <dgm:pt modelId="{B61D2F79-8EF5-4C98-B891-FAC8F5104110}" type="pres">
      <dgm:prSet presAssocID="{E86C7AD7-73E8-4528-8E5D-FB58D9A5AA0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B274702E-5AEA-44DD-8395-F6DCAA096961}" type="pres">
      <dgm:prSet presAssocID="{E86C7AD7-73E8-4528-8E5D-FB58D9A5AA01}" presName="spaceRect" presStyleCnt="0"/>
      <dgm:spPr/>
    </dgm:pt>
    <dgm:pt modelId="{9CA5B807-D193-4DA8-A43D-18CE036642CC}" type="pres">
      <dgm:prSet presAssocID="{E86C7AD7-73E8-4528-8E5D-FB58D9A5AA01}" presName="textRect" presStyleLbl="revTx" presStyleIdx="3" presStyleCnt="4">
        <dgm:presLayoutVars>
          <dgm:chMax val="1"/>
          <dgm:chPref val="1"/>
        </dgm:presLayoutVars>
      </dgm:prSet>
      <dgm:spPr/>
    </dgm:pt>
  </dgm:ptLst>
  <dgm:cxnLst>
    <dgm:cxn modelId="{E8843131-4735-470D-B31F-0572AF3053A1}" type="presOf" srcId="{5218B702-9D27-4030-B574-9B4A6BB9F68F}" destId="{5D40C88E-C4B9-4215-8298-070B592746CA}" srcOrd="0" destOrd="0" presId="urn:microsoft.com/office/officeart/2018/5/layout/IconLeafLabelList"/>
    <dgm:cxn modelId="{18F23633-5E15-4A01-86D3-5445D6AAEA8B}" srcId="{66A3A43F-5867-42FF-BF7A-FACB5D9D0BF2}" destId="{BD81FD5B-785A-4C99-8E71-1FEA2E38CA67}" srcOrd="2" destOrd="0" parTransId="{AB776D40-A2F4-41BC-A8EF-0891544900C4}" sibTransId="{5A813737-F1DD-42C7-8E08-055FBFE5792D}"/>
    <dgm:cxn modelId="{0B5F8838-9254-4E7E-99A3-0C91BC83661F}" type="presOf" srcId="{E86C7AD7-73E8-4528-8E5D-FB58D9A5AA01}" destId="{9CA5B807-D193-4DA8-A43D-18CE036642CC}" srcOrd="0" destOrd="0" presId="urn:microsoft.com/office/officeart/2018/5/layout/IconLeafLabelList"/>
    <dgm:cxn modelId="{20BBF39C-4DD7-4717-AB89-218B22BBF9C9}" srcId="{66A3A43F-5867-42FF-BF7A-FACB5D9D0BF2}" destId="{5218B702-9D27-4030-B574-9B4A6BB9F68F}" srcOrd="0" destOrd="0" parTransId="{F93805D5-9513-43F2-A8A9-843419DA6A0C}" sibTransId="{73B8D011-A718-4EB8-B0E6-A8C8A7D889AE}"/>
    <dgm:cxn modelId="{485F909F-0642-4B2A-9A6D-3F208C98F896}" srcId="{66A3A43F-5867-42FF-BF7A-FACB5D9D0BF2}" destId="{E86C7AD7-73E8-4528-8E5D-FB58D9A5AA01}" srcOrd="3" destOrd="0" parTransId="{4176AFDD-765B-4A1E-9D18-0DA56BA00BE8}" sibTransId="{77A2E15A-5BCF-4BD1-A86F-4CA64E184EAA}"/>
    <dgm:cxn modelId="{7F9007A6-54F1-4CC8-846C-C0CA7C3EBFB3}" type="presOf" srcId="{BD81FD5B-785A-4C99-8E71-1FEA2E38CA67}" destId="{C81F3CCD-F3BC-4342-A3AE-10C6D94A409D}" srcOrd="0" destOrd="0" presId="urn:microsoft.com/office/officeart/2018/5/layout/IconLeafLabelList"/>
    <dgm:cxn modelId="{342F82C0-A68E-4259-BC63-14E65717B102}" type="presOf" srcId="{D00B5321-6D7C-4DFA-B5E8-CBCA3E1C4AA5}" destId="{1B61B57F-9291-4A97-AD8C-52DDF39213F3}" srcOrd="0" destOrd="0" presId="urn:microsoft.com/office/officeart/2018/5/layout/IconLeafLabelList"/>
    <dgm:cxn modelId="{76270EDC-B722-4338-B04A-B02E1235D24A}" type="presOf" srcId="{66A3A43F-5867-42FF-BF7A-FACB5D9D0BF2}" destId="{372B7CA8-9010-4913-83E3-2867C5070B96}" srcOrd="0" destOrd="0" presId="urn:microsoft.com/office/officeart/2018/5/layout/IconLeafLabelList"/>
    <dgm:cxn modelId="{87F6D5F1-943E-4CA3-91E6-43FCD57D1EEB}" srcId="{66A3A43F-5867-42FF-BF7A-FACB5D9D0BF2}" destId="{D00B5321-6D7C-4DFA-B5E8-CBCA3E1C4AA5}" srcOrd="1" destOrd="0" parTransId="{F676EF6C-7E75-408F-92E7-61FA1591CD63}" sibTransId="{9BA38D46-3593-413F-B20C-F0C740CBBC2C}"/>
    <dgm:cxn modelId="{3DE25F6B-398B-47B8-8395-398100FFE552}" type="presParOf" srcId="{372B7CA8-9010-4913-83E3-2867C5070B96}" destId="{1F17668F-B6C6-4C27-9474-38DC2612010E}" srcOrd="0" destOrd="0" presId="urn:microsoft.com/office/officeart/2018/5/layout/IconLeafLabelList"/>
    <dgm:cxn modelId="{1D3DE3A6-0556-41BB-ACBF-D13157E851E6}" type="presParOf" srcId="{1F17668F-B6C6-4C27-9474-38DC2612010E}" destId="{15C8047F-FD70-4527-9FC3-43AF39975269}" srcOrd="0" destOrd="0" presId="urn:microsoft.com/office/officeart/2018/5/layout/IconLeafLabelList"/>
    <dgm:cxn modelId="{54C5D869-7D05-4B6F-9CFF-1A8579EA5B2A}" type="presParOf" srcId="{1F17668F-B6C6-4C27-9474-38DC2612010E}" destId="{D15586C9-4253-4754-92BF-6B62C5811F29}" srcOrd="1" destOrd="0" presId="urn:microsoft.com/office/officeart/2018/5/layout/IconLeafLabelList"/>
    <dgm:cxn modelId="{65CE650A-6D48-4360-A840-784BB637CD97}" type="presParOf" srcId="{1F17668F-B6C6-4C27-9474-38DC2612010E}" destId="{5E80FC46-BBBD-4CF7-8C42-361547D06CC9}" srcOrd="2" destOrd="0" presId="urn:microsoft.com/office/officeart/2018/5/layout/IconLeafLabelList"/>
    <dgm:cxn modelId="{262B6251-EDFA-4F3B-837A-C26484B462E2}" type="presParOf" srcId="{1F17668F-B6C6-4C27-9474-38DC2612010E}" destId="{5D40C88E-C4B9-4215-8298-070B592746CA}" srcOrd="3" destOrd="0" presId="urn:microsoft.com/office/officeart/2018/5/layout/IconLeafLabelList"/>
    <dgm:cxn modelId="{960B84B7-B393-430D-95F9-ECC018A2B2A8}" type="presParOf" srcId="{372B7CA8-9010-4913-83E3-2867C5070B96}" destId="{FC5AFA20-B5E2-4707-90D6-DEDE4251DC3C}" srcOrd="1" destOrd="0" presId="urn:microsoft.com/office/officeart/2018/5/layout/IconLeafLabelList"/>
    <dgm:cxn modelId="{608470D0-48F7-4C3F-9C4C-C887DBB864D4}" type="presParOf" srcId="{372B7CA8-9010-4913-83E3-2867C5070B96}" destId="{6574F4C6-E536-4DB1-A8EE-880FB7AD8E61}" srcOrd="2" destOrd="0" presId="urn:microsoft.com/office/officeart/2018/5/layout/IconLeafLabelList"/>
    <dgm:cxn modelId="{09B27107-EA09-4ADD-AC25-8BA5F0204D27}" type="presParOf" srcId="{6574F4C6-E536-4DB1-A8EE-880FB7AD8E61}" destId="{A93B7119-1FAE-4167-BB98-5DCB82A292D7}" srcOrd="0" destOrd="0" presId="urn:microsoft.com/office/officeart/2018/5/layout/IconLeafLabelList"/>
    <dgm:cxn modelId="{694F701D-1808-4866-BDB3-1704C5A6D8D8}" type="presParOf" srcId="{6574F4C6-E536-4DB1-A8EE-880FB7AD8E61}" destId="{3AB1F3E7-6EEE-43ED-9436-92F4C0B56C47}" srcOrd="1" destOrd="0" presId="urn:microsoft.com/office/officeart/2018/5/layout/IconLeafLabelList"/>
    <dgm:cxn modelId="{35B6A4BD-79B2-4220-9CB3-AC3795938824}" type="presParOf" srcId="{6574F4C6-E536-4DB1-A8EE-880FB7AD8E61}" destId="{D061B854-5D46-4EAA-9CD7-7D976081EB59}" srcOrd="2" destOrd="0" presId="urn:microsoft.com/office/officeart/2018/5/layout/IconLeafLabelList"/>
    <dgm:cxn modelId="{51CD3617-9327-453B-930D-6B1D8A41BC22}" type="presParOf" srcId="{6574F4C6-E536-4DB1-A8EE-880FB7AD8E61}" destId="{1B61B57F-9291-4A97-AD8C-52DDF39213F3}" srcOrd="3" destOrd="0" presId="urn:microsoft.com/office/officeart/2018/5/layout/IconLeafLabelList"/>
    <dgm:cxn modelId="{4F685310-AF68-4A8D-9D73-146973468AB2}" type="presParOf" srcId="{372B7CA8-9010-4913-83E3-2867C5070B96}" destId="{F0269E30-527A-4A15-B687-202D45B1964F}" srcOrd="3" destOrd="0" presId="urn:microsoft.com/office/officeart/2018/5/layout/IconLeafLabelList"/>
    <dgm:cxn modelId="{A214E7BE-7B4D-4D8D-B37E-F1145E6A7385}" type="presParOf" srcId="{372B7CA8-9010-4913-83E3-2867C5070B96}" destId="{6A21C9FD-E888-4CDD-BFFD-AB10D02BC1BF}" srcOrd="4" destOrd="0" presId="urn:microsoft.com/office/officeart/2018/5/layout/IconLeafLabelList"/>
    <dgm:cxn modelId="{F3D4C335-B64B-4BEF-B1E7-C0B85E5487A8}" type="presParOf" srcId="{6A21C9FD-E888-4CDD-BFFD-AB10D02BC1BF}" destId="{7522DA11-5EA3-4198-8333-B1283CD40E8F}" srcOrd="0" destOrd="0" presId="urn:microsoft.com/office/officeart/2018/5/layout/IconLeafLabelList"/>
    <dgm:cxn modelId="{34868FB6-6F00-4056-9EFE-AB875836025F}" type="presParOf" srcId="{6A21C9FD-E888-4CDD-BFFD-AB10D02BC1BF}" destId="{93204520-2708-4734-8DAD-C842C7E6C36D}" srcOrd="1" destOrd="0" presId="urn:microsoft.com/office/officeart/2018/5/layout/IconLeafLabelList"/>
    <dgm:cxn modelId="{27D8E8B5-702B-4540-AEDE-019B6894C48E}" type="presParOf" srcId="{6A21C9FD-E888-4CDD-BFFD-AB10D02BC1BF}" destId="{1DF10F2C-0B7A-48F7-BE85-F0F3A8468E52}" srcOrd="2" destOrd="0" presId="urn:microsoft.com/office/officeart/2018/5/layout/IconLeafLabelList"/>
    <dgm:cxn modelId="{2D9F425C-F754-4AF5-87D4-7C76EF2233E0}" type="presParOf" srcId="{6A21C9FD-E888-4CDD-BFFD-AB10D02BC1BF}" destId="{C81F3CCD-F3BC-4342-A3AE-10C6D94A409D}" srcOrd="3" destOrd="0" presId="urn:microsoft.com/office/officeart/2018/5/layout/IconLeafLabelList"/>
    <dgm:cxn modelId="{A042B524-0C1E-4EF6-94BC-FAA078957724}" type="presParOf" srcId="{372B7CA8-9010-4913-83E3-2867C5070B96}" destId="{808E2DA5-A3FF-4E62-B77D-B1FD0ABE32FB}" srcOrd="5" destOrd="0" presId="urn:microsoft.com/office/officeart/2018/5/layout/IconLeafLabelList"/>
    <dgm:cxn modelId="{F8DEB795-28F2-42AB-8952-79F90F5734F5}" type="presParOf" srcId="{372B7CA8-9010-4913-83E3-2867C5070B96}" destId="{2E84169B-2760-4538-A545-2CA8E41956C1}" srcOrd="6" destOrd="0" presId="urn:microsoft.com/office/officeart/2018/5/layout/IconLeafLabelList"/>
    <dgm:cxn modelId="{4C1CD861-0A3E-42C4-80E0-8D89D37E3CAE}" type="presParOf" srcId="{2E84169B-2760-4538-A545-2CA8E41956C1}" destId="{11E707ED-B27F-465A-A107-F14A87DB8EA8}" srcOrd="0" destOrd="0" presId="urn:microsoft.com/office/officeart/2018/5/layout/IconLeafLabelList"/>
    <dgm:cxn modelId="{3D4D6DBC-834F-45EB-8D6D-085F3EF26F8B}" type="presParOf" srcId="{2E84169B-2760-4538-A545-2CA8E41956C1}" destId="{B61D2F79-8EF5-4C98-B891-FAC8F5104110}" srcOrd="1" destOrd="0" presId="urn:microsoft.com/office/officeart/2018/5/layout/IconLeafLabelList"/>
    <dgm:cxn modelId="{D7E7EA07-996E-4515-9BA8-FC901D3461C5}" type="presParOf" srcId="{2E84169B-2760-4538-A545-2CA8E41956C1}" destId="{B274702E-5AEA-44DD-8395-F6DCAA096961}" srcOrd="2" destOrd="0" presId="urn:microsoft.com/office/officeart/2018/5/layout/IconLeafLabelList"/>
    <dgm:cxn modelId="{86B43044-EC19-49D1-A73C-F71AA82F4343}" type="presParOf" srcId="{2E84169B-2760-4538-A545-2CA8E41956C1}" destId="{9CA5B807-D193-4DA8-A43D-18CE036642CC}"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404491D-71C0-494A-ACA5-2289193B4A8E}"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AD8D173-8D65-4328-B920-044CDDE3ADD9}">
      <dgm:prSet/>
      <dgm:spPr/>
      <dgm:t>
        <a:bodyPr/>
        <a:lstStyle/>
        <a:p>
          <a:r>
            <a:rPr lang="en-US"/>
            <a:t>Bad: “System validates email”</a:t>
          </a:r>
        </a:p>
      </dgm:t>
    </dgm:pt>
    <dgm:pt modelId="{18983B34-D2A9-4FEC-8AB4-759D1783DD29}" type="parTrans" cxnId="{9A0EEC5E-2FA4-484D-838E-2C3FA4B6DC7F}">
      <dgm:prSet/>
      <dgm:spPr/>
      <dgm:t>
        <a:bodyPr/>
        <a:lstStyle/>
        <a:p>
          <a:endParaRPr lang="en-US"/>
        </a:p>
      </dgm:t>
    </dgm:pt>
    <dgm:pt modelId="{0DFB1190-41A2-4D89-A973-6876E77E9271}" type="sibTrans" cxnId="{9A0EEC5E-2FA4-484D-838E-2C3FA4B6DC7F}">
      <dgm:prSet/>
      <dgm:spPr/>
      <dgm:t>
        <a:bodyPr/>
        <a:lstStyle/>
        <a:p>
          <a:endParaRPr lang="en-US"/>
        </a:p>
      </dgm:t>
    </dgm:pt>
    <dgm:pt modelId="{F314FB9C-1784-4FC2-914C-647A87FD98CC}">
      <dgm:prSet/>
      <dgm:spPr/>
      <dgm:t>
        <a:bodyPr/>
        <a:lstStyle/>
        <a:p>
          <a:r>
            <a:rPr lang="en-US"/>
            <a:t>Better: “User creates an account with email”</a:t>
          </a:r>
        </a:p>
      </dgm:t>
    </dgm:pt>
    <dgm:pt modelId="{8C56051C-1B8D-450F-9F00-3C7F30F2F946}" type="parTrans" cxnId="{FE273615-4AE7-4C67-B376-A2CA332DE847}">
      <dgm:prSet/>
      <dgm:spPr/>
      <dgm:t>
        <a:bodyPr/>
        <a:lstStyle/>
        <a:p>
          <a:endParaRPr lang="en-US"/>
        </a:p>
      </dgm:t>
    </dgm:pt>
    <dgm:pt modelId="{AD318A87-844A-4090-A2B9-41517EB93A6A}" type="sibTrans" cxnId="{FE273615-4AE7-4C67-B376-A2CA332DE847}">
      <dgm:prSet/>
      <dgm:spPr/>
      <dgm:t>
        <a:bodyPr/>
        <a:lstStyle/>
        <a:p>
          <a:endParaRPr lang="en-US"/>
        </a:p>
      </dgm:t>
    </dgm:pt>
    <dgm:pt modelId="{404EC7B2-989C-4A1C-81F8-6A8C4734A7B2}">
      <dgm:prSet/>
      <dgm:spPr/>
      <dgm:t>
        <a:bodyPr/>
        <a:lstStyle/>
        <a:p>
          <a:r>
            <a:rPr lang="en-US"/>
            <a:t>Best: add examples that show the rule in action</a:t>
          </a:r>
        </a:p>
      </dgm:t>
    </dgm:pt>
    <dgm:pt modelId="{EBBF3CE0-8C88-4B28-B0DB-469CB32BD6AE}" type="parTrans" cxnId="{B6122AB4-2332-41CC-B5A6-E5FA2D0B86D8}">
      <dgm:prSet/>
      <dgm:spPr/>
      <dgm:t>
        <a:bodyPr/>
        <a:lstStyle/>
        <a:p>
          <a:endParaRPr lang="en-US"/>
        </a:p>
      </dgm:t>
    </dgm:pt>
    <dgm:pt modelId="{16D075DA-C203-454B-87F4-D5A32AFC07AF}" type="sibTrans" cxnId="{B6122AB4-2332-41CC-B5A6-E5FA2D0B86D8}">
      <dgm:prSet/>
      <dgm:spPr/>
      <dgm:t>
        <a:bodyPr/>
        <a:lstStyle/>
        <a:p>
          <a:endParaRPr lang="en-US"/>
        </a:p>
      </dgm:t>
    </dgm:pt>
    <dgm:pt modelId="{9FA0FE01-DCAD-C747-8443-F214E12660E8}" type="pres">
      <dgm:prSet presAssocID="{F404491D-71C0-494A-ACA5-2289193B4A8E}" presName="linear" presStyleCnt="0">
        <dgm:presLayoutVars>
          <dgm:animLvl val="lvl"/>
          <dgm:resizeHandles val="exact"/>
        </dgm:presLayoutVars>
      </dgm:prSet>
      <dgm:spPr/>
    </dgm:pt>
    <dgm:pt modelId="{3FC08B3C-8D41-2F46-B6D9-A2493DA01087}" type="pres">
      <dgm:prSet presAssocID="{8AD8D173-8D65-4328-B920-044CDDE3ADD9}" presName="parentText" presStyleLbl="node1" presStyleIdx="0" presStyleCnt="3">
        <dgm:presLayoutVars>
          <dgm:chMax val="0"/>
          <dgm:bulletEnabled val="1"/>
        </dgm:presLayoutVars>
      </dgm:prSet>
      <dgm:spPr/>
    </dgm:pt>
    <dgm:pt modelId="{B93B6B7E-4286-3D47-A216-1DAF7F508463}" type="pres">
      <dgm:prSet presAssocID="{0DFB1190-41A2-4D89-A973-6876E77E9271}" presName="spacer" presStyleCnt="0"/>
      <dgm:spPr/>
    </dgm:pt>
    <dgm:pt modelId="{4DF1349E-7A96-F247-ACA4-AF63886A37A8}" type="pres">
      <dgm:prSet presAssocID="{F314FB9C-1784-4FC2-914C-647A87FD98CC}" presName="parentText" presStyleLbl="node1" presStyleIdx="1" presStyleCnt="3">
        <dgm:presLayoutVars>
          <dgm:chMax val="0"/>
          <dgm:bulletEnabled val="1"/>
        </dgm:presLayoutVars>
      </dgm:prSet>
      <dgm:spPr/>
    </dgm:pt>
    <dgm:pt modelId="{17ACA472-E9DB-4F44-8303-E70EBFB53E77}" type="pres">
      <dgm:prSet presAssocID="{AD318A87-844A-4090-A2B9-41517EB93A6A}" presName="spacer" presStyleCnt="0"/>
      <dgm:spPr/>
    </dgm:pt>
    <dgm:pt modelId="{91B838B4-32BA-904E-AA04-28DAE448729E}" type="pres">
      <dgm:prSet presAssocID="{404EC7B2-989C-4A1C-81F8-6A8C4734A7B2}" presName="parentText" presStyleLbl="node1" presStyleIdx="2" presStyleCnt="3">
        <dgm:presLayoutVars>
          <dgm:chMax val="0"/>
          <dgm:bulletEnabled val="1"/>
        </dgm:presLayoutVars>
      </dgm:prSet>
      <dgm:spPr/>
    </dgm:pt>
  </dgm:ptLst>
  <dgm:cxnLst>
    <dgm:cxn modelId="{FE273615-4AE7-4C67-B376-A2CA332DE847}" srcId="{F404491D-71C0-494A-ACA5-2289193B4A8E}" destId="{F314FB9C-1784-4FC2-914C-647A87FD98CC}" srcOrd="1" destOrd="0" parTransId="{8C56051C-1B8D-450F-9F00-3C7F30F2F946}" sibTransId="{AD318A87-844A-4090-A2B9-41517EB93A6A}"/>
    <dgm:cxn modelId="{0008F831-38C6-A64D-A9D8-017EFE575048}" type="presOf" srcId="{404EC7B2-989C-4A1C-81F8-6A8C4734A7B2}" destId="{91B838B4-32BA-904E-AA04-28DAE448729E}" srcOrd="0" destOrd="0" presId="urn:microsoft.com/office/officeart/2005/8/layout/vList2"/>
    <dgm:cxn modelId="{33AF0D47-E7D1-BB44-9D90-C1D4AA077D9C}" type="presOf" srcId="{8AD8D173-8D65-4328-B920-044CDDE3ADD9}" destId="{3FC08B3C-8D41-2F46-B6D9-A2493DA01087}" srcOrd="0" destOrd="0" presId="urn:microsoft.com/office/officeart/2005/8/layout/vList2"/>
    <dgm:cxn modelId="{9A0EEC5E-2FA4-484D-838E-2C3FA4B6DC7F}" srcId="{F404491D-71C0-494A-ACA5-2289193B4A8E}" destId="{8AD8D173-8D65-4328-B920-044CDDE3ADD9}" srcOrd="0" destOrd="0" parTransId="{18983B34-D2A9-4FEC-8AB4-759D1783DD29}" sibTransId="{0DFB1190-41A2-4D89-A973-6876E77E9271}"/>
    <dgm:cxn modelId="{F6C9B1A0-0649-7740-B880-4FE1C71580C0}" type="presOf" srcId="{F404491D-71C0-494A-ACA5-2289193B4A8E}" destId="{9FA0FE01-DCAD-C747-8443-F214E12660E8}" srcOrd="0" destOrd="0" presId="urn:microsoft.com/office/officeart/2005/8/layout/vList2"/>
    <dgm:cxn modelId="{B6122AB4-2332-41CC-B5A6-E5FA2D0B86D8}" srcId="{F404491D-71C0-494A-ACA5-2289193B4A8E}" destId="{404EC7B2-989C-4A1C-81F8-6A8C4734A7B2}" srcOrd="2" destOrd="0" parTransId="{EBBF3CE0-8C88-4B28-B0DB-469CB32BD6AE}" sibTransId="{16D075DA-C203-454B-87F4-D5A32AFC07AF}"/>
    <dgm:cxn modelId="{D70715D6-8CCD-954F-98BC-9880B684E3A4}" type="presOf" srcId="{F314FB9C-1784-4FC2-914C-647A87FD98CC}" destId="{4DF1349E-7A96-F247-ACA4-AF63886A37A8}" srcOrd="0" destOrd="0" presId="urn:microsoft.com/office/officeart/2005/8/layout/vList2"/>
    <dgm:cxn modelId="{FC8DCDBA-C90B-0042-A6A3-3F206460607F}" type="presParOf" srcId="{9FA0FE01-DCAD-C747-8443-F214E12660E8}" destId="{3FC08B3C-8D41-2F46-B6D9-A2493DA01087}" srcOrd="0" destOrd="0" presId="urn:microsoft.com/office/officeart/2005/8/layout/vList2"/>
    <dgm:cxn modelId="{077A1CF8-F9D4-6648-854B-C826909F1F1B}" type="presParOf" srcId="{9FA0FE01-DCAD-C747-8443-F214E12660E8}" destId="{B93B6B7E-4286-3D47-A216-1DAF7F508463}" srcOrd="1" destOrd="0" presId="urn:microsoft.com/office/officeart/2005/8/layout/vList2"/>
    <dgm:cxn modelId="{0F4A8782-88E9-D14D-99F0-D894E9331A84}" type="presParOf" srcId="{9FA0FE01-DCAD-C747-8443-F214E12660E8}" destId="{4DF1349E-7A96-F247-ACA4-AF63886A37A8}" srcOrd="2" destOrd="0" presId="urn:microsoft.com/office/officeart/2005/8/layout/vList2"/>
    <dgm:cxn modelId="{819E86D0-8386-2140-BE0B-F0BDEB77355D}" type="presParOf" srcId="{9FA0FE01-DCAD-C747-8443-F214E12660E8}" destId="{17ACA472-E9DB-4F44-8303-E70EBFB53E77}" srcOrd="3" destOrd="0" presId="urn:microsoft.com/office/officeart/2005/8/layout/vList2"/>
    <dgm:cxn modelId="{AE7BFE1D-AE6C-9344-85BD-45F4B98C3004}" type="presParOf" srcId="{9FA0FE01-DCAD-C747-8443-F214E12660E8}" destId="{91B838B4-32BA-904E-AA04-28DAE448729E}"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4544B1E-0D2B-4525-B4E3-396BE6D92211}" type="doc">
      <dgm:prSet loTypeId="urn:microsoft.com/office/officeart/2016/7/layout/LinearArrowProcessNumbered" loCatId="process" qsTypeId="urn:microsoft.com/office/officeart/2005/8/quickstyle/simple1" qsCatId="simple" csTypeId="urn:microsoft.com/office/officeart/2005/8/colors/colorful5" csCatId="colorful"/>
      <dgm:spPr/>
      <dgm:t>
        <a:bodyPr/>
        <a:lstStyle/>
        <a:p>
          <a:endParaRPr lang="en-US"/>
        </a:p>
      </dgm:t>
    </dgm:pt>
    <dgm:pt modelId="{7B3A00FF-5C17-474B-B864-7E855E87045F}">
      <dgm:prSet/>
      <dgm:spPr/>
      <dgm:t>
        <a:bodyPr/>
        <a:lstStyle/>
        <a:p>
          <a:r>
            <a:rPr lang="en-US"/>
            <a:t>Only include context needed for the behavior</a:t>
          </a:r>
        </a:p>
      </dgm:t>
    </dgm:pt>
    <dgm:pt modelId="{CFBF1F0A-32D0-4B04-A716-2C3C4BD1641C}" type="parTrans" cxnId="{D5ABDBA5-A837-44C3-8D04-25068AC62CC0}">
      <dgm:prSet/>
      <dgm:spPr/>
      <dgm:t>
        <a:bodyPr/>
        <a:lstStyle/>
        <a:p>
          <a:endParaRPr lang="en-US"/>
        </a:p>
      </dgm:t>
    </dgm:pt>
    <dgm:pt modelId="{32F79AE0-C969-4C51-B066-7C8E2D6A840F}" type="sibTrans" cxnId="{D5ABDBA5-A837-44C3-8D04-25068AC62CC0}">
      <dgm:prSet phldrT="1" phldr="0"/>
      <dgm:spPr/>
      <dgm:t>
        <a:bodyPr/>
        <a:lstStyle/>
        <a:p>
          <a:r>
            <a:rPr lang="en-US"/>
            <a:t>1</a:t>
          </a:r>
        </a:p>
      </dgm:t>
    </dgm:pt>
    <dgm:pt modelId="{D19E8975-3C11-4C08-BC3D-E3F565FFFE61}">
      <dgm:prSet/>
      <dgm:spPr/>
      <dgm:t>
        <a:bodyPr/>
        <a:lstStyle/>
        <a:p>
          <a:r>
            <a:rPr lang="en-US"/>
            <a:t>Avoid long setup stories inside the scenario</a:t>
          </a:r>
        </a:p>
      </dgm:t>
    </dgm:pt>
    <dgm:pt modelId="{1254CB89-8E08-4527-9367-AC2EC1F5AD10}" type="parTrans" cxnId="{E816D9F8-32F9-466B-B455-B4640D4A48F2}">
      <dgm:prSet/>
      <dgm:spPr/>
      <dgm:t>
        <a:bodyPr/>
        <a:lstStyle/>
        <a:p>
          <a:endParaRPr lang="en-US"/>
        </a:p>
      </dgm:t>
    </dgm:pt>
    <dgm:pt modelId="{0D0467D0-BA21-4671-9230-92E0B75790B4}" type="sibTrans" cxnId="{E816D9F8-32F9-466B-B455-B4640D4A48F2}">
      <dgm:prSet phldrT="2" phldr="0"/>
      <dgm:spPr/>
      <dgm:t>
        <a:bodyPr/>
        <a:lstStyle/>
        <a:p>
          <a:r>
            <a:rPr lang="en-US"/>
            <a:t>2</a:t>
          </a:r>
        </a:p>
      </dgm:t>
    </dgm:pt>
    <dgm:pt modelId="{480AD47D-F53F-4577-B6E8-DB1738D9604C}">
      <dgm:prSet/>
      <dgm:spPr/>
      <dgm:t>
        <a:bodyPr/>
        <a:lstStyle/>
        <a:p>
          <a:r>
            <a:rPr lang="en-US"/>
            <a:t>Prefer fixtures/factories/helpers in automation</a:t>
          </a:r>
        </a:p>
      </dgm:t>
    </dgm:pt>
    <dgm:pt modelId="{628E66C7-A47E-4DF2-8F3D-83DF01F755F3}" type="parTrans" cxnId="{2C541A80-2ABA-4A17-95F0-0DE8A78D012D}">
      <dgm:prSet/>
      <dgm:spPr/>
      <dgm:t>
        <a:bodyPr/>
        <a:lstStyle/>
        <a:p>
          <a:endParaRPr lang="en-US"/>
        </a:p>
      </dgm:t>
    </dgm:pt>
    <dgm:pt modelId="{D91516F9-24CF-4325-A67D-EAE440B546A9}" type="sibTrans" cxnId="{2C541A80-2ABA-4A17-95F0-0DE8A78D012D}">
      <dgm:prSet phldrT="3" phldr="0"/>
      <dgm:spPr/>
      <dgm:t>
        <a:bodyPr/>
        <a:lstStyle/>
        <a:p>
          <a:r>
            <a:rPr lang="en-US"/>
            <a:t>3</a:t>
          </a:r>
        </a:p>
      </dgm:t>
    </dgm:pt>
    <dgm:pt modelId="{6ACFA981-4942-D548-85B7-D039F0758D48}" type="pres">
      <dgm:prSet presAssocID="{C4544B1E-0D2B-4525-B4E3-396BE6D92211}" presName="linearFlow" presStyleCnt="0">
        <dgm:presLayoutVars>
          <dgm:dir/>
          <dgm:animLvl val="lvl"/>
          <dgm:resizeHandles val="exact"/>
        </dgm:presLayoutVars>
      </dgm:prSet>
      <dgm:spPr/>
    </dgm:pt>
    <dgm:pt modelId="{61165919-C673-3A46-9371-646BFB4235B1}" type="pres">
      <dgm:prSet presAssocID="{7B3A00FF-5C17-474B-B864-7E855E87045F}" presName="compositeNode" presStyleCnt="0"/>
      <dgm:spPr/>
    </dgm:pt>
    <dgm:pt modelId="{CAE17F64-13B9-E545-8CE9-576D95D777D2}" type="pres">
      <dgm:prSet presAssocID="{7B3A00FF-5C17-474B-B864-7E855E87045F}" presName="parTx" presStyleLbl="node1" presStyleIdx="0" presStyleCnt="0">
        <dgm:presLayoutVars>
          <dgm:chMax val="0"/>
          <dgm:chPref val="0"/>
          <dgm:bulletEnabled val="1"/>
        </dgm:presLayoutVars>
      </dgm:prSet>
      <dgm:spPr/>
    </dgm:pt>
    <dgm:pt modelId="{0C1169C7-B543-6447-8963-E1BD2B033660}" type="pres">
      <dgm:prSet presAssocID="{7B3A00FF-5C17-474B-B864-7E855E87045F}" presName="parSh" presStyleCnt="0"/>
      <dgm:spPr/>
    </dgm:pt>
    <dgm:pt modelId="{BA78742A-9DD0-0A4C-A060-EE0B59648DAF}" type="pres">
      <dgm:prSet presAssocID="{7B3A00FF-5C17-474B-B864-7E855E87045F}" presName="lineNode" presStyleLbl="alignAccFollowNode1" presStyleIdx="0" presStyleCnt="9"/>
      <dgm:spPr/>
    </dgm:pt>
    <dgm:pt modelId="{0102C2F0-BC91-0C43-B1EB-8445CE98D7EF}" type="pres">
      <dgm:prSet presAssocID="{7B3A00FF-5C17-474B-B864-7E855E87045F}" presName="lineArrowNode" presStyleLbl="alignAccFollowNode1" presStyleIdx="1" presStyleCnt="9"/>
      <dgm:spPr/>
    </dgm:pt>
    <dgm:pt modelId="{D245DE2B-F2C0-AC43-9190-C53885B918A2}" type="pres">
      <dgm:prSet presAssocID="{32F79AE0-C969-4C51-B066-7C8E2D6A840F}" presName="sibTransNodeCircle" presStyleLbl="alignNode1" presStyleIdx="0" presStyleCnt="3">
        <dgm:presLayoutVars>
          <dgm:chMax val="0"/>
          <dgm:bulletEnabled/>
        </dgm:presLayoutVars>
      </dgm:prSet>
      <dgm:spPr/>
    </dgm:pt>
    <dgm:pt modelId="{4D2478C9-4B99-BB4B-83F2-3D46B7E131F4}" type="pres">
      <dgm:prSet presAssocID="{32F79AE0-C969-4C51-B066-7C8E2D6A840F}" presName="spacerBetweenCircleAndCallout" presStyleCnt="0">
        <dgm:presLayoutVars/>
      </dgm:prSet>
      <dgm:spPr/>
    </dgm:pt>
    <dgm:pt modelId="{0A27E667-CEB0-1144-A57E-513A8A5EAF30}" type="pres">
      <dgm:prSet presAssocID="{7B3A00FF-5C17-474B-B864-7E855E87045F}" presName="nodeText" presStyleLbl="alignAccFollowNode1" presStyleIdx="2" presStyleCnt="9">
        <dgm:presLayoutVars>
          <dgm:bulletEnabled val="1"/>
        </dgm:presLayoutVars>
      </dgm:prSet>
      <dgm:spPr/>
    </dgm:pt>
    <dgm:pt modelId="{AE970683-5383-714C-85DA-FF2B07011B54}" type="pres">
      <dgm:prSet presAssocID="{32F79AE0-C969-4C51-B066-7C8E2D6A840F}" presName="sibTransComposite" presStyleCnt="0"/>
      <dgm:spPr/>
    </dgm:pt>
    <dgm:pt modelId="{AE5EADD7-13BB-4549-89CE-528176FAE0F4}" type="pres">
      <dgm:prSet presAssocID="{D19E8975-3C11-4C08-BC3D-E3F565FFFE61}" presName="compositeNode" presStyleCnt="0"/>
      <dgm:spPr/>
    </dgm:pt>
    <dgm:pt modelId="{9CFEFECD-34E1-4844-B4FC-7EA09BC93F89}" type="pres">
      <dgm:prSet presAssocID="{D19E8975-3C11-4C08-BC3D-E3F565FFFE61}" presName="parTx" presStyleLbl="node1" presStyleIdx="0" presStyleCnt="0">
        <dgm:presLayoutVars>
          <dgm:chMax val="0"/>
          <dgm:chPref val="0"/>
          <dgm:bulletEnabled val="1"/>
        </dgm:presLayoutVars>
      </dgm:prSet>
      <dgm:spPr/>
    </dgm:pt>
    <dgm:pt modelId="{B3C3FB7C-328E-A149-98DF-69770DF057F8}" type="pres">
      <dgm:prSet presAssocID="{D19E8975-3C11-4C08-BC3D-E3F565FFFE61}" presName="parSh" presStyleCnt="0"/>
      <dgm:spPr/>
    </dgm:pt>
    <dgm:pt modelId="{280B536A-CC22-8642-8686-F39E6C735E2F}" type="pres">
      <dgm:prSet presAssocID="{D19E8975-3C11-4C08-BC3D-E3F565FFFE61}" presName="lineNode" presStyleLbl="alignAccFollowNode1" presStyleIdx="3" presStyleCnt="9"/>
      <dgm:spPr/>
    </dgm:pt>
    <dgm:pt modelId="{61D41DEE-558F-274A-A8D3-8848B29AE6BC}" type="pres">
      <dgm:prSet presAssocID="{D19E8975-3C11-4C08-BC3D-E3F565FFFE61}" presName="lineArrowNode" presStyleLbl="alignAccFollowNode1" presStyleIdx="4" presStyleCnt="9"/>
      <dgm:spPr/>
    </dgm:pt>
    <dgm:pt modelId="{EA440173-1E0C-9440-B092-DFB80EDA2BD7}" type="pres">
      <dgm:prSet presAssocID="{0D0467D0-BA21-4671-9230-92E0B75790B4}" presName="sibTransNodeCircle" presStyleLbl="alignNode1" presStyleIdx="1" presStyleCnt="3">
        <dgm:presLayoutVars>
          <dgm:chMax val="0"/>
          <dgm:bulletEnabled/>
        </dgm:presLayoutVars>
      </dgm:prSet>
      <dgm:spPr/>
    </dgm:pt>
    <dgm:pt modelId="{D70F36C2-0F47-F54F-9A17-48759BC0F2AD}" type="pres">
      <dgm:prSet presAssocID="{0D0467D0-BA21-4671-9230-92E0B75790B4}" presName="spacerBetweenCircleAndCallout" presStyleCnt="0">
        <dgm:presLayoutVars/>
      </dgm:prSet>
      <dgm:spPr/>
    </dgm:pt>
    <dgm:pt modelId="{05981268-197D-AB4C-A9AB-ECD1611A7459}" type="pres">
      <dgm:prSet presAssocID="{D19E8975-3C11-4C08-BC3D-E3F565FFFE61}" presName="nodeText" presStyleLbl="alignAccFollowNode1" presStyleIdx="5" presStyleCnt="9">
        <dgm:presLayoutVars>
          <dgm:bulletEnabled val="1"/>
        </dgm:presLayoutVars>
      </dgm:prSet>
      <dgm:spPr/>
    </dgm:pt>
    <dgm:pt modelId="{BEF57CFF-6283-4F4E-92C4-23174E40CC6F}" type="pres">
      <dgm:prSet presAssocID="{0D0467D0-BA21-4671-9230-92E0B75790B4}" presName="sibTransComposite" presStyleCnt="0"/>
      <dgm:spPr/>
    </dgm:pt>
    <dgm:pt modelId="{D84040C9-B095-6B42-9484-2C9723F96154}" type="pres">
      <dgm:prSet presAssocID="{480AD47D-F53F-4577-B6E8-DB1738D9604C}" presName="compositeNode" presStyleCnt="0"/>
      <dgm:spPr/>
    </dgm:pt>
    <dgm:pt modelId="{F650FFB3-9A8B-534B-8A16-EE441C816135}" type="pres">
      <dgm:prSet presAssocID="{480AD47D-F53F-4577-B6E8-DB1738D9604C}" presName="parTx" presStyleLbl="node1" presStyleIdx="0" presStyleCnt="0">
        <dgm:presLayoutVars>
          <dgm:chMax val="0"/>
          <dgm:chPref val="0"/>
          <dgm:bulletEnabled val="1"/>
        </dgm:presLayoutVars>
      </dgm:prSet>
      <dgm:spPr/>
    </dgm:pt>
    <dgm:pt modelId="{24DD052C-D5E2-064D-9A56-B00178D116E3}" type="pres">
      <dgm:prSet presAssocID="{480AD47D-F53F-4577-B6E8-DB1738D9604C}" presName="parSh" presStyleCnt="0"/>
      <dgm:spPr/>
    </dgm:pt>
    <dgm:pt modelId="{F8EA3B6C-67F9-DD49-9A99-77CDFF48E890}" type="pres">
      <dgm:prSet presAssocID="{480AD47D-F53F-4577-B6E8-DB1738D9604C}" presName="lineNode" presStyleLbl="alignAccFollowNode1" presStyleIdx="6" presStyleCnt="9"/>
      <dgm:spPr/>
    </dgm:pt>
    <dgm:pt modelId="{AC984E44-C325-0F44-ACFF-7328990923CA}" type="pres">
      <dgm:prSet presAssocID="{480AD47D-F53F-4577-B6E8-DB1738D9604C}" presName="lineArrowNode" presStyleLbl="alignAccFollowNode1" presStyleIdx="7" presStyleCnt="9"/>
      <dgm:spPr/>
    </dgm:pt>
    <dgm:pt modelId="{46AD1C73-6904-8949-B972-6D59646BCB95}" type="pres">
      <dgm:prSet presAssocID="{D91516F9-24CF-4325-A67D-EAE440B546A9}" presName="sibTransNodeCircle" presStyleLbl="alignNode1" presStyleIdx="2" presStyleCnt="3">
        <dgm:presLayoutVars>
          <dgm:chMax val="0"/>
          <dgm:bulletEnabled/>
        </dgm:presLayoutVars>
      </dgm:prSet>
      <dgm:spPr/>
    </dgm:pt>
    <dgm:pt modelId="{C3BD7A74-4C86-DA48-AFF0-4AF99F133E0F}" type="pres">
      <dgm:prSet presAssocID="{D91516F9-24CF-4325-A67D-EAE440B546A9}" presName="spacerBetweenCircleAndCallout" presStyleCnt="0">
        <dgm:presLayoutVars/>
      </dgm:prSet>
      <dgm:spPr/>
    </dgm:pt>
    <dgm:pt modelId="{8EF0ACF2-017E-2B42-A65B-32AB28E8D7D2}" type="pres">
      <dgm:prSet presAssocID="{480AD47D-F53F-4577-B6E8-DB1738D9604C}" presName="nodeText" presStyleLbl="alignAccFollowNode1" presStyleIdx="8" presStyleCnt="9">
        <dgm:presLayoutVars>
          <dgm:bulletEnabled val="1"/>
        </dgm:presLayoutVars>
      </dgm:prSet>
      <dgm:spPr/>
    </dgm:pt>
  </dgm:ptLst>
  <dgm:cxnLst>
    <dgm:cxn modelId="{583F3211-2D4C-7244-95A8-6BEE50B19DE0}" type="presOf" srcId="{480AD47D-F53F-4577-B6E8-DB1738D9604C}" destId="{8EF0ACF2-017E-2B42-A65B-32AB28E8D7D2}" srcOrd="0" destOrd="0" presId="urn:microsoft.com/office/officeart/2016/7/layout/LinearArrowProcessNumbered"/>
    <dgm:cxn modelId="{BFE3C235-153D-5E41-87CC-C37AB4AE519F}" type="presOf" srcId="{D91516F9-24CF-4325-A67D-EAE440B546A9}" destId="{46AD1C73-6904-8949-B972-6D59646BCB95}" srcOrd="0" destOrd="0" presId="urn:microsoft.com/office/officeart/2016/7/layout/LinearArrowProcessNumbered"/>
    <dgm:cxn modelId="{CF0C9A5C-87F6-1F4B-A830-3FCAAADE153D}" type="presOf" srcId="{D19E8975-3C11-4C08-BC3D-E3F565FFFE61}" destId="{05981268-197D-AB4C-A9AB-ECD1611A7459}" srcOrd="0" destOrd="0" presId="urn:microsoft.com/office/officeart/2016/7/layout/LinearArrowProcessNumbered"/>
    <dgm:cxn modelId="{AF34D566-1040-7849-880D-B251556CD2AC}" type="presOf" srcId="{7B3A00FF-5C17-474B-B864-7E855E87045F}" destId="{0A27E667-CEB0-1144-A57E-513A8A5EAF30}" srcOrd="0" destOrd="0" presId="urn:microsoft.com/office/officeart/2016/7/layout/LinearArrowProcessNumbered"/>
    <dgm:cxn modelId="{2C541A80-2ABA-4A17-95F0-0DE8A78D012D}" srcId="{C4544B1E-0D2B-4525-B4E3-396BE6D92211}" destId="{480AD47D-F53F-4577-B6E8-DB1738D9604C}" srcOrd="2" destOrd="0" parTransId="{628E66C7-A47E-4DF2-8F3D-83DF01F755F3}" sibTransId="{D91516F9-24CF-4325-A67D-EAE440B546A9}"/>
    <dgm:cxn modelId="{1982FB91-10B7-B048-ACF1-D63F0F0F7234}" type="presOf" srcId="{0D0467D0-BA21-4671-9230-92E0B75790B4}" destId="{EA440173-1E0C-9440-B092-DFB80EDA2BD7}" srcOrd="0" destOrd="0" presId="urn:microsoft.com/office/officeart/2016/7/layout/LinearArrowProcessNumbered"/>
    <dgm:cxn modelId="{D5ABDBA5-A837-44C3-8D04-25068AC62CC0}" srcId="{C4544B1E-0D2B-4525-B4E3-396BE6D92211}" destId="{7B3A00FF-5C17-474B-B864-7E855E87045F}" srcOrd="0" destOrd="0" parTransId="{CFBF1F0A-32D0-4B04-A716-2C3C4BD1641C}" sibTransId="{32F79AE0-C969-4C51-B066-7C8E2D6A840F}"/>
    <dgm:cxn modelId="{1D8F8AB6-89DB-A544-BFDC-BB7273FA8051}" type="presOf" srcId="{C4544B1E-0D2B-4525-B4E3-396BE6D92211}" destId="{6ACFA981-4942-D548-85B7-D039F0758D48}" srcOrd="0" destOrd="0" presId="urn:microsoft.com/office/officeart/2016/7/layout/LinearArrowProcessNumbered"/>
    <dgm:cxn modelId="{BA691FDC-AE6A-7740-A17A-4686BBCD2B83}" type="presOf" srcId="{32F79AE0-C969-4C51-B066-7C8E2D6A840F}" destId="{D245DE2B-F2C0-AC43-9190-C53885B918A2}" srcOrd="0" destOrd="0" presId="urn:microsoft.com/office/officeart/2016/7/layout/LinearArrowProcessNumbered"/>
    <dgm:cxn modelId="{E816D9F8-32F9-466B-B455-B4640D4A48F2}" srcId="{C4544B1E-0D2B-4525-B4E3-396BE6D92211}" destId="{D19E8975-3C11-4C08-BC3D-E3F565FFFE61}" srcOrd="1" destOrd="0" parTransId="{1254CB89-8E08-4527-9367-AC2EC1F5AD10}" sibTransId="{0D0467D0-BA21-4671-9230-92E0B75790B4}"/>
    <dgm:cxn modelId="{B91E6858-9DB7-C64D-80B7-302B0181AA2E}" type="presParOf" srcId="{6ACFA981-4942-D548-85B7-D039F0758D48}" destId="{61165919-C673-3A46-9371-646BFB4235B1}" srcOrd="0" destOrd="0" presId="urn:microsoft.com/office/officeart/2016/7/layout/LinearArrowProcessNumbered"/>
    <dgm:cxn modelId="{1C6C2DDB-3C89-4B4A-8016-0E9D5A8F53D1}" type="presParOf" srcId="{61165919-C673-3A46-9371-646BFB4235B1}" destId="{CAE17F64-13B9-E545-8CE9-576D95D777D2}" srcOrd="0" destOrd="0" presId="urn:microsoft.com/office/officeart/2016/7/layout/LinearArrowProcessNumbered"/>
    <dgm:cxn modelId="{2C2840B8-CA32-DC48-AFB4-0872527E143F}" type="presParOf" srcId="{61165919-C673-3A46-9371-646BFB4235B1}" destId="{0C1169C7-B543-6447-8963-E1BD2B033660}" srcOrd="1" destOrd="0" presId="urn:microsoft.com/office/officeart/2016/7/layout/LinearArrowProcessNumbered"/>
    <dgm:cxn modelId="{5BE04B6A-4E63-2D4A-B8F9-0E227FFDA1CC}" type="presParOf" srcId="{0C1169C7-B543-6447-8963-E1BD2B033660}" destId="{BA78742A-9DD0-0A4C-A060-EE0B59648DAF}" srcOrd="0" destOrd="0" presId="urn:microsoft.com/office/officeart/2016/7/layout/LinearArrowProcessNumbered"/>
    <dgm:cxn modelId="{D2FCE59E-0C6E-7844-B39B-89F9A9685A26}" type="presParOf" srcId="{0C1169C7-B543-6447-8963-E1BD2B033660}" destId="{0102C2F0-BC91-0C43-B1EB-8445CE98D7EF}" srcOrd="1" destOrd="0" presId="urn:microsoft.com/office/officeart/2016/7/layout/LinearArrowProcessNumbered"/>
    <dgm:cxn modelId="{EEBDCFDF-D7FC-A44A-A976-6AD7425FC5B2}" type="presParOf" srcId="{0C1169C7-B543-6447-8963-E1BD2B033660}" destId="{D245DE2B-F2C0-AC43-9190-C53885B918A2}" srcOrd="2" destOrd="0" presId="urn:microsoft.com/office/officeart/2016/7/layout/LinearArrowProcessNumbered"/>
    <dgm:cxn modelId="{8EE373F2-68C1-2C4F-A20C-5C7A2FA76204}" type="presParOf" srcId="{0C1169C7-B543-6447-8963-E1BD2B033660}" destId="{4D2478C9-4B99-BB4B-83F2-3D46B7E131F4}" srcOrd="3" destOrd="0" presId="urn:microsoft.com/office/officeart/2016/7/layout/LinearArrowProcessNumbered"/>
    <dgm:cxn modelId="{C20511F8-C940-4540-ABD4-FA489EDD54DE}" type="presParOf" srcId="{61165919-C673-3A46-9371-646BFB4235B1}" destId="{0A27E667-CEB0-1144-A57E-513A8A5EAF30}" srcOrd="2" destOrd="0" presId="urn:microsoft.com/office/officeart/2016/7/layout/LinearArrowProcessNumbered"/>
    <dgm:cxn modelId="{077EC2AA-CFBE-634E-B040-652CF096DF88}" type="presParOf" srcId="{6ACFA981-4942-D548-85B7-D039F0758D48}" destId="{AE970683-5383-714C-85DA-FF2B07011B54}" srcOrd="1" destOrd="0" presId="urn:microsoft.com/office/officeart/2016/7/layout/LinearArrowProcessNumbered"/>
    <dgm:cxn modelId="{E65FD12E-6E4F-BE41-B74F-B886CE9FDB3D}" type="presParOf" srcId="{6ACFA981-4942-D548-85B7-D039F0758D48}" destId="{AE5EADD7-13BB-4549-89CE-528176FAE0F4}" srcOrd="2" destOrd="0" presId="urn:microsoft.com/office/officeart/2016/7/layout/LinearArrowProcessNumbered"/>
    <dgm:cxn modelId="{3116DE0A-B404-644F-8847-D805F02CFB0D}" type="presParOf" srcId="{AE5EADD7-13BB-4549-89CE-528176FAE0F4}" destId="{9CFEFECD-34E1-4844-B4FC-7EA09BC93F89}" srcOrd="0" destOrd="0" presId="urn:microsoft.com/office/officeart/2016/7/layout/LinearArrowProcessNumbered"/>
    <dgm:cxn modelId="{F5D9BA37-CC04-9847-B6D1-EBFF3367D35E}" type="presParOf" srcId="{AE5EADD7-13BB-4549-89CE-528176FAE0F4}" destId="{B3C3FB7C-328E-A149-98DF-69770DF057F8}" srcOrd="1" destOrd="0" presId="urn:microsoft.com/office/officeart/2016/7/layout/LinearArrowProcessNumbered"/>
    <dgm:cxn modelId="{F6218A43-4646-3345-B26E-947B1E2EAEA8}" type="presParOf" srcId="{B3C3FB7C-328E-A149-98DF-69770DF057F8}" destId="{280B536A-CC22-8642-8686-F39E6C735E2F}" srcOrd="0" destOrd="0" presId="urn:microsoft.com/office/officeart/2016/7/layout/LinearArrowProcessNumbered"/>
    <dgm:cxn modelId="{FE6613B3-49F1-6342-98CE-F174B706594A}" type="presParOf" srcId="{B3C3FB7C-328E-A149-98DF-69770DF057F8}" destId="{61D41DEE-558F-274A-A8D3-8848B29AE6BC}" srcOrd="1" destOrd="0" presId="urn:microsoft.com/office/officeart/2016/7/layout/LinearArrowProcessNumbered"/>
    <dgm:cxn modelId="{16E58B99-F765-4B40-A951-B026662B6F0F}" type="presParOf" srcId="{B3C3FB7C-328E-A149-98DF-69770DF057F8}" destId="{EA440173-1E0C-9440-B092-DFB80EDA2BD7}" srcOrd="2" destOrd="0" presId="urn:microsoft.com/office/officeart/2016/7/layout/LinearArrowProcessNumbered"/>
    <dgm:cxn modelId="{35F67753-4CDD-E14F-B8FF-C3DE4E71BC9D}" type="presParOf" srcId="{B3C3FB7C-328E-A149-98DF-69770DF057F8}" destId="{D70F36C2-0F47-F54F-9A17-48759BC0F2AD}" srcOrd="3" destOrd="0" presId="urn:microsoft.com/office/officeart/2016/7/layout/LinearArrowProcessNumbered"/>
    <dgm:cxn modelId="{5333A751-C6A4-FC4E-AC5F-C1C31EC7DF86}" type="presParOf" srcId="{AE5EADD7-13BB-4549-89CE-528176FAE0F4}" destId="{05981268-197D-AB4C-A9AB-ECD1611A7459}" srcOrd="2" destOrd="0" presId="urn:microsoft.com/office/officeart/2016/7/layout/LinearArrowProcessNumbered"/>
    <dgm:cxn modelId="{AD916A4E-1536-F74E-9F77-C7EB8FF5AA28}" type="presParOf" srcId="{6ACFA981-4942-D548-85B7-D039F0758D48}" destId="{BEF57CFF-6283-4F4E-92C4-23174E40CC6F}" srcOrd="3" destOrd="0" presId="urn:microsoft.com/office/officeart/2016/7/layout/LinearArrowProcessNumbered"/>
    <dgm:cxn modelId="{38B27681-83C9-514D-97CF-0D0A9C795CF0}" type="presParOf" srcId="{6ACFA981-4942-D548-85B7-D039F0758D48}" destId="{D84040C9-B095-6B42-9484-2C9723F96154}" srcOrd="4" destOrd="0" presId="urn:microsoft.com/office/officeart/2016/7/layout/LinearArrowProcessNumbered"/>
    <dgm:cxn modelId="{86B91E4C-DEDB-EA40-BFA4-7BDCDB3DC901}" type="presParOf" srcId="{D84040C9-B095-6B42-9484-2C9723F96154}" destId="{F650FFB3-9A8B-534B-8A16-EE441C816135}" srcOrd="0" destOrd="0" presId="urn:microsoft.com/office/officeart/2016/7/layout/LinearArrowProcessNumbered"/>
    <dgm:cxn modelId="{4730DB61-9B7A-D442-8EEC-3404019DACA9}" type="presParOf" srcId="{D84040C9-B095-6B42-9484-2C9723F96154}" destId="{24DD052C-D5E2-064D-9A56-B00178D116E3}" srcOrd="1" destOrd="0" presId="urn:microsoft.com/office/officeart/2016/7/layout/LinearArrowProcessNumbered"/>
    <dgm:cxn modelId="{07C7FA4E-77B8-104B-826F-1E92844F92DF}" type="presParOf" srcId="{24DD052C-D5E2-064D-9A56-B00178D116E3}" destId="{F8EA3B6C-67F9-DD49-9A99-77CDFF48E890}" srcOrd="0" destOrd="0" presId="urn:microsoft.com/office/officeart/2016/7/layout/LinearArrowProcessNumbered"/>
    <dgm:cxn modelId="{69182A70-36E7-B844-808A-DF0C5F000A95}" type="presParOf" srcId="{24DD052C-D5E2-064D-9A56-B00178D116E3}" destId="{AC984E44-C325-0F44-ACFF-7328990923CA}" srcOrd="1" destOrd="0" presId="urn:microsoft.com/office/officeart/2016/7/layout/LinearArrowProcessNumbered"/>
    <dgm:cxn modelId="{DB830086-7E16-F449-80AC-725D3B998D58}" type="presParOf" srcId="{24DD052C-D5E2-064D-9A56-B00178D116E3}" destId="{46AD1C73-6904-8949-B972-6D59646BCB95}" srcOrd="2" destOrd="0" presId="urn:microsoft.com/office/officeart/2016/7/layout/LinearArrowProcessNumbered"/>
    <dgm:cxn modelId="{9A57DE88-E20A-A64C-AB32-9BB3675D7E20}" type="presParOf" srcId="{24DD052C-D5E2-064D-9A56-B00178D116E3}" destId="{C3BD7A74-4C86-DA48-AFF0-4AF99F133E0F}" srcOrd="3" destOrd="0" presId="urn:microsoft.com/office/officeart/2016/7/layout/LinearArrowProcessNumbered"/>
    <dgm:cxn modelId="{AEA1D26E-8A28-174A-AA82-0BC1001B070A}" type="presParOf" srcId="{D84040C9-B095-6B42-9484-2C9723F96154}" destId="{8EF0ACF2-017E-2B42-A65B-32AB28E8D7D2}" srcOrd="2" destOrd="0" presId="urn:microsoft.com/office/officeart/2016/7/layout/LinearArrow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3788256-5991-4E12-974D-B232C74535E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4006DF5-8561-4F56-A25A-A44C19AC50E8}">
      <dgm:prSet/>
      <dgm:spPr/>
      <dgm:t>
        <a:bodyPr/>
        <a:lstStyle/>
        <a:p>
          <a:r>
            <a:rPr lang="en-US"/>
            <a:t>Avoid: click / type / scroll / wait</a:t>
          </a:r>
        </a:p>
      </dgm:t>
    </dgm:pt>
    <dgm:pt modelId="{422E6D2C-B247-49B8-B3B4-74F8B0E24E04}" type="parTrans" cxnId="{09F9EE8E-96C2-4678-97CC-791751827732}">
      <dgm:prSet/>
      <dgm:spPr/>
      <dgm:t>
        <a:bodyPr/>
        <a:lstStyle/>
        <a:p>
          <a:endParaRPr lang="en-US"/>
        </a:p>
      </dgm:t>
    </dgm:pt>
    <dgm:pt modelId="{1C12C128-52F5-41A3-9A23-73E6F8A41527}" type="sibTrans" cxnId="{09F9EE8E-96C2-4678-97CC-791751827732}">
      <dgm:prSet/>
      <dgm:spPr/>
      <dgm:t>
        <a:bodyPr/>
        <a:lstStyle/>
        <a:p>
          <a:endParaRPr lang="en-US"/>
        </a:p>
      </dgm:t>
    </dgm:pt>
    <dgm:pt modelId="{C47B07F2-8F74-4D01-B335-8D30EA2806D0}">
      <dgm:prSet/>
      <dgm:spPr/>
      <dgm:t>
        <a:bodyPr/>
        <a:lstStyle/>
        <a:p>
          <a:r>
            <a:rPr lang="en-US"/>
            <a:t>Prefer: intent + meaningful actions</a:t>
          </a:r>
        </a:p>
      </dgm:t>
    </dgm:pt>
    <dgm:pt modelId="{B92BC481-C885-4989-BFA2-29548C9B5CC2}" type="parTrans" cxnId="{9C49C026-8EA3-44DB-ADCB-0F5C49C4F067}">
      <dgm:prSet/>
      <dgm:spPr/>
      <dgm:t>
        <a:bodyPr/>
        <a:lstStyle/>
        <a:p>
          <a:endParaRPr lang="en-US"/>
        </a:p>
      </dgm:t>
    </dgm:pt>
    <dgm:pt modelId="{087A899C-2AE9-473F-9A10-37CC434D64EC}" type="sibTrans" cxnId="{9C49C026-8EA3-44DB-ADCB-0F5C49C4F067}">
      <dgm:prSet/>
      <dgm:spPr/>
      <dgm:t>
        <a:bodyPr/>
        <a:lstStyle/>
        <a:p>
          <a:endParaRPr lang="en-US"/>
        </a:p>
      </dgm:t>
    </dgm:pt>
    <dgm:pt modelId="{DBB66F97-222D-4D33-BB8C-3F62B9F39E60}">
      <dgm:prSet/>
      <dgm:spPr/>
      <dgm:t>
        <a:bodyPr/>
        <a:lstStyle/>
        <a:p>
          <a:r>
            <a:rPr lang="en-US"/>
            <a:t>UI specifics belong in step code (if needed)</a:t>
          </a:r>
        </a:p>
      </dgm:t>
    </dgm:pt>
    <dgm:pt modelId="{71C1DBBC-5AB2-4AD0-B3AE-5BA7A163F97F}" type="parTrans" cxnId="{1284DF7C-331D-4189-BF46-FB72B29711B4}">
      <dgm:prSet/>
      <dgm:spPr/>
      <dgm:t>
        <a:bodyPr/>
        <a:lstStyle/>
        <a:p>
          <a:endParaRPr lang="en-US"/>
        </a:p>
      </dgm:t>
    </dgm:pt>
    <dgm:pt modelId="{3E6DB68B-1B3F-460C-9109-D045ACC07112}" type="sibTrans" cxnId="{1284DF7C-331D-4189-BF46-FB72B29711B4}">
      <dgm:prSet/>
      <dgm:spPr/>
      <dgm:t>
        <a:bodyPr/>
        <a:lstStyle/>
        <a:p>
          <a:endParaRPr lang="en-US"/>
        </a:p>
      </dgm:t>
    </dgm:pt>
    <dgm:pt modelId="{E1FF3924-0D98-4F69-8F71-51B38DFBC563}" type="pres">
      <dgm:prSet presAssocID="{A3788256-5991-4E12-974D-B232C74535E6}" presName="root" presStyleCnt="0">
        <dgm:presLayoutVars>
          <dgm:dir/>
          <dgm:resizeHandles val="exact"/>
        </dgm:presLayoutVars>
      </dgm:prSet>
      <dgm:spPr/>
    </dgm:pt>
    <dgm:pt modelId="{C6504EEA-7D51-4161-8E8D-88511E50FB96}" type="pres">
      <dgm:prSet presAssocID="{E4006DF5-8561-4F56-A25A-A44C19AC50E8}" presName="compNode" presStyleCnt="0"/>
      <dgm:spPr/>
    </dgm:pt>
    <dgm:pt modelId="{BF005EE8-D315-4BCD-9ACC-240AC3E09B71}" type="pres">
      <dgm:prSet presAssocID="{E4006DF5-8561-4F56-A25A-A44C19AC50E8}" presName="bgRect" presStyleLbl="bgShp" presStyleIdx="0" presStyleCnt="3"/>
      <dgm:spPr/>
    </dgm:pt>
    <dgm:pt modelId="{8D07FD9E-85E7-4F95-BEF6-FB3D26281B41}" type="pres">
      <dgm:prSet presAssocID="{E4006DF5-8561-4F56-A25A-A44C19AC50E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btitles"/>
        </a:ext>
      </dgm:extLst>
    </dgm:pt>
    <dgm:pt modelId="{CC7E14D2-1163-4A9D-B261-EF7149041DA4}" type="pres">
      <dgm:prSet presAssocID="{E4006DF5-8561-4F56-A25A-A44C19AC50E8}" presName="spaceRect" presStyleCnt="0"/>
      <dgm:spPr/>
    </dgm:pt>
    <dgm:pt modelId="{E7F98B27-824B-417B-BEBD-5457B054A99E}" type="pres">
      <dgm:prSet presAssocID="{E4006DF5-8561-4F56-A25A-A44C19AC50E8}" presName="parTx" presStyleLbl="revTx" presStyleIdx="0" presStyleCnt="3">
        <dgm:presLayoutVars>
          <dgm:chMax val="0"/>
          <dgm:chPref val="0"/>
        </dgm:presLayoutVars>
      </dgm:prSet>
      <dgm:spPr/>
    </dgm:pt>
    <dgm:pt modelId="{6AF66B72-D283-432B-81AC-753DD6183AFC}" type="pres">
      <dgm:prSet presAssocID="{1C12C128-52F5-41A3-9A23-73E6F8A41527}" presName="sibTrans" presStyleCnt="0"/>
      <dgm:spPr/>
    </dgm:pt>
    <dgm:pt modelId="{6EFA50C1-CE59-412E-B07B-A22E3EF4238C}" type="pres">
      <dgm:prSet presAssocID="{C47B07F2-8F74-4D01-B335-8D30EA2806D0}" presName="compNode" presStyleCnt="0"/>
      <dgm:spPr/>
    </dgm:pt>
    <dgm:pt modelId="{BF3E49B5-B611-40FA-80CA-1F634628B31E}" type="pres">
      <dgm:prSet presAssocID="{C47B07F2-8F74-4D01-B335-8D30EA2806D0}" presName="bgRect" presStyleLbl="bgShp" presStyleIdx="1" presStyleCnt="3"/>
      <dgm:spPr/>
    </dgm:pt>
    <dgm:pt modelId="{70F3280D-004D-49D9-AF3B-5927FC374D98}" type="pres">
      <dgm:prSet presAssocID="{C47B07F2-8F74-4D01-B335-8D30EA2806D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4C1368BE-7A44-4A43-A86A-82AB75ED3710}" type="pres">
      <dgm:prSet presAssocID="{C47B07F2-8F74-4D01-B335-8D30EA2806D0}" presName="spaceRect" presStyleCnt="0"/>
      <dgm:spPr/>
    </dgm:pt>
    <dgm:pt modelId="{A3DB87E1-4BCB-498D-A925-D4145633179A}" type="pres">
      <dgm:prSet presAssocID="{C47B07F2-8F74-4D01-B335-8D30EA2806D0}" presName="parTx" presStyleLbl="revTx" presStyleIdx="1" presStyleCnt="3">
        <dgm:presLayoutVars>
          <dgm:chMax val="0"/>
          <dgm:chPref val="0"/>
        </dgm:presLayoutVars>
      </dgm:prSet>
      <dgm:spPr/>
    </dgm:pt>
    <dgm:pt modelId="{D0C4F243-C3CE-4BCF-A37F-F060CEC8C20D}" type="pres">
      <dgm:prSet presAssocID="{087A899C-2AE9-473F-9A10-37CC434D64EC}" presName="sibTrans" presStyleCnt="0"/>
      <dgm:spPr/>
    </dgm:pt>
    <dgm:pt modelId="{2957EEDC-0C63-49DE-BD1E-D770943B6D44}" type="pres">
      <dgm:prSet presAssocID="{DBB66F97-222D-4D33-BB8C-3F62B9F39E60}" presName="compNode" presStyleCnt="0"/>
      <dgm:spPr/>
    </dgm:pt>
    <dgm:pt modelId="{F141E57C-DA94-4CA1-98B5-4E2D947E2AC8}" type="pres">
      <dgm:prSet presAssocID="{DBB66F97-222D-4D33-BB8C-3F62B9F39E60}" presName="bgRect" presStyleLbl="bgShp" presStyleIdx="2" presStyleCnt="3"/>
      <dgm:spPr/>
    </dgm:pt>
    <dgm:pt modelId="{D73AEE54-DFB6-4FBA-B373-A4037560DE5D}" type="pres">
      <dgm:prSet presAssocID="{DBB66F97-222D-4D33-BB8C-3F62B9F39E6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E93C4B45-BB89-402F-8731-92A3E743F1AB}" type="pres">
      <dgm:prSet presAssocID="{DBB66F97-222D-4D33-BB8C-3F62B9F39E60}" presName="spaceRect" presStyleCnt="0"/>
      <dgm:spPr/>
    </dgm:pt>
    <dgm:pt modelId="{F1D5642D-2985-414C-A05E-ED33165A15AC}" type="pres">
      <dgm:prSet presAssocID="{DBB66F97-222D-4D33-BB8C-3F62B9F39E60}" presName="parTx" presStyleLbl="revTx" presStyleIdx="2" presStyleCnt="3">
        <dgm:presLayoutVars>
          <dgm:chMax val="0"/>
          <dgm:chPref val="0"/>
        </dgm:presLayoutVars>
      </dgm:prSet>
      <dgm:spPr/>
    </dgm:pt>
  </dgm:ptLst>
  <dgm:cxnLst>
    <dgm:cxn modelId="{752D8F1D-D62A-4EE5-B74C-A2FE7E1EA25F}" type="presOf" srcId="{E4006DF5-8561-4F56-A25A-A44C19AC50E8}" destId="{E7F98B27-824B-417B-BEBD-5457B054A99E}" srcOrd="0" destOrd="0" presId="urn:microsoft.com/office/officeart/2018/2/layout/IconVerticalSolidList"/>
    <dgm:cxn modelId="{9C49C026-8EA3-44DB-ADCB-0F5C49C4F067}" srcId="{A3788256-5991-4E12-974D-B232C74535E6}" destId="{C47B07F2-8F74-4D01-B335-8D30EA2806D0}" srcOrd="1" destOrd="0" parTransId="{B92BC481-C885-4989-BFA2-29548C9B5CC2}" sibTransId="{087A899C-2AE9-473F-9A10-37CC434D64EC}"/>
    <dgm:cxn modelId="{060AA96A-6B57-461F-A8C3-778165F64384}" type="presOf" srcId="{DBB66F97-222D-4D33-BB8C-3F62B9F39E60}" destId="{F1D5642D-2985-414C-A05E-ED33165A15AC}" srcOrd="0" destOrd="0" presId="urn:microsoft.com/office/officeart/2018/2/layout/IconVerticalSolidList"/>
    <dgm:cxn modelId="{1284DF7C-331D-4189-BF46-FB72B29711B4}" srcId="{A3788256-5991-4E12-974D-B232C74535E6}" destId="{DBB66F97-222D-4D33-BB8C-3F62B9F39E60}" srcOrd="2" destOrd="0" parTransId="{71C1DBBC-5AB2-4AD0-B3AE-5BA7A163F97F}" sibTransId="{3E6DB68B-1B3F-460C-9109-D045ACC07112}"/>
    <dgm:cxn modelId="{09F9EE8E-96C2-4678-97CC-791751827732}" srcId="{A3788256-5991-4E12-974D-B232C74535E6}" destId="{E4006DF5-8561-4F56-A25A-A44C19AC50E8}" srcOrd="0" destOrd="0" parTransId="{422E6D2C-B247-49B8-B3B4-74F8B0E24E04}" sibTransId="{1C12C128-52F5-41A3-9A23-73E6F8A41527}"/>
    <dgm:cxn modelId="{8A2CC8B1-5745-485D-BFCE-90E78D2E2436}" type="presOf" srcId="{C47B07F2-8F74-4D01-B335-8D30EA2806D0}" destId="{A3DB87E1-4BCB-498D-A925-D4145633179A}" srcOrd="0" destOrd="0" presId="urn:microsoft.com/office/officeart/2018/2/layout/IconVerticalSolidList"/>
    <dgm:cxn modelId="{6B61E2DD-723B-4092-AFC3-60E099A88F07}" type="presOf" srcId="{A3788256-5991-4E12-974D-B232C74535E6}" destId="{E1FF3924-0D98-4F69-8F71-51B38DFBC563}" srcOrd="0" destOrd="0" presId="urn:microsoft.com/office/officeart/2018/2/layout/IconVerticalSolidList"/>
    <dgm:cxn modelId="{38527AA8-0BA2-402C-B2C1-2B22AD49B2CF}" type="presParOf" srcId="{E1FF3924-0D98-4F69-8F71-51B38DFBC563}" destId="{C6504EEA-7D51-4161-8E8D-88511E50FB96}" srcOrd="0" destOrd="0" presId="urn:microsoft.com/office/officeart/2018/2/layout/IconVerticalSolidList"/>
    <dgm:cxn modelId="{509D12D2-B5F2-43D9-BAB4-BFE9A1CFB955}" type="presParOf" srcId="{C6504EEA-7D51-4161-8E8D-88511E50FB96}" destId="{BF005EE8-D315-4BCD-9ACC-240AC3E09B71}" srcOrd="0" destOrd="0" presId="urn:microsoft.com/office/officeart/2018/2/layout/IconVerticalSolidList"/>
    <dgm:cxn modelId="{E00BE698-A233-4069-89B8-EEAA76F5AFCB}" type="presParOf" srcId="{C6504EEA-7D51-4161-8E8D-88511E50FB96}" destId="{8D07FD9E-85E7-4F95-BEF6-FB3D26281B41}" srcOrd="1" destOrd="0" presId="urn:microsoft.com/office/officeart/2018/2/layout/IconVerticalSolidList"/>
    <dgm:cxn modelId="{35C03A31-9DAE-4BED-9D89-0A394A5EA706}" type="presParOf" srcId="{C6504EEA-7D51-4161-8E8D-88511E50FB96}" destId="{CC7E14D2-1163-4A9D-B261-EF7149041DA4}" srcOrd="2" destOrd="0" presId="urn:microsoft.com/office/officeart/2018/2/layout/IconVerticalSolidList"/>
    <dgm:cxn modelId="{1A8FCDB2-8633-4A0C-9A67-25D2D9558189}" type="presParOf" srcId="{C6504EEA-7D51-4161-8E8D-88511E50FB96}" destId="{E7F98B27-824B-417B-BEBD-5457B054A99E}" srcOrd="3" destOrd="0" presId="urn:microsoft.com/office/officeart/2018/2/layout/IconVerticalSolidList"/>
    <dgm:cxn modelId="{FE046DCD-0A64-49E3-92A1-DEE65DBAD941}" type="presParOf" srcId="{E1FF3924-0D98-4F69-8F71-51B38DFBC563}" destId="{6AF66B72-D283-432B-81AC-753DD6183AFC}" srcOrd="1" destOrd="0" presId="urn:microsoft.com/office/officeart/2018/2/layout/IconVerticalSolidList"/>
    <dgm:cxn modelId="{B1395A6B-136B-4E23-8553-239EDD769503}" type="presParOf" srcId="{E1FF3924-0D98-4F69-8F71-51B38DFBC563}" destId="{6EFA50C1-CE59-412E-B07B-A22E3EF4238C}" srcOrd="2" destOrd="0" presId="urn:microsoft.com/office/officeart/2018/2/layout/IconVerticalSolidList"/>
    <dgm:cxn modelId="{8A3D6771-B739-49DD-BAA7-CC30E513064E}" type="presParOf" srcId="{6EFA50C1-CE59-412E-B07B-A22E3EF4238C}" destId="{BF3E49B5-B611-40FA-80CA-1F634628B31E}" srcOrd="0" destOrd="0" presId="urn:microsoft.com/office/officeart/2018/2/layout/IconVerticalSolidList"/>
    <dgm:cxn modelId="{CA4281D2-0769-47A3-9CF4-BE92DBDB7EC7}" type="presParOf" srcId="{6EFA50C1-CE59-412E-B07B-A22E3EF4238C}" destId="{70F3280D-004D-49D9-AF3B-5927FC374D98}" srcOrd="1" destOrd="0" presId="urn:microsoft.com/office/officeart/2018/2/layout/IconVerticalSolidList"/>
    <dgm:cxn modelId="{4D1F5F3F-50AA-4EF5-967E-255DE1CC25C4}" type="presParOf" srcId="{6EFA50C1-CE59-412E-B07B-A22E3EF4238C}" destId="{4C1368BE-7A44-4A43-A86A-82AB75ED3710}" srcOrd="2" destOrd="0" presId="urn:microsoft.com/office/officeart/2018/2/layout/IconVerticalSolidList"/>
    <dgm:cxn modelId="{9C2A399F-8AA1-4EE1-BF8C-A6439BE40066}" type="presParOf" srcId="{6EFA50C1-CE59-412E-B07B-A22E3EF4238C}" destId="{A3DB87E1-4BCB-498D-A925-D4145633179A}" srcOrd="3" destOrd="0" presId="urn:microsoft.com/office/officeart/2018/2/layout/IconVerticalSolidList"/>
    <dgm:cxn modelId="{9711A17F-5F7C-47B4-A604-2B34CDA60B61}" type="presParOf" srcId="{E1FF3924-0D98-4F69-8F71-51B38DFBC563}" destId="{D0C4F243-C3CE-4BCF-A37F-F060CEC8C20D}" srcOrd="3" destOrd="0" presId="urn:microsoft.com/office/officeart/2018/2/layout/IconVerticalSolidList"/>
    <dgm:cxn modelId="{5A9CCF5B-2048-4CC4-8682-5DBF508CB6EF}" type="presParOf" srcId="{E1FF3924-0D98-4F69-8F71-51B38DFBC563}" destId="{2957EEDC-0C63-49DE-BD1E-D770943B6D44}" srcOrd="4" destOrd="0" presId="urn:microsoft.com/office/officeart/2018/2/layout/IconVerticalSolidList"/>
    <dgm:cxn modelId="{0E463928-A4EA-488A-BB52-2077C07233A7}" type="presParOf" srcId="{2957EEDC-0C63-49DE-BD1E-D770943B6D44}" destId="{F141E57C-DA94-4CA1-98B5-4E2D947E2AC8}" srcOrd="0" destOrd="0" presId="urn:microsoft.com/office/officeart/2018/2/layout/IconVerticalSolidList"/>
    <dgm:cxn modelId="{6E941CD7-134F-4197-9F96-86F67481B778}" type="presParOf" srcId="{2957EEDC-0C63-49DE-BD1E-D770943B6D44}" destId="{D73AEE54-DFB6-4FBA-B373-A4037560DE5D}" srcOrd="1" destOrd="0" presId="urn:microsoft.com/office/officeart/2018/2/layout/IconVerticalSolidList"/>
    <dgm:cxn modelId="{6EB4E616-798E-4598-91B9-19EA00EEDC21}" type="presParOf" srcId="{2957EEDC-0C63-49DE-BD1E-D770943B6D44}" destId="{E93C4B45-BB89-402F-8731-92A3E743F1AB}" srcOrd="2" destOrd="0" presId="urn:microsoft.com/office/officeart/2018/2/layout/IconVerticalSolidList"/>
    <dgm:cxn modelId="{0A149718-A42B-44E0-A97B-4C864EFAC33E}" type="presParOf" srcId="{2957EEDC-0C63-49DE-BD1E-D770943B6D44}" destId="{F1D5642D-2985-414C-A05E-ED33165A15A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356EF46-79BE-485D-BE8C-FCBBF43FB9A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EFFB5D5-54DF-4BA0-B3FF-852921D4EDA7}">
      <dgm:prSet/>
      <dgm:spPr/>
      <dgm:t>
        <a:bodyPr/>
        <a:lstStyle/>
        <a:p>
          <a:r>
            <a:rPr lang="en-US"/>
            <a:t>Bad: “Then it works”</a:t>
          </a:r>
        </a:p>
      </dgm:t>
    </dgm:pt>
    <dgm:pt modelId="{BC33E68C-8842-4522-993A-83198E82821E}" type="parTrans" cxnId="{A4233A67-F557-410D-932C-A7EAB9F00954}">
      <dgm:prSet/>
      <dgm:spPr/>
      <dgm:t>
        <a:bodyPr/>
        <a:lstStyle/>
        <a:p>
          <a:endParaRPr lang="en-US"/>
        </a:p>
      </dgm:t>
    </dgm:pt>
    <dgm:pt modelId="{36DEA597-8D19-48F7-9D3C-0D1BB5BAC09B}" type="sibTrans" cxnId="{A4233A67-F557-410D-932C-A7EAB9F00954}">
      <dgm:prSet/>
      <dgm:spPr/>
      <dgm:t>
        <a:bodyPr/>
        <a:lstStyle/>
        <a:p>
          <a:endParaRPr lang="en-US"/>
        </a:p>
      </dgm:t>
    </dgm:pt>
    <dgm:pt modelId="{A8C26B81-88EE-4C47-AE09-1D0652C7F277}">
      <dgm:prSet/>
      <dgm:spPr/>
      <dgm:t>
        <a:bodyPr/>
        <a:lstStyle/>
        <a:p>
          <a:r>
            <a:rPr lang="en-US"/>
            <a:t>Good: “Then the dashboard is shown”</a:t>
          </a:r>
        </a:p>
      </dgm:t>
    </dgm:pt>
    <dgm:pt modelId="{408A6DEE-EEB9-4482-82A1-FA9DF2C71158}" type="parTrans" cxnId="{8CA07B3D-E89F-47FD-8F89-6EE86C82BA11}">
      <dgm:prSet/>
      <dgm:spPr/>
      <dgm:t>
        <a:bodyPr/>
        <a:lstStyle/>
        <a:p>
          <a:endParaRPr lang="en-US"/>
        </a:p>
      </dgm:t>
    </dgm:pt>
    <dgm:pt modelId="{3F20B79F-2288-4BB6-A046-A28F71632CC4}" type="sibTrans" cxnId="{8CA07B3D-E89F-47FD-8F89-6EE86C82BA11}">
      <dgm:prSet/>
      <dgm:spPr/>
      <dgm:t>
        <a:bodyPr/>
        <a:lstStyle/>
        <a:p>
          <a:endParaRPr lang="en-US"/>
        </a:p>
      </dgm:t>
    </dgm:pt>
    <dgm:pt modelId="{EA365E78-44A1-49E7-AA72-D4211E07331E}">
      <dgm:prSet/>
      <dgm:spPr/>
      <dgm:t>
        <a:bodyPr/>
        <a:lstStyle/>
        <a:p>
          <a:r>
            <a:rPr lang="en-US"/>
            <a:t>Best: include the key business result (only what matters)</a:t>
          </a:r>
        </a:p>
      </dgm:t>
    </dgm:pt>
    <dgm:pt modelId="{7C86D21C-07CD-4CC0-9EB3-22ADF37A3C4D}" type="parTrans" cxnId="{D52AD0A1-C04D-408C-9AC9-4132CAF057F0}">
      <dgm:prSet/>
      <dgm:spPr/>
      <dgm:t>
        <a:bodyPr/>
        <a:lstStyle/>
        <a:p>
          <a:endParaRPr lang="en-US"/>
        </a:p>
      </dgm:t>
    </dgm:pt>
    <dgm:pt modelId="{FB3042E9-E79F-4DBB-B841-F1BD7FE02895}" type="sibTrans" cxnId="{D52AD0A1-C04D-408C-9AC9-4132CAF057F0}">
      <dgm:prSet/>
      <dgm:spPr/>
      <dgm:t>
        <a:bodyPr/>
        <a:lstStyle/>
        <a:p>
          <a:endParaRPr lang="en-US"/>
        </a:p>
      </dgm:t>
    </dgm:pt>
    <dgm:pt modelId="{E626633B-DCE5-48AC-9167-90F95D9F7885}" type="pres">
      <dgm:prSet presAssocID="{C356EF46-79BE-485D-BE8C-FCBBF43FB9A5}" presName="root" presStyleCnt="0">
        <dgm:presLayoutVars>
          <dgm:dir/>
          <dgm:resizeHandles val="exact"/>
        </dgm:presLayoutVars>
      </dgm:prSet>
      <dgm:spPr/>
    </dgm:pt>
    <dgm:pt modelId="{426E2630-F5CB-4BF1-B05B-3CF36A78D4E7}" type="pres">
      <dgm:prSet presAssocID="{9EFFB5D5-54DF-4BA0-B3FF-852921D4EDA7}" presName="compNode" presStyleCnt="0"/>
      <dgm:spPr/>
    </dgm:pt>
    <dgm:pt modelId="{5FFD5E38-11E3-45FC-897C-08C9BF56193B}" type="pres">
      <dgm:prSet presAssocID="{9EFFB5D5-54DF-4BA0-B3FF-852921D4EDA7}" presName="bgRect" presStyleLbl="bgShp" presStyleIdx="0" presStyleCnt="3"/>
      <dgm:spPr/>
    </dgm:pt>
    <dgm:pt modelId="{2496A4FB-DFFB-4CB3-8591-50EB62C9689C}" type="pres">
      <dgm:prSet presAssocID="{9EFFB5D5-54DF-4BA0-B3FF-852921D4EDA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vil Face with Solid Fill"/>
        </a:ext>
      </dgm:extLst>
    </dgm:pt>
    <dgm:pt modelId="{8FE7B3D7-625B-49BE-A869-1B7BC3FC41D4}" type="pres">
      <dgm:prSet presAssocID="{9EFFB5D5-54DF-4BA0-B3FF-852921D4EDA7}" presName="spaceRect" presStyleCnt="0"/>
      <dgm:spPr/>
    </dgm:pt>
    <dgm:pt modelId="{AA11B657-8E34-4D6F-B8E7-7336C96AFB84}" type="pres">
      <dgm:prSet presAssocID="{9EFFB5D5-54DF-4BA0-B3FF-852921D4EDA7}" presName="parTx" presStyleLbl="revTx" presStyleIdx="0" presStyleCnt="3">
        <dgm:presLayoutVars>
          <dgm:chMax val="0"/>
          <dgm:chPref val="0"/>
        </dgm:presLayoutVars>
      </dgm:prSet>
      <dgm:spPr/>
    </dgm:pt>
    <dgm:pt modelId="{70CA2D2B-6A63-4DF1-97E8-99525F5A3E51}" type="pres">
      <dgm:prSet presAssocID="{36DEA597-8D19-48F7-9D3C-0D1BB5BAC09B}" presName="sibTrans" presStyleCnt="0"/>
      <dgm:spPr/>
    </dgm:pt>
    <dgm:pt modelId="{6BC36A34-A1D8-421F-B5E8-C4628AC69C51}" type="pres">
      <dgm:prSet presAssocID="{A8C26B81-88EE-4C47-AE09-1D0652C7F277}" presName="compNode" presStyleCnt="0"/>
      <dgm:spPr/>
    </dgm:pt>
    <dgm:pt modelId="{54B03FF1-81F6-4646-8989-E28CE76B1AC5}" type="pres">
      <dgm:prSet presAssocID="{A8C26B81-88EE-4C47-AE09-1D0652C7F277}" presName="bgRect" presStyleLbl="bgShp" presStyleIdx="1" presStyleCnt="3"/>
      <dgm:spPr/>
    </dgm:pt>
    <dgm:pt modelId="{975A9C6F-7958-40F9-AC4A-2ECC758600F6}" type="pres">
      <dgm:prSet presAssocID="{A8C26B81-88EE-4C47-AE09-1D0652C7F27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r"/>
        </a:ext>
      </dgm:extLst>
    </dgm:pt>
    <dgm:pt modelId="{14CA5791-2976-40A6-A150-45E5C5873A68}" type="pres">
      <dgm:prSet presAssocID="{A8C26B81-88EE-4C47-AE09-1D0652C7F277}" presName="spaceRect" presStyleCnt="0"/>
      <dgm:spPr/>
    </dgm:pt>
    <dgm:pt modelId="{830B54D1-6B48-4D33-A909-FD0F7E4BFF71}" type="pres">
      <dgm:prSet presAssocID="{A8C26B81-88EE-4C47-AE09-1D0652C7F277}" presName="parTx" presStyleLbl="revTx" presStyleIdx="1" presStyleCnt="3">
        <dgm:presLayoutVars>
          <dgm:chMax val="0"/>
          <dgm:chPref val="0"/>
        </dgm:presLayoutVars>
      </dgm:prSet>
      <dgm:spPr/>
    </dgm:pt>
    <dgm:pt modelId="{89FE71C0-855A-4439-8C6B-F5BA1ADCDF8C}" type="pres">
      <dgm:prSet presAssocID="{3F20B79F-2288-4BB6-A046-A28F71632CC4}" presName="sibTrans" presStyleCnt="0"/>
      <dgm:spPr/>
    </dgm:pt>
    <dgm:pt modelId="{41CFC211-8E9E-47AE-AC23-7C0C5061BC88}" type="pres">
      <dgm:prSet presAssocID="{EA365E78-44A1-49E7-AA72-D4211E07331E}" presName="compNode" presStyleCnt="0"/>
      <dgm:spPr/>
    </dgm:pt>
    <dgm:pt modelId="{A192F42A-8403-4374-B3A3-BF73DBF2BDE0}" type="pres">
      <dgm:prSet presAssocID="{EA365E78-44A1-49E7-AA72-D4211E07331E}" presName="bgRect" presStyleLbl="bgShp" presStyleIdx="2" presStyleCnt="3"/>
      <dgm:spPr/>
    </dgm:pt>
    <dgm:pt modelId="{83DD8F27-1CD7-4813-9751-18CF25446BEC}" type="pres">
      <dgm:prSet presAssocID="{EA365E78-44A1-49E7-AA72-D4211E07331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Key"/>
        </a:ext>
      </dgm:extLst>
    </dgm:pt>
    <dgm:pt modelId="{C388088D-7AF9-4461-9230-3366F2D2C68D}" type="pres">
      <dgm:prSet presAssocID="{EA365E78-44A1-49E7-AA72-D4211E07331E}" presName="spaceRect" presStyleCnt="0"/>
      <dgm:spPr/>
    </dgm:pt>
    <dgm:pt modelId="{2B033376-7BB4-4B02-9A51-077499E49B3B}" type="pres">
      <dgm:prSet presAssocID="{EA365E78-44A1-49E7-AA72-D4211E07331E}" presName="parTx" presStyleLbl="revTx" presStyleIdx="2" presStyleCnt="3">
        <dgm:presLayoutVars>
          <dgm:chMax val="0"/>
          <dgm:chPref val="0"/>
        </dgm:presLayoutVars>
      </dgm:prSet>
      <dgm:spPr/>
    </dgm:pt>
  </dgm:ptLst>
  <dgm:cxnLst>
    <dgm:cxn modelId="{2B64F815-86EE-45BB-9EE4-BBDA5A364243}" type="presOf" srcId="{C356EF46-79BE-485D-BE8C-FCBBF43FB9A5}" destId="{E626633B-DCE5-48AC-9167-90F95D9F7885}" srcOrd="0" destOrd="0" presId="urn:microsoft.com/office/officeart/2018/2/layout/IconVerticalSolidList"/>
    <dgm:cxn modelId="{E9464916-9B61-4CE2-BA67-EBB4C5DC7A92}" type="presOf" srcId="{EA365E78-44A1-49E7-AA72-D4211E07331E}" destId="{2B033376-7BB4-4B02-9A51-077499E49B3B}" srcOrd="0" destOrd="0" presId="urn:microsoft.com/office/officeart/2018/2/layout/IconVerticalSolidList"/>
    <dgm:cxn modelId="{8CA07B3D-E89F-47FD-8F89-6EE86C82BA11}" srcId="{C356EF46-79BE-485D-BE8C-FCBBF43FB9A5}" destId="{A8C26B81-88EE-4C47-AE09-1D0652C7F277}" srcOrd="1" destOrd="0" parTransId="{408A6DEE-EEB9-4482-82A1-FA9DF2C71158}" sibTransId="{3F20B79F-2288-4BB6-A046-A28F71632CC4}"/>
    <dgm:cxn modelId="{A4233A67-F557-410D-932C-A7EAB9F00954}" srcId="{C356EF46-79BE-485D-BE8C-FCBBF43FB9A5}" destId="{9EFFB5D5-54DF-4BA0-B3FF-852921D4EDA7}" srcOrd="0" destOrd="0" parTransId="{BC33E68C-8842-4522-993A-83198E82821E}" sibTransId="{36DEA597-8D19-48F7-9D3C-0D1BB5BAC09B}"/>
    <dgm:cxn modelId="{3467D46D-791A-4758-ABC1-5B2EDA3BAB64}" type="presOf" srcId="{9EFFB5D5-54DF-4BA0-B3FF-852921D4EDA7}" destId="{AA11B657-8E34-4D6F-B8E7-7336C96AFB84}" srcOrd="0" destOrd="0" presId="urn:microsoft.com/office/officeart/2018/2/layout/IconVerticalSolidList"/>
    <dgm:cxn modelId="{D52AD0A1-C04D-408C-9AC9-4132CAF057F0}" srcId="{C356EF46-79BE-485D-BE8C-FCBBF43FB9A5}" destId="{EA365E78-44A1-49E7-AA72-D4211E07331E}" srcOrd="2" destOrd="0" parTransId="{7C86D21C-07CD-4CC0-9EB3-22ADF37A3C4D}" sibTransId="{FB3042E9-E79F-4DBB-B841-F1BD7FE02895}"/>
    <dgm:cxn modelId="{BC477DE7-D19F-411A-ADC2-9810FCE2CE3E}" type="presOf" srcId="{A8C26B81-88EE-4C47-AE09-1D0652C7F277}" destId="{830B54D1-6B48-4D33-A909-FD0F7E4BFF71}" srcOrd="0" destOrd="0" presId="urn:microsoft.com/office/officeart/2018/2/layout/IconVerticalSolidList"/>
    <dgm:cxn modelId="{DAF6E4AA-8745-46EF-99ED-58A4AA66D12B}" type="presParOf" srcId="{E626633B-DCE5-48AC-9167-90F95D9F7885}" destId="{426E2630-F5CB-4BF1-B05B-3CF36A78D4E7}" srcOrd="0" destOrd="0" presId="urn:microsoft.com/office/officeart/2018/2/layout/IconVerticalSolidList"/>
    <dgm:cxn modelId="{79192207-45B8-4BE5-893B-FF4EF8E6E7ED}" type="presParOf" srcId="{426E2630-F5CB-4BF1-B05B-3CF36A78D4E7}" destId="{5FFD5E38-11E3-45FC-897C-08C9BF56193B}" srcOrd="0" destOrd="0" presId="urn:microsoft.com/office/officeart/2018/2/layout/IconVerticalSolidList"/>
    <dgm:cxn modelId="{204B6110-CC8B-486C-A8F9-CDB3AC02374F}" type="presParOf" srcId="{426E2630-F5CB-4BF1-B05B-3CF36A78D4E7}" destId="{2496A4FB-DFFB-4CB3-8591-50EB62C9689C}" srcOrd="1" destOrd="0" presId="urn:microsoft.com/office/officeart/2018/2/layout/IconVerticalSolidList"/>
    <dgm:cxn modelId="{7E4F5027-5B3D-4359-BB0B-3A0AF55E6008}" type="presParOf" srcId="{426E2630-F5CB-4BF1-B05B-3CF36A78D4E7}" destId="{8FE7B3D7-625B-49BE-A869-1B7BC3FC41D4}" srcOrd="2" destOrd="0" presId="urn:microsoft.com/office/officeart/2018/2/layout/IconVerticalSolidList"/>
    <dgm:cxn modelId="{A51B60D9-C4AC-4910-BD75-67D34FC86058}" type="presParOf" srcId="{426E2630-F5CB-4BF1-B05B-3CF36A78D4E7}" destId="{AA11B657-8E34-4D6F-B8E7-7336C96AFB84}" srcOrd="3" destOrd="0" presId="urn:microsoft.com/office/officeart/2018/2/layout/IconVerticalSolidList"/>
    <dgm:cxn modelId="{571868B4-CCDD-4CEB-805F-08478AF2F744}" type="presParOf" srcId="{E626633B-DCE5-48AC-9167-90F95D9F7885}" destId="{70CA2D2B-6A63-4DF1-97E8-99525F5A3E51}" srcOrd="1" destOrd="0" presId="urn:microsoft.com/office/officeart/2018/2/layout/IconVerticalSolidList"/>
    <dgm:cxn modelId="{E8F641BC-26C5-42BB-B103-E513E869C251}" type="presParOf" srcId="{E626633B-DCE5-48AC-9167-90F95D9F7885}" destId="{6BC36A34-A1D8-421F-B5E8-C4628AC69C51}" srcOrd="2" destOrd="0" presId="urn:microsoft.com/office/officeart/2018/2/layout/IconVerticalSolidList"/>
    <dgm:cxn modelId="{E79AC241-B3CA-455D-8F5B-C319B3654AED}" type="presParOf" srcId="{6BC36A34-A1D8-421F-B5E8-C4628AC69C51}" destId="{54B03FF1-81F6-4646-8989-E28CE76B1AC5}" srcOrd="0" destOrd="0" presId="urn:microsoft.com/office/officeart/2018/2/layout/IconVerticalSolidList"/>
    <dgm:cxn modelId="{9B86590B-29B8-42BC-9DA8-8D05B514DDE3}" type="presParOf" srcId="{6BC36A34-A1D8-421F-B5E8-C4628AC69C51}" destId="{975A9C6F-7958-40F9-AC4A-2ECC758600F6}" srcOrd="1" destOrd="0" presId="urn:microsoft.com/office/officeart/2018/2/layout/IconVerticalSolidList"/>
    <dgm:cxn modelId="{F1FDB27A-ABD0-4292-87DA-3982B157EDAB}" type="presParOf" srcId="{6BC36A34-A1D8-421F-B5E8-C4628AC69C51}" destId="{14CA5791-2976-40A6-A150-45E5C5873A68}" srcOrd="2" destOrd="0" presId="urn:microsoft.com/office/officeart/2018/2/layout/IconVerticalSolidList"/>
    <dgm:cxn modelId="{5EE5741C-F24A-48BD-9D17-84E18E27AE29}" type="presParOf" srcId="{6BC36A34-A1D8-421F-B5E8-C4628AC69C51}" destId="{830B54D1-6B48-4D33-A909-FD0F7E4BFF71}" srcOrd="3" destOrd="0" presId="urn:microsoft.com/office/officeart/2018/2/layout/IconVerticalSolidList"/>
    <dgm:cxn modelId="{DBD4ADA8-31CF-4224-A2A0-1DE85409006F}" type="presParOf" srcId="{E626633B-DCE5-48AC-9167-90F95D9F7885}" destId="{89FE71C0-855A-4439-8C6B-F5BA1ADCDF8C}" srcOrd="3" destOrd="0" presId="urn:microsoft.com/office/officeart/2018/2/layout/IconVerticalSolidList"/>
    <dgm:cxn modelId="{4BD456E5-1870-4DF3-B4D6-8E373877099C}" type="presParOf" srcId="{E626633B-DCE5-48AC-9167-90F95D9F7885}" destId="{41CFC211-8E9E-47AE-AC23-7C0C5061BC88}" srcOrd="4" destOrd="0" presId="urn:microsoft.com/office/officeart/2018/2/layout/IconVerticalSolidList"/>
    <dgm:cxn modelId="{97ADD1F0-BF9F-46F5-8840-D5D7255E41D5}" type="presParOf" srcId="{41CFC211-8E9E-47AE-AC23-7C0C5061BC88}" destId="{A192F42A-8403-4374-B3A3-BF73DBF2BDE0}" srcOrd="0" destOrd="0" presId="urn:microsoft.com/office/officeart/2018/2/layout/IconVerticalSolidList"/>
    <dgm:cxn modelId="{0186D4F9-0ECA-4716-85EA-4DFC029F77F7}" type="presParOf" srcId="{41CFC211-8E9E-47AE-AC23-7C0C5061BC88}" destId="{83DD8F27-1CD7-4813-9751-18CF25446BEC}" srcOrd="1" destOrd="0" presId="urn:microsoft.com/office/officeart/2018/2/layout/IconVerticalSolidList"/>
    <dgm:cxn modelId="{751CDC9E-9F81-4C9D-8310-01C1EE77604B}" type="presParOf" srcId="{41CFC211-8E9E-47AE-AC23-7C0C5061BC88}" destId="{C388088D-7AF9-4461-9230-3366F2D2C68D}" srcOrd="2" destOrd="0" presId="urn:microsoft.com/office/officeart/2018/2/layout/IconVerticalSolidList"/>
    <dgm:cxn modelId="{5F7D5F96-7BDB-40FD-9E4B-8C0437CDA53B}" type="presParOf" srcId="{41CFC211-8E9E-47AE-AC23-7C0C5061BC88}" destId="{2B033376-7BB4-4B02-9A51-077499E49B3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2F82E66-AA78-4913-9146-F62B9CBE7C09}" type="doc">
      <dgm:prSet loTypeId="urn:microsoft.com/office/officeart/2009/3/layout/HorizontalOrganizationChart" loCatId="hierarchy" qsTypeId="urn:microsoft.com/office/officeart/2005/8/quickstyle/simple1" qsCatId="simple" csTypeId="urn:microsoft.com/office/officeart/2005/8/colors/accent1_2" csCatId="accent1"/>
      <dgm:spPr/>
      <dgm:t>
        <a:bodyPr/>
        <a:lstStyle/>
        <a:p>
          <a:endParaRPr lang="en-US"/>
        </a:p>
      </dgm:t>
    </dgm:pt>
    <dgm:pt modelId="{56C294DD-FFED-48EF-BD2F-04C6931D7A0E}">
      <dgm:prSet/>
      <dgm:spPr/>
      <dgm:t>
        <a:bodyPr/>
        <a:lstStyle/>
        <a:p>
          <a:r>
            <a:rPr lang="en-US"/>
            <a:t>Story: “As a member, I want to reset my password…”</a:t>
          </a:r>
        </a:p>
      </dgm:t>
    </dgm:pt>
    <dgm:pt modelId="{C15AAE5B-D183-4332-A682-595BC8E92482}" type="parTrans" cxnId="{1EBA224F-8FD2-44F3-8367-BAD24B605B1D}">
      <dgm:prSet/>
      <dgm:spPr/>
      <dgm:t>
        <a:bodyPr/>
        <a:lstStyle/>
        <a:p>
          <a:endParaRPr lang="en-US"/>
        </a:p>
      </dgm:t>
    </dgm:pt>
    <dgm:pt modelId="{3BA0BB9B-FC9F-4483-9737-6E495A8441BB}" type="sibTrans" cxnId="{1EBA224F-8FD2-44F3-8367-BAD24B605B1D}">
      <dgm:prSet/>
      <dgm:spPr/>
      <dgm:t>
        <a:bodyPr/>
        <a:lstStyle/>
        <a:p>
          <a:endParaRPr lang="en-US"/>
        </a:p>
      </dgm:t>
    </dgm:pt>
    <dgm:pt modelId="{C07C1B27-B030-474F-B716-0FC22E71714D}">
      <dgm:prSet/>
      <dgm:spPr/>
      <dgm:t>
        <a:bodyPr/>
        <a:lstStyle/>
        <a:p>
          <a:r>
            <a:rPr lang="en-US"/>
            <a:t>We need examples: valid link, unknown email, expiration, success flow</a:t>
          </a:r>
        </a:p>
      </dgm:t>
    </dgm:pt>
    <dgm:pt modelId="{56026FCD-A9F7-485A-9D65-E4107329CB57}" type="parTrans" cxnId="{2F98F09B-4F8A-45F7-ABDF-CBE1F297D680}">
      <dgm:prSet/>
      <dgm:spPr/>
      <dgm:t>
        <a:bodyPr/>
        <a:lstStyle/>
        <a:p>
          <a:endParaRPr lang="en-US"/>
        </a:p>
      </dgm:t>
    </dgm:pt>
    <dgm:pt modelId="{5119A91D-241A-4C6A-AC50-23851D5F2515}" type="sibTrans" cxnId="{2F98F09B-4F8A-45F7-ABDF-CBE1F297D680}">
      <dgm:prSet/>
      <dgm:spPr/>
      <dgm:t>
        <a:bodyPr/>
        <a:lstStyle/>
        <a:p>
          <a:endParaRPr lang="en-US"/>
        </a:p>
      </dgm:t>
    </dgm:pt>
    <dgm:pt modelId="{853F9B9F-31A6-9F4C-A8A5-878BFCF59EF4}" type="pres">
      <dgm:prSet presAssocID="{32F82E66-AA78-4913-9146-F62B9CBE7C09}" presName="hierChild1" presStyleCnt="0">
        <dgm:presLayoutVars>
          <dgm:orgChart val="1"/>
          <dgm:chPref val="1"/>
          <dgm:dir/>
          <dgm:animOne val="branch"/>
          <dgm:animLvl val="lvl"/>
          <dgm:resizeHandles/>
        </dgm:presLayoutVars>
      </dgm:prSet>
      <dgm:spPr/>
    </dgm:pt>
    <dgm:pt modelId="{E064899B-8066-BD46-86D1-3E93A357F97A}" type="pres">
      <dgm:prSet presAssocID="{56C294DD-FFED-48EF-BD2F-04C6931D7A0E}" presName="hierRoot1" presStyleCnt="0">
        <dgm:presLayoutVars>
          <dgm:hierBranch val="init"/>
        </dgm:presLayoutVars>
      </dgm:prSet>
      <dgm:spPr/>
    </dgm:pt>
    <dgm:pt modelId="{B1E21975-90A2-C949-84C1-63CC5823A93E}" type="pres">
      <dgm:prSet presAssocID="{56C294DD-FFED-48EF-BD2F-04C6931D7A0E}" presName="rootComposite1" presStyleCnt="0"/>
      <dgm:spPr/>
    </dgm:pt>
    <dgm:pt modelId="{EE17D1C0-D9DD-824A-B35D-0B89C29F9274}" type="pres">
      <dgm:prSet presAssocID="{56C294DD-FFED-48EF-BD2F-04C6931D7A0E}" presName="rootText1" presStyleLbl="node0" presStyleIdx="0" presStyleCnt="2">
        <dgm:presLayoutVars>
          <dgm:chPref val="3"/>
        </dgm:presLayoutVars>
      </dgm:prSet>
      <dgm:spPr/>
    </dgm:pt>
    <dgm:pt modelId="{E95E2F3F-1CA8-574F-9259-82F246B632CA}" type="pres">
      <dgm:prSet presAssocID="{56C294DD-FFED-48EF-BD2F-04C6931D7A0E}" presName="rootConnector1" presStyleLbl="node1" presStyleIdx="0" presStyleCnt="0"/>
      <dgm:spPr/>
    </dgm:pt>
    <dgm:pt modelId="{FC53A129-1CE5-814A-821D-439BDE6924CF}" type="pres">
      <dgm:prSet presAssocID="{56C294DD-FFED-48EF-BD2F-04C6931D7A0E}" presName="hierChild2" presStyleCnt="0"/>
      <dgm:spPr/>
    </dgm:pt>
    <dgm:pt modelId="{C25BE16E-FA14-044C-BCC2-1F7A459B3175}" type="pres">
      <dgm:prSet presAssocID="{56C294DD-FFED-48EF-BD2F-04C6931D7A0E}" presName="hierChild3" presStyleCnt="0"/>
      <dgm:spPr/>
    </dgm:pt>
    <dgm:pt modelId="{8CEBE0DA-44DB-3B40-83D3-6AB4984590EE}" type="pres">
      <dgm:prSet presAssocID="{C07C1B27-B030-474F-B716-0FC22E71714D}" presName="hierRoot1" presStyleCnt="0">
        <dgm:presLayoutVars>
          <dgm:hierBranch val="init"/>
        </dgm:presLayoutVars>
      </dgm:prSet>
      <dgm:spPr/>
    </dgm:pt>
    <dgm:pt modelId="{C68DB01E-DC91-D84C-BEFA-3A4BBCBB3570}" type="pres">
      <dgm:prSet presAssocID="{C07C1B27-B030-474F-B716-0FC22E71714D}" presName="rootComposite1" presStyleCnt="0"/>
      <dgm:spPr/>
    </dgm:pt>
    <dgm:pt modelId="{B92B3E4D-78E4-8541-B5FB-06F79CA5D97A}" type="pres">
      <dgm:prSet presAssocID="{C07C1B27-B030-474F-B716-0FC22E71714D}" presName="rootText1" presStyleLbl="node0" presStyleIdx="1" presStyleCnt="2">
        <dgm:presLayoutVars>
          <dgm:chPref val="3"/>
        </dgm:presLayoutVars>
      </dgm:prSet>
      <dgm:spPr/>
    </dgm:pt>
    <dgm:pt modelId="{432373F1-3FEE-2749-A0DC-AF2FCD1B0960}" type="pres">
      <dgm:prSet presAssocID="{C07C1B27-B030-474F-B716-0FC22E71714D}" presName="rootConnector1" presStyleLbl="node1" presStyleIdx="0" presStyleCnt="0"/>
      <dgm:spPr/>
    </dgm:pt>
    <dgm:pt modelId="{CCED7ABC-1171-3146-8EA7-9579D0E6F4C0}" type="pres">
      <dgm:prSet presAssocID="{C07C1B27-B030-474F-B716-0FC22E71714D}" presName="hierChild2" presStyleCnt="0"/>
      <dgm:spPr/>
    </dgm:pt>
    <dgm:pt modelId="{7AAF94B7-20FE-CE4C-8C2D-61B5BA1029B6}" type="pres">
      <dgm:prSet presAssocID="{C07C1B27-B030-474F-B716-0FC22E71714D}" presName="hierChild3" presStyleCnt="0"/>
      <dgm:spPr/>
    </dgm:pt>
  </dgm:ptLst>
  <dgm:cxnLst>
    <dgm:cxn modelId="{1EBA224F-8FD2-44F3-8367-BAD24B605B1D}" srcId="{32F82E66-AA78-4913-9146-F62B9CBE7C09}" destId="{56C294DD-FFED-48EF-BD2F-04C6931D7A0E}" srcOrd="0" destOrd="0" parTransId="{C15AAE5B-D183-4332-A682-595BC8E92482}" sibTransId="{3BA0BB9B-FC9F-4483-9737-6E495A8441BB}"/>
    <dgm:cxn modelId="{693EEC65-2505-D041-B7E1-E6098E2BB913}" type="presOf" srcId="{56C294DD-FFED-48EF-BD2F-04C6931D7A0E}" destId="{EE17D1C0-D9DD-824A-B35D-0B89C29F9274}" srcOrd="0" destOrd="0" presId="urn:microsoft.com/office/officeart/2009/3/layout/HorizontalOrganizationChart"/>
    <dgm:cxn modelId="{6FCE7474-AF25-3A47-B88F-C1B75AE935E9}" type="presOf" srcId="{C07C1B27-B030-474F-B716-0FC22E71714D}" destId="{B92B3E4D-78E4-8541-B5FB-06F79CA5D97A}" srcOrd="0" destOrd="0" presId="urn:microsoft.com/office/officeart/2009/3/layout/HorizontalOrganizationChart"/>
    <dgm:cxn modelId="{E7FD0C7C-9A55-464A-B945-5B0DAB32E1BB}" type="presOf" srcId="{32F82E66-AA78-4913-9146-F62B9CBE7C09}" destId="{853F9B9F-31A6-9F4C-A8A5-878BFCF59EF4}" srcOrd="0" destOrd="0" presId="urn:microsoft.com/office/officeart/2009/3/layout/HorizontalOrganizationChart"/>
    <dgm:cxn modelId="{2F98F09B-4F8A-45F7-ABDF-CBE1F297D680}" srcId="{32F82E66-AA78-4913-9146-F62B9CBE7C09}" destId="{C07C1B27-B030-474F-B716-0FC22E71714D}" srcOrd="1" destOrd="0" parTransId="{56026FCD-A9F7-485A-9D65-E4107329CB57}" sibTransId="{5119A91D-241A-4C6A-AC50-23851D5F2515}"/>
    <dgm:cxn modelId="{87F7DAAD-ADF8-9B45-A227-019DE0C3CA56}" type="presOf" srcId="{56C294DD-FFED-48EF-BD2F-04C6931D7A0E}" destId="{E95E2F3F-1CA8-574F-9259-82F246B632CA}" srcOrd="1" destOrd="0" presId="urn:microsoft.com/office/officeart/2009/3/layout/HorizontalOrganizationChart"/>
    <dgm:cxn modelId="{CEAC05C8-07CE-2E4B-BC48-CC7B0EDC599F}" type="presOf" srcId="{C07C1B27-B030-474F-B716-0FC22E71714D}" destId="{432373F1-3FEE-2749-A0DC-AF2FCD1B0960}" srcOrd="1" destOrd="0" presId="urn:microsoft.com/office/officeart/2009/3/layout/HorizontalOrganizationChart"/>
    <dgm:cxn modelId="{79C2EC63-BF5E-8F40-BF22-18E6C9D88EBD}" type="presParOf" srcId="{853F9B9F-31A6-9F4C-A8A5-878BFCF59EF4}" destId="{E064899B-8066-BD46-86D1-3E93A357F97A}" srcOrd="0" destOrd="0" presId="urn:microsoft.com/office/officeart/2009/3/layout/HorizontalOrganizationChart"/>
    <dgm:cxn modelId="{3515BEB4-9943-DC46-ABCC-5E279A2E82EB}" type="presParOf" srcId="{E064899B-8066-BD46-86D1-3E93A357F97A}" destId="{B1E21975-90A2-C949-84C1-63CC5823A93E}" srcOrd="0" destOrd="0" presId="urn:microsoft.com/office/officeart/2009/3/layout/HorizontalOrganizationChart"/>
    <dgm:cxn modelId="{EEBD40DA-F428-FF48-90A0-502C80527ED3}" type="presParOf" srcId="{B1E21975-90A2-C949-84C1-63CC5823A93E}" destId="{EE17D1C0-D9DD-824A-B35D-0B89C29F9274}" srcOrd="0" destOrd="0" presId="urn:microsoft.com/office/officeart/2009/3/layout/HorizontalOrganizationChart"/>
    <dgm:cxn modelId="{636434F6-2826-6D40-B60D-BDBD85B83EA0}" type="presParOf" srcId="{B1E21975-90A2-C949-84C1-63CC5823A93E}" destId="{E95E2F3F-1CA8-574F-9259-82F246B632CA}" srcOrd="1" destOrd="0" presId="urn:microsoft.com/office/officeart/2009/3/layout/HorizontalOrganizationChart"/>
    <dgm:cxn modelId="{BDFDC754-ABB9-C84E-A6C9-18B12B357AB8}" type="presParOf" srcId="{E064899B-8066-BD46-86D1-3E93A357F97A}" destId="{FC53A129-1CE5-814A-821D-439BDE6924CF}" srcOrd="1" destOrd="0" presId="urn:microsoft.com/office/officeart/2009/3/layout/HorizontalOrganizationChart"/>
    <dgm:cxn modelId="{E058F0F1-1A44-0D44-9B2E-846E2A0C6A64}" type="presParOf" srcId="{E064899B-8066-BD46-86D1-3E93A357F97A}" destId="{C25BE16E-FA14-044C-BCC2-1F7A459B3175}" srcOrd="2" destOrd="0" presId="urn:microsoft.com/office/officeart/2009/3/layout/HorizontalOrganizationChart"/>
    <dgm:cxn modelId="{83E36EE9-45C0-3848-BC85-16009A9DA8D2}" type="presParOf" srcId="{853F9B9F-31A6-9F4C-A8A5-878BFCF59EF4}" destId="{8CEBE0DA-44DB-3B40-83D3-6AB4984590EE}" srcOrd="1" destOrd="0" presId="urn:microsoft.com/office/officeart/2009/3/layout/HorizontalOrganizationChart"/>
    <dgm:cxn modelId="{0943454C-5D13-AF4A-936C-DA7B419ED17F}" type="presParOf" srcId="{8CEBE0DA-44DB-3B40-83D3-6AB4984590EE}" destId="{C68DB01E-DC91-D84C-BEFA-3A4BBCBB3570}" srcOrd="0" destOrd="0" presId="urn:microsoft.com/office/officeart/2009/3/layout/HorizontalOrganizationChart"/>
    <dgm:cxn modelId="{41E886CF-4F93-FE42-B5C0-9DEF07BAB0A2}" type="presParOf" srcId="{C68DB01E-DC91-D84C-BEFA-3A4BBCBB3570}" destId="{B92B3E4D-78E4-8541-B5FB-06F79CA5D97A}" srcOrd="0" destOrd="0" presId="urn:microsoft.com/office/officeart/2009/3/layout/HorizontalOrganizationChart"/>
    <dgm:cxn modelId="{8E40A557-858B-9046-A6F8-5C478D3892EC}" type="presParOf" srcId="{C68DB01E-DC91-D84C-BEFA-3A4BBCBB3570}" destId="{432373F1-3FEE-2749-A0DC-AF2FCD1B0960}" srcOrd="1" destOrd="0" presId="urn:microsoft.com/office/officeart/2009/3/layout/HorizontalOrganizationChart"/>
    <dgm:cxn modelId="{87C3EE30-0810-414B-9FDC-811F17357F73}" type="presParOf" srcId="{8CEBE0DA-44DB-3B40-83D3-6AB4984590EE}" destId="{CCED7ABC-1171-3146-8EA7-9579D0E6F4C0}" srcOrd="1" destOrd="0" presId="urn:microsoft.com/office/officeart/2009/3/layout/HorizontalOrganizationChart"/>
    <dgm:cxn modelId="{2B6771EF-4F12-5D43-8E37-817727B612C3}" type="presParOf" srcId="{8CEBE0DA-44DB-3B40-83D3-6AB4984590EE}" destId="{7AAF94B7-20FE-CE4C-8C2D-61B5BA1029B6}"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BB58340-38AF-48DA-9467-7337CF9BF57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D96FAA8-D470-429A-9DBE-E08C54293D0A}">
      <dgm:prSet/>
      <dgm:spPr/>
      <dgm:t>
        <a:bodyPr/>
        <a:lstStyle/>
        <a:p>
          <a:r>
            <a:rPr lang="en-US"/>
            <a:t>BDD ≠ automation</a:t>
          </a:r>
        </a:p>
      </dgm:t>
    </dgm:pt>
    <dgm:pt modelId="{B26422BD-9D60-4D3C-AB74-E45EDCA2FE16}" type="parTrans" cxnId="{0A47D8CC-CA2C-4AEC-8536-BC03A0E16B90}">
      <dgm:prSet/>
      <dgm:spPr/>
      <dgm:t>
        <a:bodyPr/>
        <a:lstStyle/>
        <a:p>
          <a:endParaRPr lang="en-US"/>
        </a:p>
      </dgm:t>
    </dgm:pt>
    <dgm:pt modelId="{5F33D296-C474-4F0C-AE0F-99DAE5A4AC88}" type="sibTrans" cxnId="{0A47D8CC-CA2C-4AEC-8536-BC03A0E16B90}">
      <dgm:prSet/>
      <dgm:spPr/>
      <dgm:t>
        <a:bodyPr/>
        <a:lstStyle/>
        <a:p>
          <a:endParaRPr lang="en-US"/>
        </a:p>
      </dgm:t>
    </dgm:pt>
    <dgm:pt modelId="{83B3F415-B9A8-402C-8D25-D16CA58BC35E}">
      <dgm:prSet/>
      <dgm:spPr/>
      <dgm:t>
        <a:bodyPr/>
        <a:lstStyle/>
        <a:p>
          <a:r>
            <a:rPr lang="en-US"/>
            <a:t>Automate when checks stay fast, stable, and trusted</a:t>
          </a:r>
        </a:p>
      </dgm:t>
    </dgm:pt>
    <dgm:pt modelId="{D8F2C2BC-06FF-4D6A-A195-7F05F19758D2}" type="parTrans" cxnId="{29CAF46F-D44A-4F79-AECD-DC53A075C573}">
      <dgm:prSet/>
      <dgm:spPr/>
      <dgm:t>
        <a:bodyPr/>
        <a:lstStyle/>
        <a:p>
          <a:endParaRPr lang="en-US"/>
        </a:p>
      </dgm:t>
    </dgm:pt>
    <dgm:pt modelId="{2AFB5ACB-2174-4E43-B3E9-68821486F648}" type="sibTrans" cxnId="{29CAF46F-D44A-4F79-AECD-DC53A075C573}">
      <dgm:prSet/>
      <dgm:spPr/>
      <dgm:t>
        <a:bodyPr/>
        <a:lstStyle/>
        <a:p>
          <a:endParaRPr lang="en-US"/>
        </a:p>
      </dgm:t>
    </dgm:pt>
    <dgm:pt modelId="{9DE2C5B4-F327-4188-9645-5E818192FA10}">
      <dgm:prSet/>
      <dgm:spPr/>
      <dgm:t>
        <a:bodyPr/>
        <a:lstStyle/>
        <a:p>
          <a:r>
            <a:rPr lang="en-US"/>
            <a:t>Automate what you want to rely on every day</a:t>
          </a:r>
        </a:p>
      </dgm:t>
    </dgm:pt>
    <dgm:pt modelId="{D9BB34CF-2DC7-4EE7-889B-6987DCF49CD8}" type="parTrans" cxnId="{EF3416ED-3C7A-4280-A978-A6A535B5CEF1}">
      <dgm:prSet/>
      <dgm:spPr/>
      <dgm:t>
        <a:bodyPr/>
        <a:lstStyle/>
        <a:p>
          <a:endParaRPr lang="en-US"/>
        </a:p>
      </dgm:t>
    </dgm:pt>
    <dgm:pt modelId="{897281E4-EE34-46A5-B2D3-D1F2C9E0958A}" type="sibTrans" cxnId="{EF3416ED-3C7A-4280-A978-A6A535B5CEF1}">
      <dgm:prSet/>
      <dgm:spPr/>
      <dgm:t>
        <a:bodyPr/>
        <a:lstStyle/>
        <a:p>
          <a:endParaRPr lang="en-US"/>
        </a:p>
      </dgm:t>
    </dgm:pt>
    <dgm:pt modelId="{DC4EF5B7-CE12-4E75-AB4A-EA0E7BA045DF}" type="pres">
      <dgm:prSet presAssocID="{3BB58340-38AF-48DA-9467-7337CF9BF573}" presName="root" presStyleCnt="0">
        <dgm:presLayoutVars>
          <dgm:dir/>
          <dgm:resizeHandles val="exact"/>
        </dgm:presLayoutVars>
      </dgm:prSet>
      <dgm:spPr/>
    </dgm:pt>
    <dgm:pt modelId="{650CEFE4-D6A0-4FFE-BDC3-DCB3E936A0C0}" type="pres">
      <dgm:prSet presAssocID="{5D96FAA8-D470-429A-9DBE-E08C54293D0A}" presName="compNode" presStyleCnt="0"/>
      <dgm:spPr/>
    </dgm:pt>
    <dgm:pt modelId="{7B51EC8B-95FB-427B-B515-0449087DC2CD}" type="pres">
      <dgm:prSet presAssocID="{5D96FAA8-D470-429A-9DBE-E08C54293D0A}" presName="bgRect" presStyleLbl="bgShp" presStyleIdx="0" presStyleCnt="3"/>
      <dgm:spPr/>
    </dgm:pt>
    <dgm:pt modelId="{24793E37-BFE8-4625-A8BC-1BEA9D439D98}" type="pres">
      <dgm:prSet presAssocID="{5D96FAA8-D470-429A-9DBE-E08C54293D0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6025A5DF-8CB6-46CF-9F74-8D02B3586D12}" type="pres">
      <dgm:prSet presAssocID="{5D96FAA8-D470-429A-9DBE-E08C54293D0A}" presName="spaceRect" presStyleCnt="0"/>
      <dgm:spPr/>
    </dgm:pt>
    <dgm:pt modelId="{EF32C1B8-10DE-4C45-A44C-D33A6D0AF620}" type="pres">
      <dgm:prSet presAssocID="{5D96FAA8-D470-429A-9DBE-E08C54293D0A}" presName="parTx" presStyleLbl="revTx" presStyleIdx="0" presStyleCnt="3">
        <dgm:presLayoutVars>
          <dgm:chMax val="0"/>
          <dgm:chPref val="0"/>
        </dgm:presLayoutVars>
      </dgm:prSet>
      <dgm:spPr/>
    </dgm:pt>
    <dgm:pt modelId="{F226C4D5-AFBF-4515-9991-31FF84D065D8}" type="pres">
      <dgm:prSet presAssocID="{5F33D296-C474-4F0C-AE0F-99DAE5A4AC88}" presName="sibTrans" presStyleCnt="0"/>
      <dgm:spPr/>
    </dgm:pt>
    <dgm:pt modelId="{C5F47ED4-C076-4981-B032-E1699C993FC9}" type="pres">
      <dgm:prSet presAssocID="{83B3F415-B9A8-402C-8D25-D16CA58BC35E}" presName="compNode" presStyleCnt="0"/>
      <dgm:spPr/>
    </dgm:pt>
    <dgm:pt modelId="{DF2C90FB-DB95-41F0-A29E-D3CB5E1E8129}" type="pres">
      <dgm:prSet presAssocID="{83B3F415-B9A8-402C-8D25-D16CA58BC35E}" presName="bgRect" presStyleLbl="bgShp" presStyleIdx="1" presStyleCnt="3"/>
      <dgm:spPr/>
    </dgm:pt>
    <dgm:pt modelId="{3F034782-4A10-4D7B-9587-7BCC87A90340}" type="pres">
      <dgm:prSet presAssocID="{83B3F415-B9A8-402C-8D25-D16CA58BC35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Check"/>
        </a:ext>
      </dgm:extLst>
    </dgm:pt>
    <dgm:pt modelId="{AC2E8320-9689-46F7-A6C1-BA115B1F511D}" type="pres">
      <dgm:prSet presAssocID="{83B3F415-B9A8-402C-8D25-D16CA58BC35E}" presName="spaceRect" presStyleCnt="0"/>
      <dgm:spPr/>
    </dgm:pt>
    <dgm:pt modelId="{0227DBE1-6ACE-46E9-82CA-9E8C4101BE6C}" type="pres">
      <dgm:prSet presAssocID="{83B3F415-B9A8-402C-8D25-D16CA58BC35E}" presName="parTx" presStyleLbl="revTx" presStyleIdx="1" presStyleCnt="3">
        <dgm:presLayoutVars>
          <dgm:chMax val="0"/>
          <dgm:chPref val="0"/>
        </dgm:presLayoutVars>
      </dgm:prSet>
      <dgm:spPr/>
    </dgm:pt>
    <dgm:pt modelId="{7E8BF36A-8102-4B7B-A5B6-FCFEAF162FC5}" type="pres">
      <dgm:prSet presAssocID="{2AFB5ACB-2174-4E43-B3E9-68821486F648}" presName="sibTrans" presStyleCnt="0"/>
      <dgm:spPr/>
    </dgm:pt>
    <dgm:pt modelId="{4FC81557-B81A-4731-9C43-4D2BFFCC065E}" type="pres">
      <dgm:prSet presAssocID="{9DE2C5B4-F327-4188-9645-5E818192FA10}" presName="compNode" presStyleCnt="0"/>
      <dgm:spPr/>
    </dgm:pt>
    <dgm:pt modelId="{2C7B4A52-1F77-4203-B729-E5972662853F}" type="pres">
      <dgm:prSet presAssocID="{9DE2C5B4-F327-4188-9645-5E818192FA10}" presName="bgRect" presStyleLbl="bgShp" presStyleIdx="2" presStyleCnt="3"/>
      <dgm:spPr/>
    </dgm:pt>
    <dgm:pt modelId="{71B073FD-53BC-4671-B32E-57258C114769}" type="pres">
      <dgm:prSet presAssocID="{9DE2C5B4-F327-4188-9645-5E818192FA1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F6483CF3-BE42-4160-A7E3-C821F31EBDDD}" type="pres">
      <dgm:prSet presAssocID="{9DE2C5B4-F327-4188-9645-5E818192FA10}" presName="spaceRect" presStyleCnt="0"/>
      <dgm:spPr/>
    </dgm:pt>
    <dgm:pt modelId="{DAB537C4-8961-4EE7-B3A7-90B45B9F52FC}" type="pres">
      <dgm:prSet presAssocID="{9DE2C5B4-F327-4188-9645-5E818192FA10}" presName="parTx" presStyleLbl="revTx" presStyleIdx="2" presStyleCnt="3">
        <dgm:presLayoutVars>
          <dgm:chMax val="0"/>
          <dgm:chPref val="0"/>
        </dgm:presLayoutVars>
      </dgm:prSet>
      <dgm:spPr/>
    </dgm:pt>
  </dgm:ptLst>
  <dgm:cxnLst>
    <dgm:cxn modelId="{918EC331-0662-43A7-BB10-83382A2983C9}" type="presOf" srcId="{3BB58340-38AF-48DA-9467-7337CF9BF573}" destId="{DC4EF5B7-CE12-4E75-AB4A-EA0E7BA045DF}" srcOrd="0" destOrd="0" presId="urn:microsoft.com/office/officeart/2018/2/layout/IconVerticalSolidList"/>
    <dgm:cxn modelId="{29CAF46F-D44A-4F79-AECD-DC53A075C573}" srcId="{3BB58340-38AF-48DA-9467-7337CF9BF573}" destId="{83B3F415-B9A8-402C-8D25-D16CA58BC35E}" srcOrd="1" destOrd="0" parTransId="{D8F2C2BC-06FF-4D6A-A195-7F05F19758D2}" sibTransId="{2AFB5ACB-2174-4E43-B3E9-68821486F648}"/>
    <dgm:cxn modelId="{CBC1B179-19AD-4ADE-A0AE-A6F210C1E0F1}" type="presOf" srcId="{9DE2C5B4-F327-4188-9645-5E818192FA10}" destId="{DAB537C4-8961-4EE7-B3A7-90B45B9F52FC}" srcOrd="0" destOrd="0" presId="urn:microsoft.com/office/officeart/2018/2/layout/IconVerticalSolidList"/>
    <dgm:cxn modelId="{0A47D8CC-CA2C-4AEC-8536-BC03A0E16B90}" srcId="{3BB58340-38AF-48DA-9467-7337CF9BF573}" destId="{5D96FAA8-D470-429A-9DBE-E08C54293D0A}" srcOrd="0" destOrd="0" parTransId="{B26422BD-9D60-4D3C-AB74-E45EDCA2FE16}" sibTransId="{5F33D296-C474-4F0C-AE0F-99DAE5A4AC88}"/>
    <dgm:cxn modelId="{065B81CF-E730-45F1-A031-F50409045E25}" type="presOf" srcId="{83B3F415-B9A8-402C-8D25-D16CA58BC35E}" destId="{0227DBE1-6ACE-46E9-82CA-9E8C4101BE6C}" srcOrd="0" destOrd="0" presId="urn:microsoft.com/office/officeart/2018/2/layout/IconVerticalSolidList"/>
    <dgm:cxn modelId="{EF3416ED-3C7A-4280-A978-A6A535B5CEF1}" srcId="{3BB58340-38AF-48DA-9467-7337CF9BF573}" destId="{9DE2C5B4-F327-4188-9645-5E818192FA10}" srcOrd="2" destOrd="0" parTransId="{D9BB34CF-2DC7-4EE7-889B-6987DCF49CD8}" sibTransId="{897281E4-EE34-46A5-B2D3-D1F2C9E0958A}"/>
    <dgm:cxn modelId="{678EA8EE-7994-435C-A0A7-5366E5407E54}" type="presOf" srcId="{5D96FAA8-D470-429A-9DBE-E08C54293D0A}" destId="{EF32C1B8-10DE-4C45-A44C-D33A6D0AF620}" srcOrd="0" destOrd="0" presId="urn:microsoft.com/office/officeart/2018/2/layout/IconVerticalSolidList"/>
    <dgm:cxn modelId="{09314617-D7C7-4727-92FC-41A5310D584E}" type="presParOf" srcId="{DC4EF5B7-CE12-4E75-AB4A-EA0E7BA045DF}" destId="{650CEFE4-D6A0-4FFE-BDC3-DCB3E936A0C0}" srcOrd="0" destOrd="0" presId="urn:microsoft.com/office/officeart/2018/2/layout/IconVerticalSolidList"/>
    <dgm:cxn modelId="{AE6D3647-96DC-4CD4-8CFE-D2E7CAB88ABC}" type="presParOf" srcId="{650CEFE4-D6A0-4FFE-BDC3-DCB3E936A0C0}" destId="{7B51EC8B-95FB-427B-B515-0449087DC2CD}" srcOrd="0" destOrd="0" presId="urn:microsoft.com/office/officeart/2018/2/layout/IconVerticalSolidList"/>
    <dgm:cxn modelId="{774B706D-63A0-4970-AC4B-D11A35A73F39}" type="presParOf" srcId="{650CEFE4-D6A0-4FFE-BDC3-DCB3E936A0C0}" destId="{24793E37-BFE8-4625-A8BC-1BEA9D439D98}" srcOrd="1" destOrd="0" presId="urn:microsoft.com/office/officeart/2018/2/layout/IconVerticalSolidList"/>
    <dgm:cxn modelId="{7A49F604-A0A5-4D6C-BA4A-DC3238FF3D41}" type="presParOf" srcId="{650CEFE4-D6A0-4FFE-BDC3-DCB3E936A0C0}" destId="{6025A5DF-8CB6-46CF-9F74-8D02B3586D12}" srcOrd="2" destOrd="0" presId="urn:microsoft.com/office/officeart/2018/2/layout/IconVerticalSolidList"/>
    <dgm:cxn modelId="{D8E4EC89-75DE-44F5-B1AE-0792B473044A}" type="presParOf" srcId="{650CEFE4-D6A0-4FFE-BDC3-DCB3E936A0C0}" destId="{EF32C1B8-10DE-4C45-A44C-D33A6D0AF620}" srcOrd="3" destOrd="0" presId="urn:microsoft.com/office/officeart/2018/2/layout/IconVerticalSolidList"/>
    <dgm:cxn modelId="{144F1A45-577E-4CBA-95FC-5E19BD753250}" type="presParOf" srcId="{DC4EF5B7-CE12-4E75-AB4A-EA0E7BA045DF}" destId="{F226C4D5-AFBF-4515-9991-31FF84D065D8}" srcOrd="1" destOrd="0" presId="urn:microsoft.com/office/officeart/2018/2/layout/IconVerticalSolidList"/>
    <dgm:cxn modelId="{F4C04070-12D8-4414-B2FD-D24488123A80}" type="presParOf" srcId="{DC4EF5B7-CE12-4E75-AB4A-EA0E7BA045DF}" destId="{C5F47ED4-C076-4981-B032-E1699C993FC9}" srcOrd="2" destOrd="0" presId="urn:microsoft.com/office/officeart/2018/2/layout/IconVerticalSolidList"/>
    <dgm:cxn modelId="{29296BD1-6503-488E-8B0C-ABA7E5399C2B}" type="presParOf" srcId="{C5F47ED4-C076-4981-B032-E1699C993FC9}" destId="{DF2C90FB-DB95-41F0-A29E-D3CB5E1E8129}" srcOrd="0" destOrd="0" presId="urn:microsoft.com/office/officeart/2018/2/layout/IconVerticalSolidList"/>
    <dgm:cxn modelId="{550E0F27-FBEC-4533-ABE2-38CDFCE0D367}" type="presParOf" srcId="{C5F47ED4-C076-4981-B032-E1699C993FC9}" destId="{3F034782-4A10-4D7B-9587-7BCC87A90340}" srcOrd="1" destOrd="0" presId="urn:microsoft.com/office/officeart/2018/2/layout/IconVerticalSolidList"/>
    <dgm:cxn modelId="{63B4BFD1-8FA0-4F97-90E1-49BF0C9D77B3}" type="presParOf" srcId="{C5F47ED4-C076-4981-B032-E1699C993FC9}" destId="{AC2E8320-9689-46F7-A6C1-BA115B1F511D}" srcOrd="2" destOrd="0" presId="urn:microsoft.com/office/officeart/2018/2/layout/IconVerticalSolidList"/>
    <dgm:cxn modelId="{9AEE9C7B-9445-4EEE-B943-D9275081E0A2}" type="presParOf" srcId="{C5F47ED4-C076-4981-B032-E1699C993FC9}" destId="{0227DBE1-6ACE-46E9-82CA-9E8C4101BE6C}" srcOrd="3" destOrd="0" presId="urn:microsoft.com/office/officeart/2018/2/layout/IconVerticalSolidList"/>
    <dgm:cxn modelId="{9D087441-5DCE-4B90-9245-1CFD560C7F7E}" type="presParOf" srcId="{DC4EF5B7-CE12-4E75-AB4A-EA0E7BA045DF}" destId="{7E8BF36A-8102-4B7B-A5B6-FCFEAF162FC5}" srcOrd="3" destOrd="0" presId="urn:microsoft.com/office/officeart/2018/2/layout/IconVerticalSolidList"/>
    <dgm:cxn modelId="{1010A88F-5B41-404A-BC28-60EBA7BEEA4D}" type="presParOf" srcId="{DC4EF5B7-CE12-4E75-AB4A-EA0E7BA045DF}" destId="{4FC81557-B81A-4731-9C43-4D2BFFCC065E}" srcOrd="4" destOrd="0" presId="urn:microsoft.com/office/officeart/2018/2/layout/IconVerticalSolidList"/>
    <dgm:cxn modelId="{FE42144C-A83E-4B74-BA44-338A61269513}" type="presParOf" srcId="{4FC81557-B81A-4731-9C43-4D2BFFCC065E}" destId="{2C7B4A52-1F77-4203-B729-E5972662853F}" srcOrd="0" destOrd="0" presId="urn:microsoft.com/office/officeart/2018/2/layout/IconVerticalSolidList"/>
    <dgm:cxn modelId="{57B907E1-008A-434C-A360-D27F6C98E283}" type="presParOf" srcId="{4FC81557-B81A-4731-9C43-4D2BFFCC065E}" destId="{71B073FD-53BC-4671-B32E-57258C114769}" srcOrd="1" destOrd="0" presId="urn:microsoft.com/office/officeart/2018/2/layout/IconVerticalSolidList"/>
    <dgm:cxn modelId="{8D6C59D6-FE30-4F93-A97A-11F440BC7169}" type="presParOf" srcId="{4FC81557-B81A-4731-9C43-4D2BFFCC065E}" destId="{F6483CF3-BE42-4160-A7E3-C821F31EBDDD}" srcOrd="2" destOrd="0" presId="urn:microsoft.com/office/officeart/2018/2/layout/IconVerticalSolidList"/>
    <dgm:cxn modelId="{0A77C218-A9EF-445B-A831-69ECAF32270B}" type="presParOf" srcId="{4FC81557-B81A-4731-9C43-4D2BFFCC065E}" destId="{DAB537C4-8961-4EE7-B3A7-90B45B9F52F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FEDE13D-4A94-4ADC-BAA6-72885EF7F531}" type="doc">
      <dgm:prSet loTypeId="urn:microsoft.com/office/officeart/2016/7/layout/VerticalSolidActionList" loCatId="List" qsTypeId="urn:microsoft.com/office/officeart/2005/8/quickstyle/simple1" qsCatId="simple" csTypeId="urn:microsoft.com/office/officeart/2005/8/colors/colorful1" csCatId="colorful"/>
      <dgm:spPr/>
      <dgm:t>
        <a:bodyPr/>
        <a:lstStyle/>
        <a:p>
          <a:endParaRPr lang="en-US"/>
        </a:p>
      </dgm:t>
    </dgm:pt>
    <dgm:pt modelId="{CEF1C791-DA3E-4617-A5A4-E119B60AC414}">
      <dgm:prSet/>
      <dgm:spPr/>
      <dgm:t>
        <a:bodyPr/>
        <a:lstStyle/>
        <a:p>
          <a:r>
            <a:rPr lang="en-US"/>
            <a:t>Keep</a:t>
          </a:r>
        </a:p>
      </dgm:t>
    </dgm:pt>
    <dgm:pt modelId="{5D615D97-B47A-4F4C-AC8B-496018B99D09}" type="parTrans" cxnId="{7BCF8449-871B-48AF-869E-52FD198779FA}">
      <dgm:prSet/>
      <dgm:spPr/>
      <dgm:t>
        <a:bodyPr/>
        <a:lstStyle/>
        <a:p>
          <a:endParaRPr lang="en-US"/>
        </a:p>
      </dgm:t>
    </dgm:pt>
    <dgm:pt modelId="{7532BF4A-70D3-48D4-AF75-3721EA3B1447}" type="sibTrans" cxnId="{7BCF8449-871B-48AF-869E-52FD198779FA}">
      <dgm:prSet/>
      <dgm:spPr/>
      <dgm:t>
        <a:bodyPr/>
        <a:lstStyle/>
        <a:p>
          <a:endParaRPr lang="en-US"/>
        </a:p>
      </dgm:t>
    </dgm:pt>
    <dgm:pt modelId="{B9B25AE7-C5AC-430E-B774-D0CB099A2619}">
      <dgm:prSet/>
      <dgm:spPr/>
      <dgm:t>
        <a:bodyPr/>
        <a:lstStyle/>
        <a:p>
          <a:r>
            <a:rPr lang="en-US"/>
            <a:t>Keep business meaning in Gherkin</a:t>
          </a:r>
        </a:p>
      </dgm:t>
    </dgm:pt>
    <dgm:pt modelId="{78532D95-2DC5-4AC3-9F5A-603980EE90FF}" type="parTrans" cxnId="{8FDB8CE8-F72E-4624-B602-C3BDBA690E0B}">
      <dgm:prSet/>
      <dgm:spPr/>
      <dgm:t>
        <a:bodyPr/>
        <a:lstStyle/>
        <a:p>
          <a:endParaRPr lang="en-US"/>
        </a:p>
      </dgm:t>
    </dgm:pt>
    <dgm:pt modelId="{847D6DF7-CAE0-4F5C-AE7B-7F3216152292}" type="sibTrans" cxnId="{8FDB8CE8-F72E-4624-B602-C3BDBA690E0B}">
      <dgm:prSet/>
      <dgm:spPr/>
      <dgm:t>
        <a:bodyPr/>
        <a:lstStyle/>
        <a:p>
          <a:endParaRPr lang="en-US"/>
        </a:p>
      </dgm:t>
    </dgm:pt>
    <dgm:pt modelId="{99F08CBF-ED93-4259-9332-C56DF203685E}">
      <dgm:prSet/>
      <dgm:spPr/>
      <dgm:t>
        <a:bodyPr/>
        <a:lstStyle/>
        <a:p>
          <a:r>
            <a:rPr lang="en-US"/>
            <a:t>Put</a:t>
          </a:r>
        </a:p>
      </dgm:t>
    </dgm:pt>
    <dgm:pt modelId="{2E4E23C2-5FED-45A2-8086-3F3515E0A19C}" type="parTrans" cxnId="{15E8F1E8-CB37-4B06-B0F0-C204392B45D9}">
      <dgm:prSet/>
      <dgm:spPr/>
      <dgm:t>
        <a:bodyPr/>
        <a:lstStyle/>
        <a:p>
          <a:endParaRPr lang="en-US"/>
        </a:p>
      </dgm:t>
    </dgm:pt>
    <dgm:pt modelId="{9F82696B-30CC-4810-B619-75337EFB5A77}" type="sibTrans" cxnId="{15E8F1E8-CB37-4B06-B0F0-C204392B45D9}">
      <dgm:prSet/>
      <dgm:spPr/>
      <dgm:t>
        <a:bodyPr/>
        <a:lstStyle/>
        <a:p>
          <a:endParaRPr lang="en-US"/>
        </a:p>
      </dgm:t>
    </dgm:pt>
    <dgm:pt modelId="{B175FFF4-E7AD-45B4-ADFD-3B0CECC22EFB}">
      <dgm:prSet/>
      <dgm:spPr/>
      <dgm:t>
        <a:bodyPr/>
        <a:lstStyle/>
        <a:p>
          <a:r>
            <a:rPr lang="en-US"/>
            <a:t>Put technical details in step code</a:t>
          </a:r>
        </a:p>
      </dgm:t>
    </dgm:pt>
    <dgm:pt modelId="{7C33C34E-237E-48F2-8E85-702EDE7D6E2E}" type="parTrans" cxnId="{0B811F60-B3BE-49DA-B22C-8C2BFD33A46E}">
      <dgm:prSet/>
      <dgm:spPr/>
      <dgm:t>
        <a:bodyPr/>
        <a:lstStyle/>
        <a:p>
          <a:endParaRPr lang="en-US"/>
        </a:p>
      </dgm:t>
    </dgm:pt>
    <dgm:pt modelId="{3E87C875-4CA5-4BE7-9731-186F45F3FB91}" type="sibTrans" cxnId="{0B811F60-B3BE-49DA-B22C-8C2BFD33A46E}">
      <dgm:prSet/>
      <dgm:spPr/>
      <dgm:t>
        <a:bodyPr/>
        <a:lstStyle/>
        <a:p>
          <a:endParaRPr lang="en-US"/>
        </a:p>
      </dgm:t>
    </dgm:pt>
    <dgm:pt modelId="{8D27C586-6465-403B-A342-90928EC7EC0B}">
      <dgm:prSet/>
      <dgm:spPr/>
      <dgm:t>
        <a:bodyPr/>
        <a:lstStyle/>
        <a:p>
          <a:r>
            <a:rPr lang="en-US"/>
            <a:t>Prefer</a:t>
          </a:r>
        </a:p>
      </dgm:t>
    </dgm:pt>
    <dgm:pt modelId="{67B2BE66-B0F7-4C75-939B-D89FBC570349}" type="parTrans" cxnId="{D72E5AA7-CBD0-4E17-86DA-1B136EEDBC71}">
      <dgm:prSet/>
      <dgm:spPr/>
      <dgm:t>
        <a:bodyPr/>
        <a:lstStyle/>
        <a:p>
          <a:endParaRPr lang="en-US"/>
        </a:p>
      </dgm:t>
    </dgm:pt>
    <dgm:pt modelId="{57F5BDF5-113F-4D9C-9E53-69C746C8F2D0}" type="sibTrans" cxnId="{D72E5AA7-CBD0-4E17-86DA-1B136EEDBC71}">
      <dgm:prSet/>
      <dgm:spPr/>
      <dgm:t>
        <a:bodyPr/>
        <a:lstStyle/>
        <a:p>
          <a:endParaRPr lang="en-US"/>
        </a:p>
      </dgm:t>
    </dgm:pt>
    <dgm:pt modelId="{866542C1-DED6-42DF-9A48-001EB7C313E5}">
      <dgm:prSet/>
      <dgm:spPr/>
      <dgm:t>
        <a:bodyPr/>
        <a:lstStyle/>
        <a:p>
          <a:r>
            <a:rPr lang="en-US"/>
            <a:t>Prefer thin steps that call application services/helpers</a:t>
          </a:r>
        </a:p>
      </dgm:t>
    </dgm:pt>
    <dgm:pt modelId="{30C73BA8-B5F3-4878-91AA-E15C26314C4D}" type="parTrans" cxnId="{87D71FBD-48D4-4383-AB06-DFE70AAE29DC}">
      <dgm:prSet/>
      <dgm:spPr/>
      <dgm:t>
        <a:bodyPr/>
        <a:lstStyle/>
        <a:p>
          <a:endParaRPr lang="en-US"/>
        </a:p>
      </dgm:t>
    </dgm:pt>
    <dgm:pt modelId="{E93B7D3D-4DC9-4A40-8C62-28F123CF8485}" type="sibTrans" cxnId="{87D71FBD-48D4-4383-AB06-DFE70AAE29DC}">
      <dgm:prSet/>
      <dgm:spPr/>
      <dgm:t>
        <a:bodyPr/>
        <a:lstStyle/>
        <a:p>
          <a:endParaRPr lang="en-US"/>
        </a:p>
      </dgm:t>
    </dgm:pt>
    <dgm:pt modelId="{71593EE3-487B-594B-B683-D6F5D5F964A1}" type="pres">
      <dgm:prSet presAssocID="{4FEDE13D-4A94-4ADC-BAA6-72885EF7F531}" presName="Name0" presStyleCnt="0">
        <dgm:presLayoutVars>
          <dgm:dir/>
          <dgm:animLvl val="lvl"/>
          <dgm:resizeHandles val="exact"/>
        </dgm:presLayoutVars>
      </dgm:prSet>
      <dgm:spPr/>
    </dgm:pt>
    <dgm:pt modelId="{9C8A22EB-6A41-C849-9BB9-3FEC181507CA}" type="pres">
      <dgm:prSet presAssocID="{CEF1C791-DA3E-4617-A5A4-E119B60AC414}" presName="linNode" presStyleCnt="0"/>
      <dgm:spPr/>
    </dgm:pt>
    <dgm:pt modelId="{9F952DEE-3561-4B44-8CE6-35CBF0420733}" type="pres">
      <dgm:prSet presAssocID="{CEF1C791-DA3E-4617-A5A4-E119B60AC414}" presName="parentText" presStyleLbl="alignNode1" presStyleIdx="0" presStyleCnt="3">
        <dgm:presLayoutVars>
          <dgm:chMax val="1"/>
          <dgm:bulletEnabled/>
        </dgm:presLayoutVars>
      </dgm:prSet>
      <dgm:spPr/>
    </dgm:pt>
    <dgm:pt modelId="{00490BE8-E713-3D47-A478-A8AB3858B015}" type="pres">
      <dgm:prSet presAssocID="{CEF1C791-DA3E-4617-A5A4-E119B60AC414}" presName="descendantText" presStyleLbl="alignAccFollowNode1" presStyleIdx="0" presStyleCnt="3">
        <dgm:presLayoutVars>
          <dgm:bulletEnabled/>
        </dgm:presLayoutVars>
      </dgm:prSet>
      <dgm:spPr/>
    </dgm:pt>
    <dgm:pt modelId="{5EB782F7-082B-0F47-A6BD-762B41CC036E}" type="pres">
      <dgm:prSet presAssocID="{7532BF4A-70D3-48D4-AF75-3721EA3B1447}" presName="sp" presStyleCnt="0"/>
      <dgm:spPr/>
    </dgm:pt>
    <dgm:pt modelId="{5C84656E-EE6A-6941-A870-3297BBE9E422}" type="pres">
      <dgm:prSet presAssocID="{99F08CBF-ED93-4259-9332-C56DF203685E}" presName="linNode" presStyleCnt="0"/>
      <dgm:spPr/>
    </dgm:pt>
    <dgm:pt modelId="{0A8065B2-861C-384E-9D6D-A81C0648E761}" type="pres">
      <dgm:prSet presAssocID="{99F08CBF-ED93-4259-9332-C56DF203685E}" presName="parentText" presStyleLbl="alignNode1" presStyleIdx="1" presStyleCnt="3">
        <dgm:presLayoutVars>
          <dgm:chMax val="1"/>
          <dgm:bulletEnabled/>
        </dgm:presLayoutVars>
      </dgm:prSet>
      <dgm:spPr/>
    </dgm:pt>
    <dgm:pt modelId="{8EB97A1F-8A58-E146-86D2-68E4BB1A19BE}" type="pres">
      <dgm:prSet presAssocID="{99F08CBF-ED93-4259-9332-C56DF203685E}" presName="descendantText" presStyleLbl="alignAccFollowNode1" presStyleIdx="1" presStyleCnt="3">
        <dgm:presLayoutVars>
          <dgm:bulletEnabled/>
        </dgm:presLayoutVars>
      </dgm:prSet>
      <dgm:spPr/>
    </dgm:pt>
    <dgm:pt modelId="{C66F5044-B53C-C848-A21D-ABBCFF40F9F2}" type="pres">
      <dgm:prSet presAssocID="{9F82696B-30CC-4810-B619-75337EFB5A77}" presName="sp" presStyleCnt="0"/>
      <dgm:spPr/>
    </dgm:pt>
    <dgm:pt modelId="{3A6E5DBE-75F8-624E-812F-991AFF1D34E9}" type="pres">
      <dgm:prSet presAssocID="{8D27C586-6465-403B-A342-90928EC7EC0B}" presName="linNode" presStyleCnt="0"/>
      <dgm:spPr/>
    </dgm:pt>
    <dgm:pt modelId="{60480FA2-BCFB-A149-BA74-EFECF0A6A3C8}" type="pres">
      <dgm:prSet presAssocID="{8D27C586-6465-403B-A342-90928EC7EC0B}" presName="parentText" presStyleLbl="alignNode1" presStyleIdx="2" presStyleCnt="3">
        <dgm:presLayoutVars>
          <dgm:chMax val="1"/>
          <dgm:bulletEnabled/>
        </dgm:presLayoutVars>
      </dgm:prSet>
      <dgm:spPr/>
    </dgm:pt>
    <dgm:pt modelId="{6C876FE1-510F-AC4B-86B1-9D900B9F0881}" type="pres">
      <dgm:prSet presAssocID="{8D27C586-6465-403B-A342-90928EC7EC0B}" presName="descendantText" presStyleLbl="alignAccFollowNode1" presStyleIdx="2" presStyleCnt="3">
        <dgm:presLayoutVars>
          <dgm:bulletEnabled/>
        </dgm:presLayoutVars>
      </dgm:prSet>
      <dgm:spPr/>
    </dgm:pt>
  </dgm:ptLst>
  <dgm:cxnLst>
    <dgm:cxn modelId="{1F3D9F0F-6C18-BC44-BBD1-C9E7ADE8D63C}" type="presOf" srcId="{B9B25AE7-C5AC-430E-B774-D0CB099A2619}" destId="{00490BE8-E713-3D47-A478-A8AB3858B015}" srcOrd="0" destOrd="0" presId="urn:microsoft.com/office/officeart/2016/7/layout/VerticalSolidActionList"/>
    <dgm:cxn modelId="{3252D615-49B1-304F-90DB-E7CBE6C5B9CE}" type="presOf" srcId="{4FEDE13D-4A94-4ADC-BAA6-72885EF7F531}" destId="{71593EE3-487B-594B-B683-D6F5D5F964A1}" srcOrd="0" destOrd="0" presId="urn:microsoft.com/office/officeart/2016/7/layout/VerticalSolidActionList"/>
    <dgm:cxn modelId="{A0278619-29B3-F344-88AD-A71880632648}" type="presOf" srcId="{CEF1C791-DA3E-4617-A5A4-E119B60AC414}" destId="{9F952DEE-3561-4B44-8CE6-35CBF0420733}" srcOrd="0" destOrd="0" presId="urn:microsoft.com/office/officeart/2016/7/layout/VerticalSolidActionList"/>
    <dgm:cxn modelId="{6983271C-F901-9A4B-9676-39EFFE777972}" type="presOf" srcId="{B175FFF4-E7AD-45B4-ADFD-3B0CECC22EFB}" destId="{8EB97A1F-8A58-E146-86D2-68E4BB1A19BE}" srcOrd="0" destOrd="0" presId="urn:microsoft.com/office/officeart/2016/7/layout/VerticalSolidActionList"/>
    <dgm:cxn modelId="{4B08B741-02AC-C64C-A749-A4EF7306009C}" type="presOf" srcId="{8D27C586-6465-403B-A342-90928EC7EC0B}" destId="{60480FA2-BCFB-A149-BA74-EFECF0A6A3C8}" srcOrd="0" destOrd="0" presId="urn:microsoft.com/office/officeart/2016/7/layout/VerticalSolidActionList"/>
    <dgm:cxn modelId="{7BCF8449-871B-48AF-869E-52FD198779FA}" srcId="{4FEDE13D-4A94-4ADC-BAA6-72885EF7F531}" destId="{CEF1C791-DA3E-4617-A5A4-E119B60AC414}" srcOrd="0" destOrd="0" parTransId="{5D615D97-B47A-4F4C-AC8B-496018B99D09}" sibTransId="{7532BF4A-70D3-48D4-AF75-3721EA3B1447}"/>
    <dgm:cxn modelId="{0B811F60-B3BE-49DA-B22C-8C2BFD33A46E}" srcId="{99F08CBF-ED93-4259-9332-C56DF203685E}" destId="{B175FFF4-E7AD-45B4-ADFD-3B0CECC22EFB}" srcOrd="0" destOrd="0" parTransId="{7C33C34E-237E-48F2-8E85-702EDE7D6E2E}" sibTransId="{3E87C875-4CA5-4BE7-9731-186F45F3FB91}"/>
    <dgm:cxn modelId="{F4CCC485-E7A4-0C4F-BAD6-F63F0AF81213}" type="presOf" srcId="{866542C1-DED6-42DF-9A48-001EB7C313E5}" destId="{6C876FE1-510F-AC4B-86B1-9D900B9F0881}" srcOrd="0" destOrd="0" presId="urn:microsoft.com/office/officeart/2016/7/layout/VerticalSolidActionList"/>
    <dgm:cxn modelId="{D72E5AA7-CBD0-4E17-86DA-1B136EEDBC71}" srcId="{4FEDE13D-4A94-4ADC-BAA6-72885EF7F531}" destId="{8D27C586-6465-403B-A342-90928EC7EC0B}" srcOrd="2" destOrd="0" parTransId="{67B2BE66-B0F7-4C75-939B-D89FBC570349}" sibTransId="{57F5BDF5-113F-4D9C-9E53-69C746C8F2D0}"/>
    <dgm:cxn modelId="{87D71FBD-48D4-4383-AB06-DFE70AAE29DC}" srcId="{8D27C586-6465-403B-A342-90928EC7EC0B}" destId="{866542C1-DED6-42DF-9A48-001EB7C313E5}" srcOrd="0" destOrd="0" parTransId="{30C73BA8-B5F3-4878-91AA-E15C26314C4D}" sibTransId="{E93B7D3D-4DC9-4A40-8C62-28F123CF8485}"/>
    <dgm:cxn modelId="{D8E1CCD9-3074-AD4C-A3A2-9B12BB856959}" type="presOf" srcId="{99F08CBF-ED93-4259-9332-C56DF203685E}" destId="{0A8065B2-861C-384E-9D6D-A81C0648E761}" srcOrd="0" destOrd="0" presId="urn:microsoft.com/office/officeart/2016/7/layout/VerticalSolidActionList"/>
    <dgm:cxn modelId="{8FDB8CE8-F72E-4624-B602-C3BDBA690E0B}" srcId="{CEF1C791-DA3E-4617-A5A4-E119B60AC414}" destId="{B9B25AE7-C5AC-430E-B774-D0CB099A2619}" srcOrd="0" destOrd="0" parTransId="{78532D95-2DC5-4AC3-9F5A-603980EE90FF}" sibTransId="{847D6DF7-CAE0-4F5C-AE7B-7F3216152292}"/>
    <dgm:cxn modelId="{15E8F1E8-CB37-4B06-B0F0-C204392B45D9}" srcId="{4FEDE13D-4A94-4ADC-BAA6-72885EF7F531}" destId="{99F08CBF-ED93-4259-9332-C56DF203685E}" srcOrd="1" destOrd="0" parTransId="{2E4E23C2-5FED-45A2-8086-3F3515E0A19C}" sibTransId="{9F82696B-30CC-4810-B619-75337EFB5A77}"/>
    <dgm:cxn modelId="{17B1A5DB-8E1F-9F4B-8ED0-35904FA20D48}" type="presParOf" srcId="{71593EE3-487B-594B-B683-D6F5D5F964A1}" destId="{9C8A22EB-6A41-C849-9BB9-3FEC181507CA}" srcOrd="0" destOrd="0" presId="urn:microsoft.com/office/officeart/2016/7/layout/VerticalSolidActionList"/>
    <dgm:cxn modelId="{6E587626-09F6-4B4E-83EB-F61CD0D2443B}" type="presParOf" srcId="{9C8A22EB-6A41-C849-9BB9-3FEC181507CA}" destId="{9F952DEE-3561-4B44-8CE6-35CBF0420733}" srcOrd="0" destOrd="0" presId="urn:microsoft.com/office/officeart/2016/7/layout/VerticalSolidActionList"/>
    <dgm:cxn modelId="{BD551A37-F604-394B-8B10-4271BA77C207}" type="presParOf" srcId="{9C8A22EB-6A41-C849-9BB9-3FEC181507CA}" destId="{00490BE8-E713-3D47-A478-A8AB3858B015}" srcOrd="1" destOrd="0" presId="urn:microsoft.com/office/officeart/2016/7/layout/VerticalSolidActionList"/>
    <dgm:cxn modelId="{595EA35E-9DD7-0048-A009-338ADA537BA2}" type="presParOf" srcId="{71593EE3-487B-594B-B683-D6F5D5F964A1}" destId="{5EB782F7-082B-0F47-A6BD-762B41CC036E}" srcOrd="1" destOrd="0" presId="urn:microsoft.com/office/officeart/2016/7/layout/VerticalSolidActionList"/>
    <dgm:cxn modelId="{6594FEB5-F0FF-9C41-BB2B-CC2ABAF27020}" type="presParOf" srcId="{71593EE3-487B-594B-B683-D6F5D5F964A1}" destId="{5C84656E-EE6A-6941-A870-3297BBE9E422}" srcOrd="2" destOrd="0" presId="urn:microsoft.com/office/officeart/2016/7/layout/VerticalSolidActionList"/>
    <dgm:cxn modelId="{3DF1F834-F176-E749-BC03-BF0798C668F6}" type="presParOf" srcId="{5C84656E-EE6A-6941-A870-3297BBE9E422}" destId="{0A8065B2-861C-384E-9D6D-A81C0648E761}" srcOrd="0" destOrd="0" presId="urn:microsoft.com/office/officeart/2016/7/layout/VerticalSolidActionList"/>
    <dgm:cxn modelId="{C57A80E5-0AAC-0D40-A8CA-C4FF3AEDC317}" type="presParOf" srcId="{5C84656E-EE6A-6941-A870-3297BBE9E422}" destId="{8EB97A1F-8A58-E146-86D2-68E4BB1A19BE}" srcOrd="1" destOrd="0" presId="urn:microsoft.com/office/officeart/2016/7/layout/VerticalSolidActionList"/>
    <dgm:cxn modelId="{C95945E8-1180-534F-8108-FBCBFB1D8FA6}" type="presParOf" srcId="{71593EE3-487B-594B-B683-D6F5D5F964A1}" destId="{C66F5044-B53C-C848-A21D-ABBCFF40F9F2}" srcOrd="3" destOrd="0" presId="urn:microsoft.com/office/officeart/2016/7/layout/VerticalSolidActionList"/>
    <dgm:cxn modelId="{1C245B61-8406-654B-8A2D-0263A90CB03B}" type="presParOf" srcId="{71593EE3-487B-594B-B683-D6F5D5F964A1}" destId="{3A6E5DBE-75F8-624E-812F-991AFF1D34E9}" srcOrd="4" destOrd="0" presId="urn:microsoft.com/office/officeart/2016/7/layout/VerticalSolidActionList"/>
    <dgm:cxn modelId="{4468D13F-76F5-2D44-A2C4-8BFD62D7E6C1}" type="presParOf" srcId="{3A6E5DBE-75F8-624E-812F-991AFF1D34E9}" destId="{60480FA2-BCFB-A149-BA74-EFECF0A6A3C8}" srcOrd="0" destOrd="0" presId="urn:microsoft.com/office/officeart/2016/7/layout/VerticalSolidActionList"/>
    <dgm:cxn modelId="{C2628496-6E35-B746-98CB-270F50FAC0C6}" type="presParOf" srcId="{3A6E5DBE-75F8-624E-812F-991AFF1D34E9}" destId="{6C876FE1-510F-AC4B-86B1-9D900B9F0881}"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DE5347E-2615-455C-A2E4-C1DC9CC99792}" type="doc">
      <dgm:prSet loTypeId="urn:microsoft.com/office/officeart/2016/7/layout/VerticalDownArrowProcess" loCatId="process" qsTypeId="urn:microsoft.com/office/officeart/2005/8/quickstyle/simple1" qsCatId="simple" csTypeId="urn:microsoft.com/office/officeart/2005/8/colors/colorful2" csCatId="colorful"/>
      <dgm:spPr/>
      <dgm:t>
        <a:bodyPr/>
        <a:lstStyle/>
        <a:p>
          <a:endParaRPr lang="en-US"/>
        </a:p>
      </dgm:t>
    </dgm:pt>
    <dgm:pt modelId="{C50D17BC-3E38-4B4E-9207-9AD38A320083}">
      <dgm:prSet/>
      <dgm:spPr/>
      <dgm:t>
        <a:bodyPr/>
        <a:lstStyle/>
        <a:p>
          <a:r>
            <a:rPr lang="en-US"/>
            <a:t>Agree on</a:t>
          </a:r>
        </a:p>
      </dgm:t>
    </dgm:pt>
    <dgm:pt modelId="{82EC7E25-59CD-4722-A877-2E3FCE66B112}" type="parTrans" cxnId="{7A48D849-8FE9-4FF0-9FD0-7D4838D97B3F}">
      <dgm:prSet/>
      <dgm:spPr/>
      <dgm:t>
        <a:bodyPr/>
        <a:lstStyle/>
        <a:p>
          <a:endParaRPr lang="en-US"/>
        </a:p>
      </dgm:t>
    </dgm:pt>
    <dgm:pt modelId="{FED3325A-EC06-4F1D-9696-8DD4427ECF81}" type="sibTrans" cxnId="{7A48D849-8FE9-4FF0-9FD0-7D4838D97B3F}">
      <dgm:prSet/>
      <dgm:spPr/>
      <dgm:t>
        <a:bodyPr/>
        <a:lstStyle/>
        <a:p>
          <a:endParaRPr lang="en-US"/>
        </a:p>
      </dgm:t>
    </dgm:pt>
    <dgm:pt modelId="{DFFFAD07-E733-4AAF-A4A8-3D4D9261C97C}">
      <dgm:prSet/>
      <dgm:spPr/>
      <dgm:t>
        <a:bodyPr/>
        <a:lstStyle/>
        <a:p>
          <a:r>
            <a:rPr lang="en-US"/>
            <a:t>Discovery: agree on examples</a:t>
          </a:r>
        </a:p>
      </dgm:t>
    </dgm:pt>
    <dgm:pt modelId="{BC4BCF66-1D1D-4E38-AA8A-4C466294D43C}" type="parTrans" cxnId="{4B113DCA-000B-4EBA-A4E5-2D05EF8B9764}">
      <dgm:prSet/>
      <dgm:spPr/>
      <dgm:t>
        <a:bodyPr/>
        <a:lstStyle/>
        <a:p>
          <a:endParaRPr lang="en-US"/>
        </a:p>
      </dgm:t>
    </dgm:pt>
    <dgm:pt modelId="{82D3F2EF-A70C-4802-9F6C-E8BBB4876AF7}" type="sibTrans" cxnId="{4B113DCA-000B-4EBA-A4E5-2D05EF8B9764}">
      <dgm:prSet/>
      <dgm:spPr/>
      <dgm:t>
        <a:bodyPr/>
        <a:lstStyle/>
        <a:p>
          <a:endParaRPr lang="en-US"/>
        </a:p>
      </dgm:t>
    </dgm:pt>
    <dgm:pt modelId="{B0EA8515-A632-4783-86CE-7CD534E59494}">
      <dgm:prSet/>
      <dgm:spPr/>
      <dgm:t>
        <a:bodyPr/>
        <a:lstStyle/>
        <a:p>
          <a:r>
            <a:rPr lang="en-US"/>
            <a:t>Formulate</a:t>
          </a:r>
        </a:p>
      </dgm:t>
    </dgm:pt>
    <dgm:pt modelId="{1127E4F8-63E6-49E8-B773-2D71F600D6F0}" type="parTrans" cxnId="{51715218-9B2F-4C16-8955-A1B95ACC3CEA}">
      <dgm:prSet/>
      <dgm:spPr/>
      <dgm:t>
        <a:bodyPr/>
        <a:lstStyle/>
        <a:p>
          <a:endParaRPr lang="en-US"/>
        </a:p>
      </dgm:t>
    </dgm:pt>
    <dgm:pt modelId="{2CE76F82-15C5-4E46-98AC-5A0C4F5854F4}" type="sibTrans" cxnId="{51715218-9B2F-4C16-8955-A1B95ACC3CEA}">
      <dgm:prSet/>
      <dgm:spPr/>
      <dgm:t>
        <a:bodyPr/>
        <a:lstStyle/>
        <a:p>
          <a:endParaRPr lang="en-US"/>
        </a:p>
      </dgm:t>
    </dgm:pt>
    <dgm:pt modelId="{12163C4E-F215-4A54-8E6B-489489F8D997}">
      <dgm:prSet/>
      <dgm:spPr/>
      <dgm:t>
        <a:bodyPr/>
        <a:lstStyle/>
        <a:p>
          <a:r>
            <a:rPr lang="en-US"/>
            <a:t>Formulate: write scenarios</a:t>
          </a:r>
        </a:p>
      </dgm:t>
    </dgm:pt>
    <dgm:pt modelId="{7B8590D4-CED0-454A-8FD1-2E415015B16A}" type="parTrans" cxnId="{5C8D4812-3F53-4C5D-A3E3-EEB342FE3DFC}">
      <dgm:prSet/>
      <dgm:spPr/>
      <dgm:t>
        <a:bodyPr/>
        <a:lstStyle/>
        <a:p>
          <a:endParaRPr lang="en-US"/>
        </a:p>
      </dgm:t>
    </dgm:pt>
    <dgm:pt modelId="{C3F1095A-B584-4EF8-8746-90CEA82189E0}" type="sibTrans" cxnId="{5C8D4812-3F53-4C5D-A3E3-EEB342FE3DFC}">
      <dgm:prSet/>
      <dgm:spPr/>
      <dgm:t>
        <a:bodyPr/>
        <a:lstStyle/>
        <a:p>
          <a:endParaRPr lang="en-US"/>
        </a:p>
      </dgm:t>
    </dgm:pt>
    <dgm:pt modelId="{93045D7B-88C9-48FA-B6BF-E531B69D1FCA}">
      <dgm:prSet/>
      <dgm:spPr/>
      <dgm:t>
        <a:bodyPr/>
        <a:lstStyle/>
        <a:p>
          <a:r>
            <a:rPr lang="en-US"/>
            <a:t>Implement</a:t>
          </a:r>
        </a:p>
      </dgm:t>
    </dgm:pt>
    <dgm:pt modelId="{AA81F643-B0BE-4E26-B54E-0A93479CE93D}" type="parTrans" cxnId="{8106CC51-6928-49E2-9823-1D7693FFF4CE}">
      <dgm:prSet/>
      <dgm:spPr/>
      <dgm:t>
        <a:bodyPr/>
        <a:lstStyle/>
        <a:p>
          <a:endParaRPr lang="en-US"/>
        </a:p>
      </dgm:t>
    </dgm:pt>
    <dgm:pt modelId="{3228971C-FD32-42BA-8B05-C729CF156C36}" type="sibTrans" cxnId="{8106CC51-6928-49E2-9823-1D7693FFF4CE}">
      <dgm:prSet/>
      <dgm:spPr/>
      <dgm:t>
        <a:bodyPr/>
        <a:lstStyle/>
        <a:p>
          <a:endParaRPr lang="en-US"/>
        </a:p>
      </dgm:t>
    </dgm:pt>
    <dgm:pt modelId="{5249E204-0478-4CE0-8722-7B88A128CAD5}">
      <dgm:prSet/>
      <dgm:spPr/>
      <dgm:t>
        <a:bodyPr/>
        <a:lstStyle/>
        <a:p>
          <a:r>
            <a:rPr lang="en-US"/>
            <a:t>Implement: code + tests</a:t>
          </a:r>
        </a:p>
      </dgm:t>
    </dgm:pt>
    <dgm:pt modelId="{E7945482-8668-4364-94F1-DCBAE772C090}" type="parTrans" cxnId="{ADE19325-061E-4187-9DDD-42A9F7945482}">
      <dgm:prSet/>
      <dgm:spPr/>
      <dgm:t>
        <a:bodyPr/>
        <a:lstStyle/>
        <a:p>
          <a:endParaRPr lang="en-US"/>
        </a:p>
      </dgm:t>
    </dgm:pt>
    <dgm:pt modelId="{6A4C96AD-EBE2-4538-882F-CDCA1500B586}" type="sibTrans" cxnId="{ADE19325-061E-4187-9DDD-42A9F7945482}">
      <dgm:prSet/>
      <dgm:spPr/>
      <dgm:t>
        <a:bodyPr/>
        <a:lstStyle/>
        <a:p>
          <a:endParaRPr lang="en-US"/>
        </a:p>
      </dgm:t>
    </dgm:pt>
    <dgm:pt modelId="{C1367D37-7B4D-4B96-8F02-779038043660}">
      <dgm:prSet/>
      <dgm:spPr/>
      <dgm:t>
        <a:bodyPr/>
        <a:lstStyle/>
        <a:p>
          <a:r>
            <a:rPr lang="en-US"/>
            <a:t>Automate</a:t>
          </a:r>
        </a:p>
      </dgm:t>
    </dgm:pt>
    <dgm:pt modelId="{59D9B128-935A-4F21-B4FE-962A51839C7F}" type="parTrans" cxnId="{C1486A69-9DE3-4F23-98C7-2E70290F1BE9}">
      <dgm:prSet/>
      <dgm:spPr/>
      <dgm:t>
        <a:bodyPr/>
        <a:lstStyle/>
        <a:p>
          <a:endParaRPr lang="en-US"/>
        </a:p>
      </dgm:t>
    </dgm:pt>
    <dgm:pt modelId="{29DE7312-FC21-40BA-BDBD-5486FBE9D801}" type="sibTrans" cxnId="{C1486A69-9DE3-4F23-98C7-2E70290F1BE9}">
      <dgm:prSet/>
      <dgm:spPr/>
      <dgm:t>
        <a:bodyPr/>
        <a:lstStyle/>
        <a:p>
          <a:endParaRPr lang="en-US"/>
        </a:p>
      </dgm:t>
    </dgm:pt>
    <dgm:pt modelId="{8A9B3053-8E22-485B-ADB4-CA4BC83476A8}">
      <dgm:prSet/>
      <dgm:spPr/>
      <dgm:t>
        <a:bodyPr/>
        <a:lstStyle/>
        <a:p>
          <a:r>
            <a:rPr lang="en-US"/>
            <a:t>Automate: wire steps (optional)</a:t>
          </a:r>
        </a:p>
      </dgm:t>
    </dgm:pt>
    <dgm:pt modelId="{12D92C2C-5053-428A-948D-ADB411B46FD3}" type="parTrans" cxnId="{9721AACE-B724-4A15-9A3E-A348493A32EE}">
      <dgm:prSet/>
      <dgm:spPr/>
      <dgm:t>
        <a:bodyPr/>
        <a:lstStyle/>
        <a:p>
          <a:endParaRPr lang="en-US"/>
        </a:p>
      </dgm:t>
    </dgm:pt>
    <dgm:pt modelId="{553317E1-BE85-4628-9B4F-8BE456A0CFF2}" type="sibTrans" cxnId="{9721AACE-B724-4A15-9A3E-A348493A32EE}">
      <dgm:prSet/>
      <dgm:spPr/>
      <dgm:t>
        <a:bodyPr/>
        <a:lstStyle/>
        <a:p>
          <a:endParaRPr lang="en-US"/>
        </a:p>
      </dgm:t>
    </dgm:pt>
    <dgm:pt modelId="{E3029B90-F90E-4A24-A888-C347BC73BB50}">
      <dgm:prSet/>
      <dgm:spPr/>
      <dgm:t>
        <a:bodyPr/>
        <a:lstStyle/>
        <a:p>
          <a:r>
            <a:rPr lang="en-US"/>
            <a:t>Refactor</a:t>
          </a:r>
        </a:p>
      </dgm:t>
    </dgm:pt>
    <dgm:pt modelId="{E3E861A5-D790-4DE9-9E16-C35CC58E9577}" type="parTrans" cxnId="{3C927337-B236-4202-AD5D-8952C28FF457}">
      <dgm:prSet/>
      <dgm:spPr/>
      <dgm:t>
        <a:bodyPr/>
        <a:lstStyle/>
        <a:p>
          <a:endParaRPr lang="en-US"/>
        </a:p>
      </dgm:t>
    </dgm:pt>
    <dgm:pt modelId="{C49D6ABA-BC6D-4CF7-B38F-CB4074CAB702}" type="sibTrans" cxnId="{3C927337-B236-4202-AD5D-8952C28FF457}">
      <dgm:prSet/>
      <dgm:spPr/>
      <dgm:t>
        <a:bodyPr/>
        <a:lstStyle/>
        <a:p>
          <a:endParaRPr lang="en-US"/>
        </a:p>
      </dgm:t>
    </dgm:pt>
    <dgm:pt modelId="{AD5FC687-1822-4613-BBD3-45C0420D549D}">
      <dgm:prSet/>
      <dgm:spPr/>
      <dgm:t>
        <a:bodyPr/>
        <a:lstStyle/>
        <a:p>
          <a:r>
            <a:rPr lang="en-US"/>
            <a:t>Refactor: improve wording + step design</a:t>
          </a:r>
        </a:p>
      </dgm:t>
    </dgm:pt>
    <dgm:pt modelId="{D8DF2F67-F4B8-4118-AEEA-A87B84F1D59A}" type="parTrans" cxnId="{25023A37-AC68-419A-8FB1-9B3D6E814340}">
      <dgm:prSet/>
      <dgm:spPr/>
      <dgm:t>
        <a:bodyPr/>
        <a:lstStyle/>
        <a:p>
          <a:endParaRPr lang="en-US"/>
        </a:p>
      </dgm:t>
    </dgm:pt>
    <dgm:pt modelId="{060E0F93-75AF-4A24-8664-742820F1DEDA}" type="sibTrans" cxnId="{25023A37-AC68-419A-8FB1-9B3D6E814340}">
      <dgm:prSet/>
      <dgm:spPr/>
      <dgm:t>
        <a:bodyPr/>
        <a:lstStyle/>
        <a:p>
          <a:endParaRPr lang="en-US"/>
        </a:p>
      </dgm:t>
    </dgm:pt>
    <dgm:pt modelId="{3BF55CB4-E877-480C-BCBE-8517F2E10A09}">
      <dgm:prSet/>
      <dgm:spPr/>
      <dgm:t>
        <a:bodyPr/>
        <a:lstStyle/>
        <a:p>
          <a:r>
            <a:rPr lang="en-US"/>
            <a:t>Run in</a:t>
          </a:r>
        </a:p>
      </dgm:t>
    </dgm:pt>
    <dgm:pt modelId="{805EBC4D-3A23-403A-9543-0DA44B34126C}" type="parTrans" cxnId="{4B6DD9C6-11EA-4B32-8153-87034366A0D2}">
      <dgm:prSet/>
      <dgm:spPr/>
      <dgm:t>
        <a:bodyPr/>
        <a:lstStyle/>
        <a:p>
          <a:endParaRPr lang="en-US"/>
        </a:p>
      </dgm:t>
    </dgm:pt>
    <dgm:pt modelId="{ABB13786-6BE6-4ED0-9A13-B93FBF52B123}" type="sibTrans" cxnId="{4B6DD9C6-11EA-4B32-8153-87034366A0D2}">
      <dgm:prSet/>
      <dgm:spPr/>
      <dgm:t>
        <a:bodyPr/>
        <a:lstStyle/>
        <a:p>
          <a:endParaRPr lang="en-US"/>
        </a:p>
      </dgm:t>
    </dgm:pt>
    <dgm:pt modelId="{8F8500C0-5731-46B7-ABCE-4659ED8CA572}">
      <dgm:prSet/>
      <dgm:spPr/>
      <dgm:t>
        <a:bodyPr/>
        <a:lstStyle/>
        <a:p>
          <a:r>
            <a:rPr lang="en-US"/>
            <a:t>Run in CI: keep suite trusted</a:t>
          </a:r>
        </a:p>
      </dgm:t>
    </dgm:pt>
    <dgm:pt modelId="{733BE4A3-E002-438C-876D-C8E3E93E8B1D}" type="parTrans" cxnId="{FBECE2DB-F345-418B-A9D0-90E40E6706CE}">
      <dgm:prSet/>
      <dgm:spPr/>
      <dgm:t>
        <a:bodyPr/>
        <a:lstStyle/>
        <a:p>
          <a:endParaRPr lang="en-US"/>
        </a:p>
      </dgm:t>
    </dgm:pt>
    <dgm:pt modelId="{50425951-8707-4A82-BE15-20D2F0FB12C7}" type="sibTrans" cxnId="{FBECE2DB-F345-418B-A9D0-90E40E6706CE}">
      <dgm:prSet/>
      <dgm:spPr/>
      <dgm:t>
        <a:bodyPr/>
        <a:lstStyle/>
        <a:p>
          <a:endParaRPr lang="en-US"/>
        </a:p>
      </dgm:t>
    </dgm:pt>
    <dgm:pt modelId="{4F64B103-1163-F244-839F-E4A8D808669C}" type="pres">
      <dgm:prSet presAssocID="{BDE5347E-2615-455C-A2E4-C1DC9CC99792}" presName="Name0" presStyleCnt="0">
        <dgm:presLayoutVars>
          <dgm:dir/>
          <dgm:animLvl val="lvl"/>
          <dgm:resizeHandles val="exact"/>
        </dgm:presLayoutVars>
      </dgm:prSet>
      <dgm:spPr/>
    </dgm:pt>
    <dgm:pt modelId="{819961D4-09B8-D647-81C8-75E09AEE4B1D}" type="pres">
      <dgm:prSet presAssocID="{3BF55CB4-E877-480C-BCBE-8517F2E10A09}" presName="boxAndChildren" presStyleCnt="0"/>
      <dgm:spPr/>
    </dgm:pt>
    <dgm:pt modelId="{69F12795-1BF3-AA43-84BA-B663B0E42060}" type="pres">
      <dgm:prSet presAssocID="{3BF55CB4-E877-480C-BCBE-8517F2E10A09}" presName="parentTextBox" presStyleLbl="alignNode1" presStyleIdx="0" presStyleCnt="6"/>
      <dgm:spPr/>
    </dgm:pt>
    <dgm:pt modelId="{FCF96409-2B64-764B-AB6F-56460DB833DF}" type="pres">
      <dgm:prSet presAssocID="{3BF55CB4-E877-480C-BCBE-8517F2E10A09}" presName="descendantBox" presStyleLbl="bgAccFollowNode1" presStyleIdx="0" presStyleCnt="6"/>
      <dgm:spPr/>
    </dgm:pt>
    <dgm:pt modelId="{A8A94692-B59F-994D-A13B-BD5D863DFBEF}" type="pres">
      <dgm:prSet presAssocID="{C49D6ABA-BC6D-4CF7-B38F-CB4074CAB702}" presName="sp" presStyleCnt="0"/>
      <dgm:spPr/>
    </dgm:pt>
    <dgm:pt modelId="{C97491FF-55EF-734A-BD58-E75A6106FABB}" type="pres">
      <dgm:prSet presAssocID="{E3029B90-F90E-4A24-A888-C347BC73BB50}" presName="arrowAndChildren" presStyleCnt="0"/>
      <dgm:spPr/>
    </dgm:pt>
    <dgm:pt modelId="{832EFED9-B996-804E-A328-DC62EFED16FC}" type="pres">
      <dgm:prSet presAssocID="{E3029B90-F90E-4A24-A888-C347BC73BB50}" presName="parentTextArrow" presStyleLbl="node1" presStyleIdx="0" presStyleCnt="0"/>
      <dgm:spPr/>
    </dgm:pt>
    <dgm:pt modelId="{CC445F8A-934D-FF42-B77B-BFB712A168A2}" type="pres">
      <dgm:prSet presAssocID="{E3029B90-F90E-4A24-A888-C347BC73BB50}" presName="arrow" presStyleLbl="alignNode1" presStyleIdx="1" presStyleCnt="6"/>
      <dgm:spPr/>
    </dgm:pt>
    <dgm:pt modelId="{E0955077-DD2D-C644-8F5E-A64D1792887D}" type="pres">
      <dgm:prSet presAssocID="{E3029B90-F90E-4A24-A888-C347BC73BB50}" presName="descendantArrow" presStyleLbl="bgAccFollowNode1" presStyleIdx="1" presStyleCnt="6"/>
      <dgm:spPr/>
    </dgm:pt>
    <dgm:pt modelId="{D0A0E6E6-8F15-1F4E-BD48-D9A85D083D68}" type="pres">
      <dgm:prSet presAssocID="{29DE7312-FC21-40BA-BDBD-5486FBE9D801}" presName="sp" presStyleCnt="0"/>
      <dgm:spPr/>
    </dgm:pt>
    <dgm:pt modelId="{15D4B45D-1710-0846-8433-4FAFB2887BE0}" type="pres">
      <dgm:prSet presAssocID="{C1367D37-7B4D-4B96-8F02-779038043660}" presName="arrowAndChildren" presStyleCnt="0"/>
      <dgm:spPr/>
    </dgm:pt>
    <dgm:pt modelId="{87D015DE-BF59-054F-8F8E-63E1917898C1}" type="pres">
      <dgm:prSet presAssocID="{C1367D37-7B4D-4B96-8F02-779038043660}" presName="parentTextArrow" presStyleLbl="node1" presStyleIdx="0" presStyleCnt="0"/>
      <dgm:spPr/>
    </dgm:pt>
    <dgm:pt modelId="{67668B36-5417-FF41-ACE0-0CF8287317AB}" type="pres">
      <dgm:prSet presAssocID="{C1367D37-7B4D-4B96-8F02-779038043660}" presName="arrow" presStyleLbl="alignNode1" presStyleIdx="2" presStyleCnt="6"/>
      <dgm:spPr/>
    </dgm:pt>
    <dgm:pt modelId="{F3844410-4917-194B-93BB-EBF3AEF385CC}" type="pres">
      <dgm:prSet presAssocID="{C1367D37-7B4D-4B96-8F02-779038043660}" presName="descendantArrow" presStyleLbl="bgAccFollowNode1" presStyleIdx="2" presStyleCnt="6"/>
      <dgm:spPr/>
    </dgm:pt>
    <dgm:pt modelId="{6DA1D152-034B-CA43-A8E4-86C827C88742}" type="pres">
      <dgm:prSet presAssocID="{3228971C-FD32-42BA-8B05-C729CF156C36}" presName="sp" presStyleCnt="0"/>
      <dgm:spPr/>
    </dgm:pt>
    <dgm:pt modelId="{922BAEF0-4637-4646-8614-B2B68D6152C6}" type="pres">
      <dgm:prSet presAssocID="{93045D7B-88C9-48FA-B6BF-E531B69D1FCA}" presName="arrowAndChildren" presStyleCnt="0"/>
      <dgm:spPr/>
    </dgm:pt>
    <dgm:pt modelId="{E490E199-DAC6-A343-8056-472B9E982C47}" type="pres">
      <dgm:prSet presAssocID="{93045D7B-88C9-48FA-B6BF-E531B69D1FCA}" presName="parentTextArrow" presStyleLbl="node1" presStyleIdx="0" presStyleCnt="0"/>
      <dgm:spPr/>
    </dgm:pt>
    <dgm:pt modelId="{DA101FA5-9BB6-C146-B29C-04E37B3BC203}" type="pres">
      <dgm:prSet presAssocID="{93045D7B-88C9-48FA-B6BF-E531B69D1FCA}" presName="arrow" presStyleLbl="alignNode1" presStyleIdx="3" presStyleCnt="6"/>
      <dgm:spPr/>
    </dgm:pt>
    <dgm:pt modelId="{2AC16C13-6F5A-6848-93EA-FBCFBC75392D}" type="pres">
      <dgm:prSet presAssocID="{93045D7B-88C9-48FA-B6BF-E531B69D1FCA}" presName="descendantArrow" presStyleLbl="bgAccFollowNode1" presStyleIdx="3" presStyleCnt="6"/>
      <dgm:spPr/>
    </dgm:pt>
    <dgm:pt modelId="{B7FC14B7-9A30-0344-89D9-F5116DA635EC}" type="pres">
      <dgm:prSet presAssocID="{2CE76F82-15C5-4E46-98AC-5A0C4F5854F4}" presName="sp" presStyleCnt="0"/>
      <dgm:spPr/>
    </dgm:pt>
    <dgm:pt modelId="{BB87752C-C706-464B-A419-A45FCF6607DF}" type="pres">
      <dgm:prSet presAssocID="{B0EA8515-A632-4783-86CE-7CD534E59494}" presName="arrowAndChildren" presStyleCnt="0"/>
      <dgm:spPr/>
    </dgm:pt>
    <dgm:pt modelId="{6FE24FE4-0F7A-7F4D-9F3E-BBB2BEBDCA43}" type="pres">
      <dgm:prSet presAssocID="{B0EA8515-A632-4783-86CE-7CD534E59494}" presName="parentTextArrow" presStyleLbl="node1" presStyleIdx="0" presStyleCnt="0"/>
      <dgm:spPr/>
    </dgm:pt>
    <dgm:pt modelId="{4511A689-E03D-794E-B3E4-4769A266B5E3}" type="pres">
      <dgm:prSet presAssocID="{B0EA8515-A632-4783-86CE-7CD534E59494}" presName="arrow" presStyleLbl="alignNode1" presStyleIdx="4" presStyleCnt="6"/>
      <dgm:spPr/>
    </dgm:pt>
    <dgm:pt modelId="{FB545C25-327E-AB43-8030-89DA39AC2B5F}" type="pres">
      <dgm:prSet presAssocID="{B0EA8515-A632-4783-86CE-7CD534E59494}" presName="descendantArrow" presStyleLbl="bgAccFollowNode1" presStyleIdx="4" presStyleCnt="6"/>
      <dgm:spPr/>
    </dgm:pt>
    <dgm:pt modelId="{4A0B6842-FBDA-B146-96E8-30ABB17614C6}" type="pres">
      <dgm:prSet presAssocID="{FED3325A-EC06-4F1D-9696-8DD4427ECF81}" presName="sp" presStyleCnt="0"/>
      <dgm:spPr/>
    </dgm:pt>
    <dgm:pt modelId="{49E953AD-30F7-7944-A610-AF13BEAD65F4}" type="pres">
      <dgm:prSet presAssocID="{C50D17BC-3E38-4B4E-9207-9AD38A320083}" presName="arrowAndChildren" presStyleCnt="0"/>
      <dgm:spPr/>
    </dgm:pt>
    <dgm:pt modelId="{969611D7-56DF-E444-99DC-A22B2025DE4E}" type="pres">
      <dgm:prSet presAssocID="{C50D17BC-3E38-4B4E-9207-9AD38A320083}" presName="parentTextArrow" presStyleLbl="node1" presStyleIdx="0" presStyleCnt="0"/>
      <dgm:spPr/>
    </dgm:pt>
    <dgm:pt modelId="{3B14010F-2D8D-7B4B-AC33-69CA6AB1CC0A}" type="pres">
      <dgm:prSet presAssocID="{C50D17BC-3E38-4B4E-9207-9AD38A320083}" presName="arrow" presStyleLbl="alignNode1" presStyleIdx="5" presStyleCnt="6"/>
      <dgm:spPr/>
    </dgm:pt>
    <dgm:pt modelId="{23997A55-09B9-B946-AB9F-E964ECD6AEEB}" type="pres">
      <dgm:prSet presAssocID="{C50D17BC-3E38-4B4E-9207-9AD38A320083}" presName="descendantArrow" presStyleLbl="bgAccFollowNode1" presStyleIdx="5" presStyleCnt="6"/>
      <dgm:spPr/>
    </dgm:pt>
  </dgm:ptLst>
  <dgm:cxnLst>
    <dgm:cxn modelId="{F95A5E08-F2C0-6743-B5E2-E517060DD7FD}" type="presOf" srcId="{3BF55CB4-E877-480C-BCBE-8517F2E10A09}" destId="{69F12795-1BF3-AA43-84BA-B663B0E42060}" srcOrd="0" destOrd="0" presId="urn:microsoft.com/office/officeart/2016/7/layout/VerticalDownArrowProcess"/>
    <dgm:cxn modelId="{5C8D4812-3F53-4C5D-A3E3-EEB342FE3DFC}" srcId="{B0EA8515-A632-4783-86CE-7CD534E59494}" destId="{12163C4E-F215-4A54-8E6B-489489F8D997}" srcOrd="0" destOrd="0" parTransId="{7B8590D4-CED0-454A-8FD1-2E415015B16A}" sibTransId="{C3F1095A-B584-4EF8-8746-90CEA82189E0}"/>
    <dgm:cxn modelId="{51715218-9B2F-4C16-8955-A1B95ACC3CEA}" srcId="{BDE5347E-2615-455C-A2E4-C1DC9CC99792}" destId="{B0EA8515-A632-4783-86CE-7CD534E59494}" srcOrd="1" destOrd="0" parTransId="{1127E4F8-63E6-49E8-B773-2D71F600D6F0}" sibTransId="{2CE76F82-15C5-4E46-98AC-5A0C4F5854F4}"/>
    <dgm:cxn modelId="{ADE19325-061E-4187-9DDD-42A9F7945482}" srcId="{93045D7B-88C9-48FA-B6BF-E531B69D1FCA}" destId="{5249E204-0478-4CE0-8722-7B88A128CAD5}" srcOrd="0" destOrd="0" parTransId="{E7945482-8668-4364-94F1-DCBAE772C090}" sibTransId="{6A4C96AD-EBE2-4538-882F-CDCA1500B586}"/>
    <dgm:cxn modelId="{B65AB52B-DC95-3E40-95E4-779A143F0708}" type="presOf" srcId="{12163C4E-F215-4A54-8E6B-489489F8D997}" destId="{FB545C25-327E-AB43-8030-89DA39AC2B5F}" srcOrd="0" destOrd="0" presId="urn:microsoft.com/office/officeart/2016/7/layout/VerticalDownArrowProcess"/>
    <dgm:cxn modelId="{EAD7D12B-AC8C-EC4C-9E80-5A3339C70B25}" type="presOf" srcId="{8F8500C0-5731-46B7-ABCE-4659ED8CA572}" destId="{FCF96409-2B64-764B-AB6F-56460DB833DF}" srcOrd="0" destOrd="0" presId="urn:microsoft.com/office/officeart/2016/7/layout/VerticalDownArrowProcess"/>
    <dgm:cxn modelId="{54936F34-494A-DA42-8AAA-D4BCD0A0B1ED}" type="presOf" srcId="{C50D17BC-3E38-4B4E-9207-9AD38A320083}" destId="{969611D7-56DF-E444-99DC-A22B2025DE4E}" srcOrd="0" destOrd="0" presId="urn:microsoft.com/office/officeart/2016/7/layout/VerticalDownArrowProcess"/>
    <dgm:cxn modelId="{25023A37-AC68-419A-8FB1-9B3D6E814340}" srcId="{E3029B90-F90E-4A24-A888-C347BC73BB50}" destId="{AD5FC687-1822-4613-BBD3-45C0420D549D}" srcOrd="0" destOrd="0" parTransId="{D8DF2F67-F4B8-4118-AEEA-A87B84F1D59A}" sibTransId="{060E0F93-75AF-4A24-8664-742820F1DEDA}"/>
    <dgm:cxn modelId="{3C927337-B236-4202-AD5D-8952C28FF457}" srcId="{BDE5347E-2615-455C-A2E4-C1DC9CC99792}" destId="{E3029B90-F90E-4A24-A888-C347BC73BB50}" srcOrd="4" destOrd="0" parTransId="{E3E861A5-D790-4DE9-9E16-C35CC58E9577}" sibTransId="{C49D6ABA-BC6D-4CF7-B38F-CB4074CAB702}"/>
    <dgm:cxn modelId="{B3080C3B-08DB-2441-AD99-99AC8E3CD7F1}" type="presOf" srcId="{C50D17BC-3E38-4B4E-9207-9AD38A320083}" destId="{3B14010F-2D8D-7B4B-AC33-69CA6AB1CC0A}" srcOrd="1" destOrd="0" presId="urn:microsoft.com/office/officeart/2016/7/layout/VerticalDownArrowProcess"/>
    <dgm:cxn modelId="{7A48D849-8FE9-4FF0-9FD0-7D4838D97B3F}" srcId="{BDE5347E-2615-455C-A2E4-C1DC9CC99792}" destId="{C50D17BC-3E38-4B4E-9207-9AD38A320083}" srcOrd="0" destOrd="0" parTransId="{82EC7E25-59CD-4722-A877-2E3FCE66B112}" sibTransId="{FED3325A-EC06-4F1D-9696-8DD4427ECF81}"/>
    <dgm:cxn modelId="{8106CC51-6928-49E2-9823-1D7693FFF4CE}" srcId="{BDE5347E-2615-455C-A2E4-C1DC9CC99792}" destId="{93045D7B-88C9-48FA-B6BF-E531B69D1FCA}" srcOrd="2" destOrd="0" parTransId="{AA81F643-B0BE-4E26-B54E-0A93479CE93D}" sibTransId="{3228971C-FD32-42BA-8B05-C729CF156C36}"/>
    <dgm:cxn modelId="{C1486A69-9DE3-4F23-98C7-2E70290F1BE9}" srcId="{BDE5347E-2615-455C-A2E4-C1DC9CC99792}" destId="{C1367D37-7B4D-4B96-8F02-779038043660}" srcOrd="3" destOrd="0" parTransId="{59D9B128-935A-4F21-B4FE-962A51839C7F}" sibTransId="{29DE7312-FC21-40BA-BDBD-5486FBE9D801}"/>
    <dgm:cxn modelId="{C01FD36B-888A-A34F-BE66-331956A61A73}" type="presOf" srcId="{E3029B90-F90E-4A24-A888-C347BC73BB50}" destId="{832EFED9-B996-804E-A328-DC62EFED16FC}" srcOrd="0" destOrd="0" presId="urn:microsoft.com/office/officeart/2016/7/layout/VerticalDownArrowProcess"/>
    <dgm:cxn modelId="{6EE79570-7C31-1748-AEBD-14FF44FBA9A0}" type="presOf" srcId="{BDE5347E-2615-455C-A2E4-C1DC9CC99792}" destId="{4F64B103-1163-F244-839F-E4A8D808669C}" srcOrd="0" destOrd="0" presId="urn:microsoft.com/office/officeart/2016/7/layout/VerticalDownArrowProcess"/>
    <dgm:cxn modelId="{2E31C77A-AB24-4746-88D3-5C5C348255BF}" type="presOf" srcId="{DFFFAD07-E733-4AAF-A4A8-3D4D9261C97C}" destId="{23997A55-09B9-B946-AB9F-E964ECD6AEEB}" srcOrd="0" destOrd="0" presId="urn:microsoft.com/office/officeart/2016/7/layout/VerticalDownArrowProcess"/>
    <dgm:cxn modelId="{CF78BA85-AB43-324C-A803-A822A917E308}" type="presOf" srcId="{B0EA8515-A632-4783-86CE-7CD534E59494}" destId="{4511A689-E03D-794E-B3E4-4769A266B5E3}" srcOrd="1" destOrd="0" presId="urn:microsoft.com/office/officeart/2016/7/layout/VerticalDownArrowProcess"/>
    <dgm:cxn modelId="{9791678D-ABFA-FB4D-B984-8BE3FD21A5F4}" type="presOf" srcId="{E3029B90-F90E-4A24-A888-C347BC73BB50}" destId="{CC445F8A-934D-FF42-B77B-BFB712A168A2}" srcOrd="1" destOrd="0" presId="urn:microsoft.com/office/officeart/2016/7/layout/VerticalDownArrowProcess"/>
    <dgm:cxn modelId="{0896B59D-4ECF-2F4A-B86E-6D93148A6A3D}" type="presOf" srcId="{93045D7B-88C9-48FA-B6BF-E531B69D1FCA}" destId="{DA101FA5-9BB6-C146-B29C-04E37B3BC203}" srcOrd="1" destOrd="0" presId="urn:microsoft.com/office/officeart/2016/7/layout/VerticalDownArrowProcess"/>
    <dgm:cxn modelId="{D0E5B8A5-C8A6-B442-BE6E-F2A40AAC97D7}" type="presOf" srcId="{B0EA8515-A632-4783-86CE-7CD534E59494}" destId="{6FE24FE4-0F7A-7F4D-9F3E-BBB2BEBDCA43}" srcOrd="0" destOrd="0" presId="urn:microsoft.com/office/officeart/2016/7/layout/VerticalDownArrowProcess"/>
    <dgm:cxn modelId="{B7E6ADBB-922B-C249-AB8F-F7C3624B8A9F}" type="presOf" srcId="{C1367D37-7B4D-4B96-8F02-779038043660}" destId="{67668B36-5417-FF41-ACE0-0CF8287317AB}" srcOrd="1" destOrd="0" presId="urn:microsoft.com/office/officeart/2016/7/layout/VerticalDownArrowProcess"/>
    <dgm:cxn modelId="{CCD936C6-40BC-C049-9C7D-6202AAB50A3C}" type="presOf" srcId="{5249E204-0478-4CE0-8722-7B88A128CAD5}" destId="{2AC16C13-6F5A-6848-93EA-FBCFBC75392D}" srcOrd="0" destOrd="0" presId="urn:microsoft.com/office/officeart/2016/7/layout/VerticalDownArrowProcess"/>
    <dgm:cxn modelId="{4B6DD9C6-11EA-4B32-8153-87034366A0D2}" srcId="{BDE5347E-2615-455C-A2E4-C1DC9CC99792}" destId="{3BF55CB4-E877-480C-BCBE-8517F2E10A09}" srcOrd="5" destOrd="0" parTransId="{805EBC4D-3A23-403A-9543-0DA44B34126C}" sibTransId="{ABB13786-6BE6-4ED0-9A13-B93FBF52B123}"/>
    <dgm:cxn modelId="{4B113DCA-000B-4EBA-A4E5-2D05EF8B9764}" srcId="{C50D17BC-3E38-4B4E-9207-9AD38A320083}" destId="{DFFFAD07-E733-4AAF-A4A8-3D4D9261C97C}" srcOrd="0" destOrd="0" parTransId="{BC4BCF66-1D1D-4E38-AA8A-4C466294D43C}" sibTransId="{82D3F2EF-A70C-4802-9F6C-E8BBB4876AF7}"/>
    <dgm:cxn modelId="{9721AACE-B724-4A15-9A3E-A348493A32EE}" srcId="{C1367D37-7B4D-4B96-8F02-779038043660}" destId="{8A9B3053-8E22-485B-ADB4-CA4BC83476A8}" srcOrd="0" destOrd="0" parTransId="{12D92C2C-5053-428A-948D-ADB411B46FD3}" sibTransId="{553317E1-BE85-4628-9B4F-8BE456A0CFF2}"/>
    <dgm:cxn modelId="{2C2BB1CF-3643-0347-AC8B-11B7F41433DE}" type="presOf" srcId="{C1367D37-7B4D-4B96-8F02-779038043660}" destId="{87D015DE-BF59-054F-8F8E-63E1917898C1}" srcOrd="0" destOrd="0" presId="urn:microsoft.com/office/officeart/2016/7/layout/VerticalDownArrowProcess"/>
    <dgm:cxn modelId="{078A33D4-1B14-DA4B-8DE1-93F798307242}" type="presOf" srcId="{AD5FC687-1822-4613-BBD3-45C0420D549D}" destId="{E0955077-DD2D-C644-8F5E-A64D1792887D}" srcOrd="0" destOrd="0" presId="urn:microsoft.com/office/officeart/2016/7/layout/VerticalDownArrowProcess"/>
    <dgm:cxn modelId="{FBECE2DB-F345-418B-A9D0-90E40E6706CE}" srcId="{3BF55CB4-E877-480C-BCBE-8517F2E10A09}" destId="{8F8500C0-5731-46B7-ABCE-4659ED8CA572}" srcOrd="0" destOrd="0" parTransId="{733BE4A3-E002-438C-876D-C8E3E93E8B1D}" sibTransId="{50425951-8707-4A82-BE15-20D2F0FB12C7}"/>
    <dgm:cxn modelId="{4E6FFDDD-BE7E-164D-9371-DB18D06BEE2F}" type="presOf" srcId="{93045D7B-88C9-48FA-B6BF-E531B69D1FCA}" destId="{E490E199-DAC6-A343-8056-472B9E982C47}" srcOrd="0" destOrd="0" presId="urn:microsoft.com/office/officeart/2016/7/layout/VerticalDownArrowProcess"/>
    <dgm:cxn modelId="{8B8B62F4-F9A2-9E4F-8F66-362FACE2F33B}" type="presOf" srcId="{8A9B3053-8E22-485B-ADB4-CA4BC83476A8}" destId="{F3844410-4917-194B-93BB-EBF3AEF385CC}" srcOrd="0" destOrd="0" presId="urn:microsoft.com/office/officeart/2016/7/layout/VerticalDownArrowProcess"/>
    <dgm:cxn modelId="{665C7EEA-A9BA-3249-B0AB-CCD59B752569}" type="presParOf" srcId="{4F64B103-1163-F244-839F-E4A8D808669C}" destId="{819961D4-09B8-D647-81C8-75E09AEE4B1D}" srcOrd="0" destOrd="0" presId="urn:microsoft.com/office/officeart/2016/7/layout/VerticalDownArrowProcess"/>
    <dgm:cxn modelId="{E04AD3A3-70FF-3847-811A-C98CA9EC0BB1}" type="presParOf" srcId="{819961D4-09B8-D647-81C8-75E09AEE4B1D}" destId="{69F12795-1BF3-AA43-84BA-B663B0E42060}" srcOrd="0" destOrd="0" presId="urn:microsoft.com/office/officeart/2016/7/layout/VerticalDownArrowProcess"/>
    <dgm:cxn modelId="{D11C4B5A-EEA9-4642-9753-F320EDBF619C}" type="presParOf" srcId="{819961D4-09B8-D647-81C8-75E09AEE4B1D}" destId="{FCF96409-2B64-764B-AB6F-56460DB833DF}" srcOrd="1" destOrd="0" presId="urn:microsoft.com/office/officeart/2016/7/layout/VerticalDownArrowProcess"/>
    <dgm:cxn modelId="{AF5B5E23-2F7D-474C-A111-E90D8925EED4}" type="presParOf" srcId="{4F64B103-1163-F244-839F-E4A8D808669C}" destId="{A8A94692-B59F-994D-A13B-BD5D863DFBEF}" srcOrd="1" destOrd="0" presId="urn:microsoft.com/office/officeart/2016/7/layout/VerticalDownArrowProcess"/>
    <dgm:cxn modelId="{E8482EE4-DE3B-D149-99AD-9F5EDDCC321B}" type="presParOf" srcId="{4F64B103-1163-F244-839F-E4A8D808669C}" destId="{C97491FF-55EF-734A-BD58-E75A6106FABB}" srcOrd="2" destOrd="0" presId="urn:microsoft.com/office/officeart/2016/7/layout/VerticalDownArrowProcess"/>
    <dgm:cxn modelId="{3A7E4533-81C3-F04D-928E-F2E49BC76796}" type="presParOf" srcId="{C97491FF-55EF-734A-BD58-E75A6106FABB}" destId="{832EFED9-B996-804E-A328-DC62EFED16FC}" srcOrd="0" destOrd="0" presId="urn:microsoft.com/office/officeart/2016/7/layout/VerticalDownArrowProcess"/>
    <dgm:cxn modelId="{78C3108C-D5A9-8040-81ED-3087B82F0B13}" type="presParOf" srcId="{C97491FF-55EF-734A-BD58-E75A6106FABB}" destId="{CC445F8A-934D-FF42-B77B-BFB712A168A2}" srcOrd="1" destOrd="0" presId="urn:microsoft.com/office/officeart/2016/7/layout/VerticalDownArrowProcess"/>
    <dgm:cxn modelId="{C5E3FC45-DB5E-AF41-AF99-1FB0FA33609E}" type="presParOf" srcId="{C97491FF-55EF-734A-BD58-E75A6106FABB}" destId="{E0955077-DD2D-C644-8F5E-A64D1792887D}" srcOrd="2" destOrd="0" presId="urn:microsoft.com/office/officeart/2016/7/layout/VerticalDownArrowProcess"/>
    <dgm:cxn modelId="{D4DF3345-0F1B-E045-8976-FD6BC0B26AFD}" type="presParOf" srcId="{4F64B103-1163-F244-839F-E4A8D808669C}" destId="{D0A0E6E6-8F15-1F4E-BD48-D9A85D083D68}" srcOrd="3" destOrd="0" presId="urn:microsoft.com/office/officeart/2016/7/layout/VerticalDownArrowProcess"/>
    <dgm:cxn modelId="{88BA3B2B-15BA-024E-9C25-31B24790FE28}" type="presParOf" srcId="{4F64B103-1163-F244-839F-E4A8D808669C}" destId="{15D4B45D-1710-0846-8433-4FAFB2887BE0}" srcOrd="4" destOrd="0" presId="urn:microsoft.com/office/officeart/2016/7/layout/VerticalDownArrowProcess"/>
    <dgm:cxn modelId="{74C40DE1-2012-5B47-9A6E-EA915BB6F0F6}" type="presParOf" srcId="{15D4B45D-1710-0846-8433-4FAFB2887BE0}" destId="{87D015DE-BF59-054F-8F8E-63E1917898C1}" srcOrd="0" destOrd="0" presId="urn:microsoft.com/office/officeart/2016/7/layout/VerticalDownArrowProcess"/>
    <dgm:cxn modelId="{85347B00-DA18-6D47-BD52-A995BA19E13A}" type="presParOf" srcId="{15D4B45D-1710-0846-8433-4FAFB2887BE0}" destId="{67668B36-5417-FF41-ACE0-0CF8287317AB}" srcOrd="1" destOrd="0" presId="urn:microsoft.com/office/officeart/2016/7/layout/VerticalDownArrowProcess"/>
    <dgm:cxn modelId="{480FBC21-B9D9-F549-9832-992656293587}" type="presParOf" srcId="{15D4B45D-1710-0846-8433-4FAFB2887BE0}" destId="{F3844410-4917-194B-93BB-EBF3AEF385CC}" srcOrd="2" destOrd="0" presId="urn:microsoft.com/office/officeart/2016/7/layout/VerticalDownArrowProcess"/>
    <dgm:cxn modelId="{455A20EC-028F-2A4B-8749-BC1D74CF7A7C}" type="presParOf" srcId="{4F64B103-1163-F244-839F-E4A8D808669C}" destId="{6DA1D152-034B-CA43-A8E4-86C827C88742}" srcOrd="5" destOrd="0" presId="urn:microsoft.com/office/officeart/2016/7/layout/VerticalDownArrowProcess"/>
    <dgm:cxn modelId="{D54DD8F2-092F-434D-AA39-A8E49002E3E0}" type="presParOf" srcId="{4F64B103-1163-F244-839F-E4A8D808669C}" destId="{922BAEF0-4637-4646-8614-B2B68D6152C6}" srcOrd="6" destOrd="0" presId="urn:microsoft.com/office/officeart/2016/7/layout/VerticalDownArrowProcess"/>
    <dgm:cxn modelId="{179BE3EA-536D-4F4B-A445-BA934C8B4223}" type="presParOf" srcId="{922BAEF0-4637-4646-8614-B2B68D6152C6}" destId="{E490E199-DAC6-A343-8056-472B9E982C47}" srcOrd="0" destOrd="0" presId="urn:microsoft.com/office/officeart/2016/7/layout/VerticalDownArrowProcess"/>
    <dgm:cxn modelId="{F11A2F82-8BCF-9144-B083-ABB925B13309}" type="presParOf" srcId="{922BAEF0-4637-4646-8614-B2B68D6152C6}" destId="{DA101FA5-9BB6-C146-B29C-04E37B3BC203}" srcOrd="1" destOrd="0" presId="urn:microsoft.com/office/officeart/2016/7/layout/VerticalDownArrowProcess"/>
    <dgm:cxn modelId="{5CE81DF2-854C-EA4E-AFA3-022606D6362A}" type="presParOf" srcId="{922BAEF0-4637-4646-8614-B2B68D6152C6}" destId="{2AC16C13-6F5A-6848-93EA-FBCFBC75392D}" srcOrd="2" destOrd="0" presId="urn:microsoft.com/office/officeart/2016/7/layout/VerticalDownArrowProcess"/>
    <dgm:cxn modelId="{95ED06BD-DCA8-CB40-8029-3B3CE34EA310}" type="presParOf" srcId="{4F64B103-1163-F244-839F-E4A8D808669C}" destId="{B7FC14B7-9A30-0344-89D9-F5116DA635EC}" srcOrd="7" destOrd="0" presId="urn:microsoft.com/office/officeart/2016/7/layout/VerticalDownArrowProcess"/>
    <dgm:cxn modelId="{455162F4-E82B-2748-8453-E3533CC06327}" type="presParOf" srcId="{4F64B103-1163-F244-839F-E4A8D808669C}" destId="{BB87752C-C706-464B-A419-A45FCF6607DF}" srcOrd="8" destOrd="0" presId="urn:microsoft.com/office/officeart/2016/7/layout/VerticalDownArrowProcess"/>
    <dgm:cxn modelId="{22A81952-BF9A-2B41-9891-84AACDD501C1}" type="presParOf" srcId="{BB87752C-C706-464B-A419-A45FCF6607DF}" destId="{6FE24FE4-0F7A-7F4D-9F3E-BBB2BEBDCA43}" srcOrd="0" destOrd="0" presId="urn:microsoft.com/office/officeart/2016/7/layout/VerticalDownArrowProcess"/>
    <dgm:cxn modelId="{91E0F754-99D5-6D44-9473-F6E004D3A6F2}" type="presParOf" srcId="{BB87752C-C706-464B-A419-A45FCF6607DF}" destId="{4511A689-E03D-794E-B3E4-4769A266B5E3}" srcOrd="1" destOrd="0" presId="urn:microsoft.com/office/officeart/2016/7/layout/VerticalDownArrowProcess"/>
    <dgm:cxn modelId="{60A1F60F-CC0B-A641-A871-3028AF3838D3}" type="presParOf" srcId="{BB87752C-C706-464B-A419-A45FCF6607DF}" destId="{FB545C25-327E-AB43-8030-89DA39AC2B5F}" srcOrd="2" destOrd="0" presId="urn:microsoft.com/office/officeart/2016/7/layout/VerticalDownArrowProcess"/>
    <dgm:cxn modelId="{93231AFF-53C0-F84C-8E60-3CA5D6F3DF0C}" type="presParOf" srcId="{4F64B103-1163-F244-839F-E4A8D808669C}" destId="{4A0B6842-FBDA-B146-96E8-30ABB17614C6}" srcOrd="9" destOrd="0" presId="urn:microsoft.com/office/officeart/2016/7/layout/VerticalDownArrowProcess"/>
    <dgm:cxn modelId="{37387ADD-D731-2642-BCD7-878CDDAEE15C}" type="presParOf" srcId="{4F64B103-1163-F244-839F-E4A8D808669C}" destId="{49E953AD-30F7-7944-A610-AF13BEAD65F4}" srcOrd="10" destOrd="0" presId="urn:microsoft.com/office/officeart/2016/7/layout/VerticalDownArrowProcess"/>
    <dgm:cxn modelId="{6D61382D-CD3A-994E-98D6-880AB38AACA0}" type="presParOf" srcId="{49E953AD-30F7-7944-A610-AF13BEAD65F4}" destId="{969611D7-56DF-E444-99DC-A22B2025DE4E}" srcOrd="0" destOrd="0" presId="urn:microsoft.com/office/officeart/2016/7/layout/VerticalDownArrowProcess"/>
    <dgm:cxn modelId="{5C265731-E3AE-A74E-BB6C-A356CF723C94}" type="presParOf" srcId="{49E953AD-30F7-7944-A610-AF13BEAD65F4}" destId="{3B14010F-2D8D-7B4B-AC33-69CA6AB1CC0A}" srcOrd="1" destOrd="0" presId="urn:microsoft.com/office/officeart/2016/7/layout/VerticalDownArrowProcess"/>
    <dgm:cxn modelId="{184E5757-D87F-8C4B-8CD8-601AD515C654}" type="presParOf" srcId="{49E953AD-30F7-7944-A610-AF13BEAD65F4}" destId="{23997A55-09B9-B946-AB9F-E964ECD6AEEB}" srcOrd="2" destOrd="0" presId="urn:microsoft.com/office/officeart/2016/7/layout/VerticalDown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1C8F284-0482-429B-8763-A36E1F2AA18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98D4907-F523-4897-AD30-75CEE3E52C37}">
      <dgm:prSet/>
      <dgm:spPr/>
      <dgm:t>
        <a:bodyPr/>
        <a:lstStyle/>
        <a:p>
          <a:r>
            <a:rPr lang="en-US"/>
            <a:t>Pure rules → unit tests</a:t>
          </a:r>
        </a:p>
      </dgm:t>
    </dgm:pt>
    <dgm:pt modelId="{5FDBD45C-0AD2-4F92-AE98-13EB91B76BD1}" type="parTrans" cxnId="{3631F9FC-BF9A-4452-857A-6575B71DB27A}">
      <dgm:prSet/>
      <dgm:spPr/>
      <dgm:t>
        <a:bodyPr/>
        <a:lstStyle/>
        <a:p>
          <a:endParaRPr lang="en-US"/>
        </a:p>
      </dgm:t>
    </dgm:pt>
    <dgm:pt modelId="{920BEE67-81E9-40BA-8082-B2EAD1142983}" type="sibTrans" cxnId="{3631F9FC-BF9A-4452-857A-6575B71DB27A}">
      <dgm:prSet/>
      <dgm:spPr/>
      <dgm:t>
        <a:bodyPr/>
        <a:lstStyle/>
        <a:p>
          <a:endParaRPr lang="en-US"/>
        </a:p>
      </dgm:t>
    </dgm:pt>
    <dgm:pt modelId="{E364D8EE-3B51-401F-92C6-85BF620C1C85}">
      <dgm:prSet/>
      <dgm:spPr/>
      <dgm:t>
        <a:bodyPr/>
        <a:lstStyle/>
        <a:p>
          <a:r>
            <a:rPr lang="en-US"/>
            <a:t>Workflows → service/API tests</a:t>
          </a:r>
        </a:p>
      </dgm:t>
    </dgm:pt>
    <dgm:pt modelId="{713EA57D-468B-4ADA-B6B7-E5728E73C15A}" type="parTrans" cxnId="{2B1B7763-7DB4-4739-90C9-EFE436DA4C06}">
      <dgm:prSet/>
      <dgm:spPr/>
      <dgm:t>
        <a:bodyPr/>
        <a:lstStyle/>
        <a:p>
          <a:endParaRPr lang="en-US"/>
        </a:p>
      </dgm:t>
    </dgm:pt>
    <dgm:pt modelId="{618677BC-0A7A-44A5-A278-E63076696B27}" type="sibTrans" cxnId="{2B1B7763-7DB4-4739-90C9-EFE436DA4C06}">
      <dgm:prSet/>
      <dgm:spPr/>
      <dgm:t>
        <a:bodyPr/>
        <a:lstStyle/>
        <a:p>
          <a:endParaRPr lang="en-US"/>
        </a:p>
      </dgm:t>
    </dgm:pt>
    <dgm:pt modelId="{A28472DD-3EA8-40CC-B0ED-D50F6D1CF9CF}">
      <dgm:prSet/>
      <dgm:spPr/>
      <dgm:t>
        <a:bodyPr/>
        <a:lstStyle/>
        <a:p>
          <a:r>
            <a:rPr lang="en-US"/>
            <a:t>Customer confidence → a few UI scenarios</a:t>
          </a:r>
        </a:p>
      </dgm:t>
    </dgm:pt>
    <dgm:pt modelId="{A697F4AE-DF3B-4395-BEA9-BE97899571AE}" type="parTrans" cxnId="{4757E970-B6DD-4F31-9435-A39B8C4E6372}">
      <dgm:prSet/>
      <dgm:spPr/>
      <dgm:t>
        <a:bodyPr/>
        <a:lstStyle/>
        <a:p>
          <a:endParaRPr lang="en-US"/>
        </a:p>
      </dgm:t>
    </dgm:pt>
    <dgm:pt modelId="{1C53C5FA-28D2-4FF6-8938-CF6F716A810B}" type="sibTrans" cxnId="{4757E970-B6DD-4F31-9435-A39B8C4E6372}">
      <dgm:prSet/>
      <dgm:spPr/>
      <dgm:t>
        <a:bodyPr/>
        <a:lstStyle/>
        <a:p>
          <a:endParaRPr lang="en-US"/>
        </a:p>
      </dgm:t>
    </dgm:pt>
    <dgm:pt modelId="{BD08401B-09B2-4279-858F-5512EA8A24A2}" type="pres">
      <dgm:prSet presAssocID="{D1C8F284-0482-429B-8763-A36E1F2AA185}" presName="root" presStyleCnt="0">
        <dgm:presLayoutVars>
          <dgm:dir/>
          <dgm:resizeHandles val="exact"/>
        </dgm:presLayoutVars>
      </dgm:prSet>
      <dgm:spPr/>
    </dgm:pt>
    <dgm:pt modelId="{C9793212-DD4E-4610-8199-11D5AF632159}" type="pres">
      <dgm:prSet presAssocID="{998D4907-F523-4897-AD30-75CEE3E52C37}" presName="compNode" presStyleCnt="0"/>
      <dgm:spPr/>
    </dgm:pt>
    <dgm:pt modelId="{ABB7AAA9-D251-4BEB-B0F9-E3C78704F4EC}" type="pres">
      <dgm:prSet presAssocID="{998D4907-F523-4897-AD30-75CEE3E52C37}" presName="bgRect" presStyleLbl="bgShp" presStyleIdx="0" presStyleCnt="3"/>
      <dgm:spPr/>
    </dgm:pt>
    <dgm:pt modelId="{D48506FA-4E06-48BE-AEA1-374F4B8A4875}" type="pres">
      <dgm:prSet presAssocID="{998D4907-F523-4897-AD30-75CEE3E52C3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924FA3BD-C30E-46BC-8571-62C73B9B8076}" type="pres">
      <dgm:prSet presAssocID="{998D4907-F523-4897-AD30-75CEE3E52C37}" presName="spaceRect" presStyleCnt="0"/>
      <dgm:spPr/>
    </dgm:pt>
    <dgm:pt modelId="{48AC8457-A7BC-441D-B010-57646D8DADFF}" type="pres">
      <dgm:prSet presAssocID="{998D4907-F523-4897-AD30-75CEE3E52C37}" presName="parTx" presStyleLbl="revTx" presStyleIdx="0" presStyleCnt="3">
        <dgm:presLayoutVars>
          <dgm:chMax val="0"/>
          <dgm:chPref val="0"/>
        </dgm:presLayoutVars>
      </dgm:prSet>
      <dgm:spPr/>
    </dgm:pt>
    <dgm:pt modelId="{6CF5698D-0C20-4D8A-8159-6E85C90A86DE}" type="pres">
      <dgm:prSet presAssocID="{920BEE67-81E9-40BA-8082-B2EAD1142983}" presName="sibTrans" presStyleCnt="0"/>
      <dgm:spPr/>
    </dgm:pt>
    <dgm:pt modelId="{6D0E4E97-1723-4E7A-884A-6EA5C4F1073F}" type="pres">
      <dgm:prSet presAssocID="{E364D8EE-3B51-401F-92C6-85BF620C1C85}" presName="compNode" presStyleCnt="0"/>
      <dgm:spPr/>
    </dgm:pt>
    <dgm:pt modelId="{65501DCE-9BF5-4F80-8E32-A07B2F284170}" type="pres">
      <dgm:prSet presAssocID="{E364D8EE-3B51-401F-92C6-85BF620C1C85}" presName="bgRect" presStyleLbl="bgShp" presStyleIdx="1" presStyleCnt="3"/>
      <dgm:spPr/>
    </dgm:pt>
    <dgm:pt modelId="{E4449A36-43BD-408D-A870-BE9829768457}" type="pres">
      <dgm:prSet presAssocID="{E364D8EE-3B51-401F-92C6-85BF620C1C8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689193F6-F4A2-4057-88BD-85F4A9C05C8E}" type="pres">
      <dgm:prSet presAssocID="{E364D8EE-3B51-401F-92C6-85BF620C1C85}" presName="spaceRect" presStyleCnt="0"/>
      <dgm:spPr/>
    </dgm:pt>
    <dgm:pt modelId="{876B61DF-67B6-44E0-9BBF-6FEFF13AC1E3}" type="pres">
      <dgm:prSet presAssocID="{E364D8EE-3B51-401F-92C6-85BF620C1C85}" presName="parTx" presStyleLbl="revTx" presStyleIdx="1" presStyleCnt="3">
        <dgm:presLayoutVars>
          <dgm:chMax val="0"/>
          <dgm:chPref val="0"/>
        </dgm:presLayoutVars>
      </dgm:prSet>
      <dgm:spPr/>
    </dgm:pt>
    <dgm:pt modelId="{D56DC502-CE72-4486-A51E-BF7BB46D9E73}" type="pres">
      <dgm:prSet presAssocID="{618677BC-0A7A-44A5-A278-E63076696B27}" presName="sibTrans" presStyleCnt="0"/>
      <dgm:spPr/>
    </dgm:pt>
    <dgm:pt modelId="{8A9D3653-1F48-404C-8158-FDEA68572B78}" type="pres">
      <dgm:prSet presAssocID="{A28472DD-3EA8-40CC-B0ED-D50F6D1CF9CF}" presName="compNode" presStyleCnt="0"/>
      <dgm:spPr/>
    </dgm:pt>
    <dgm:pt modelId="{1950BC06-CE90-4583-805C-FA16E659AB68}" type="pres">
      <dgm:prSet presAssocID="{A28472DD-3EA8-40CC-B0ED-D50F6D1CF9CF}" presName="bgRect" presStyleLbl="bgShp" presStyleIdx="2" presStyleCnt="3"/>
      <dgm:spPr/>
    </dgm:pt>
    <dgm:pt modelId="{33D57175-B46F-46B1-A305-B5BFFE740B45}" type="pres">
      <dgm:prSet presAssocID="{A28472DD-3EA8-40CC-B0ED-D50F6D1CF9C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
        </a:ext>
      </dgm:extLst>
    </dgm:pt>
    <dgm:pt modelId="{BEF6EE1F-FDBA-4B13-A130-DB71BD027DCE}" type="pres">
      <dgm:prSet presAssocID="{A28472DD-3EA8-40CC-B0ED-D50F6D1CF9CF}" presName="spaceRect" presStyleCnt="0"/>
      <dgm:spPr/>
    </dgm:pt>
    <dgm:pt modelId="{A46A8CC2-4ACD-452D-B7FD-B1B23A226244}" type="pres">
      <dgm:prSet presAssocID="{A28472DD-3EA8-40CC-B0ED-D50F6D1CF9CF}" presName="parTx" presStyleLbl="revTx" presStyleIdx="2" presStyleCnt="3">
        <dgm:presLayoutVars>
          <dgm:chMax val="0"/>
          <dgm:chPref val="0"/>
        </dgm:presLayoutVars>
      </dgm:prSet>
      <dgm:spPr/>
    </dgm:pt>
  </dgm:ptLst>
  <dgm:cxnLst>
    <dgm:cxn modelId="{D6BA7500-2CDA-4609-BF1C-91F3800A744C}" type="presOf" srcId="{E364D8EE-3B51-401F-92C6-85BF620C1C85}" destId="{876B61DF-67B6-44E0-9BBF-6FEFF13AC1E3}" srcOrd="0" destOrd="0" presId="urn:microsoft.com/office/officeart/2018/2/layout/IconVerticalSolidList"/>
    <dgm:cxn modelId="{FAE82056-36B6-4C7D-9222-5E6C365DA895}" type="presOf" srcId="{998D4907-F523-4897-AD30-75CEE3E52C37}" destId="{48AC8457-A7BC-441D-B010-57646D8DADFF}" srcOrd="0" destOrd="0" presId="urn:microsoft.com/office/officeart/2018/2/layout/IconVerticalSolidList"/>
    <dgm:cxn modelId="{2B1B7763-7DB4-4739-90C9-EFE436DA4C06}" srcId="{D1C8F284-0482-429B-8763-A36E1F2AA185}" destId="{E364D8EE-3B51-401F-92C6-85BF620C1C85}" srcOrd="1" destOrd="0" parTransId="{713EA57D-468B-4ADA-B6B7-E5728E73C15A}" sibTransId="{618677BC-0A7A-44A5-A278-E63076696B27}"/>
    <dgm:cxn modelId="{4757E970-B6DD-4F31-9435-A39B8C4E6372}" srcId="{D1C8F284-0482-429B-8763-A36E1F2AA185}" destId="{A28472DD-3EA8-40CC-B0ED-D50F6D1CF9CF}" srcOrd="2" destOrd="0" parTransId="{A697F4AE-DF3B-4395-BEA9-BE97899571AE}" sibTransId="{1C53C5FA-28D2-4FF6-8938-CF6F716A810B}"/>
    <dgm:cxn modelId="{F43485A0-F794-4F92-86C3-417035FB616F}" type="presOf" srcId="{A28472DD-3EA8-40CC-B0ED-D50F6D1CF9CF}" destId="{A46A8CC2-4ACD-452D-B7FD-B1B23A226244}" srcOrd="0" destOrd="0" presId="urn:microsoft.com/office/officeart/2018/2/layout/IconVerticalSolidList"/>
    <dgm:cxn modelId="{C3A38DD1-CFC9-418D-A842-2ED64DD4AFD3}" type="presOf" srcId="{D1C8F284-0482-429B-8763-A36E1F2AA185}" destId="{BD08401B-09B2-4279-858F-5512EA8A24A2}" srcOrd="0" destOrd="0" presId="urn:microsoft.com/office/officeart/2018/2/layout/IconVerticalSolidList"/>
    <dgm:cxn modelId="{3631F9FC-BF9A-4452-857A-6575B71DB27A}" srcId="{D1C8F284-0482-429B-8763-A36E1F2AA185}" destId="{998D4907-F523-4897-AD30-75CEE3E52C37}" srcOrd="0" destOrd="0" parTransId="{5FDBD45C-0AD2-4F92-AE98-13EB91B76BD1}" sibTransId="{920BEE67-81E9-40BA-8082-B2EAD1142983}"/>
    <dgm:cxn modelId="{C84CA1F1-6189-45F1-8AD7-D25C374F340D}" type="presParOf" srcId="{BD08401B-09B2-4279-858F-5512EA8A24A2}" destId="{C9793212-DD4E-4610-8199-11D5AF632159}" srcOrd="0" destOrd="0" presId="urn:microsoft.com/office/officeart/2018/2/layout/IconVerticalSolidList"/>
    <dgm:cxn modelId="{C1D017D8-01AB-483D-9C41-7DB2CC625391}" type="presParOf" srcId="{C9793212-DD4E-4610-8199-11D5AF632159}" destId="{ABB7AAA9-D251-4BEB-B0F9-E3C78704F4EC}" srcOrd="0" destOrd="0" presId="urn:microsoft.com/office/officeart/2018/2/layout/IconVerticalSolidList"/>
    <dgm:cxn modelId="{8548E34F-9850-484E-B41D-404E96A334FC}" type="presParOf" srcId="{C9793212-DD4E-4610-8199-11D5AF632159}" destId="{D48506FA-4E06-48BE-AEA1-374F4B8A4875}" srcOrd="1" destOrd="0" presId="urn:microsoft.com/office/officeart/2018/2/layout/IconVerticalSolidList"/>
    <dgm:cxn modelId="{6351CA19-C07A-4884-973C-756F96120C08}" type="presParOf" srcId="{C9793212-DD4E-4610-8199-11D5AF632159}" destId="{924FA3BD-C30E-46BC-8571-62C73B9B8076}" srcOrd="2" destOrd="0" presId="urn:microsoft.com/office/officeart/2018/2/layout/IconVerticalSolidList"/>
    <dgm:cxn modelId="{F7F4BEF8-ABB7-43B8-87A6-088ACEA8FF0E}" type="presParOf" srcId="{C9793212-DD4E-4610-8199-11D5AF632159}" destId="{48AC8457-A7BC-441D-B010-57646D8DADFF}" srcOrd="3" destOrd="0" presId="urn:microsoft.com/office/officeart/2018/2/layout/IconVerticalSolidList"/>
    <dgm:cxn modelId="{2FDC6CAA-6CED-407E-8D47-EBA298733DD1}" type="presParOf" srcId="{BD08401B-09B2-4279-858F-5512EA8A24A2}" destId="{6CF5698D-0C20-4D8A-8159-6E85C90A86DE}" srcOrd="1" destOrd="0" presId="urn:microsoft.com/office/officeart/2018/2/layout/IconVerticalSolidList"/>
    <dgm:cxn modelId="{2DD9AF17-2D32-4DF6-BA95-4321592E9DCC}" type="presParOf" srcId="{BD08401B-09B2-4279-858F-5512EA8A24A2}" destId="{6D0E4E97-1723-4E7A-884A-6EA5C4F1073F}" srcOrd="2" destOrd="0" presId="urn:microsoft.com/office/officeart/2018/2/layout/IconVerticalSolidList"/>
    <dgm:cxn modelId="{3BEDE911-59C1-4032-89DD-3D5444F6C435}" type="presParOf" srcId="{6D0E4E97-1723-4E7A-884A-6EA5C4F1073F}" destId="{65501DCE-9BF5-4F80-8E32-A07B2F284170}" srcOrd="0" destOrd="0" presId="urn:microsoft.com/office/officeart/2018/2/layout/IconVerticalSolidList"/>
    <dgm:cxn modelId="{306ADE38-8932-4CF3-B1D4-55621503B81F}" type="presParOf" srcId="{6D0E4E97-1723-4E7A-884A-6EA5C4F1073F}" destId="{E4449A36-43BD-408D-A870-BE9829768457}" srcOrd="1" destOrd="0" presId="urn:microsoft.com/office/officeart/2018/2/layout/IconVerticalSolidList"/>
    <dgm:cxn modelId="{ECA21AF2-B7C8-438B-B170-CDFA151104B3}" type="presParOf" srcId="{6D0E4E97-1723-4E7A-884A-6EA5C4F1073F}" destId="{689193F6-F4A2-4057-88BD-85F4A9C05C8E}" srcOrd="2" destOrd="0" presId="urn:microsoft.com/office/officeart/2018/2/layout/IconVerticalSolidList"/>
    <dgm:cxn modelId="{5A6E7A32-A1EA-4E6B-8472-0FB3C5364A1E}" type="presParOf" srcId="{6D0E4E97-1723-4E7A-884A-6EA5C4F1073F}" destId="{876B61DF-67B6-44E0-9BBF-6FEFF13AC1E3}" srcOrd="3" destOrd="0" presId="urn:microsoft.com/office/officeart/2018/2/layout/IconVerticalSolidList"/>
    <dgm:cxn modelId="{A39A4C98-A856-4F38-9DFE-0E4622954ED6}" type="presParOf" srcId="{BD08401B-09B2-4279-858F-5512EA8A24A2}" destId="{D56DC502-CE72-4486-A51E-BF7BB46D9E73}" srcOrd="3" destOrd="0" presId="urn:microsoft.com/office/officeart/2018/2/layout/IconVerticalSolidList"/>
    <dgm:cxn modelId="{91BFDB2F-9E81-487D-BADB-CA9F7E709AD0}" type="presParOf" srcId="{BD08401B-09B2-4279-858F-5512EA8A24A2}" destId="{8A9D3653-1F48-404C-8158-FDEA68572B78}" srcOrd="4" destOrd="0" presId="urn:microsoft.com/office/officeart/2018/2/layout/IconVerticalSolidList"/>
    <dgm:cxn modelId="{C243AA4B-AAAB-48C8-B95D-0AAAC5DC7037}" type="presParOf" srcId="{8A9D3653-1F48-404C-8158-FDEA68572B78}" destId="{1950BC06-CE90-4583-805C-FA16E659AB68}" srcOrd="0" destOrd="0" presId="urn:microsoft.com/office/officeart/2018/2/layout/IconVerticalSolidList"/>
    <dgm:cxn modelId="{EFD3515D-40AE-4179-928F-466202BB3499}" type="presParOf" srcId="{8A9D3653-1F48-404C-8158-FDEA68572B78}" destId="{33D57175-B46F-46B1-A305-B5BFFE740B45}" srcOrd="1" destOrd="0" presId="urn:microsoft.com/office/officeart/2018/2/layout/IconVerticalSolidList"/>
    <dgm:cxn modelId="{8D38328C-8AE5-40DF-942F-BF6BEBE7DCD6}" type="presParOf" srcId="{8A9D3653-1F48-404C-8158-FDEA68572B78}" destId="{BEF6EE1F-FDBA-4B13-A130-DB71BD027DCE}" srcOrd="2" destOrd="0" presId="urn:microsoft.com/office/officeart/2018/2/layout/IconVerticalSolidList"/>
    <dgm:cxn modelId="{5852AC5C-5041-4925-920B-DC9C27D551D5}" type="presParOf" srcId="{8A9D3653-1F48-404C-8158-FDEA68572B78}" destId="{A46A8CC2-4ACD-452D-B7FD-B1B23A22624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25B112BA-E471-41E5-936C-DC54180331C2}"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027A644-EE31-4FEC-A255-26DBF439F8C4}">
      <dgm:prSet/>
      <dgm:spPr/>
      <dgm:t>
        <a:bodyPr/>
        <a:lstStyle/>
        <a:p>
          <a:pPr>
            <a:defRPr cap="all"/>
          </a:pPr>
          <a:r>
            <a:rPr lang="en-US"/>
            <a:t>Run behavior checks in CI</a:t>
          </a:r>
        </a:p>
      </dgm:t>
    </dgm:pt>
    <dgm:pt modelId="{743371E7-DADD-4088-89FA-76167DA74A0A}" type="parTrans" cxnId="{5FD02FE6-88A3-4E3C-9DEF-F4FFFA3E3570}">
      <dgm:prSet/>
      <dgm:spPr/>
      <dgm:t>
        <a:bodyPr/>
        <a:lstStyle/>
        <a:p>
          <a:endParaRPr lang="en-US"/>
        </a:p>
      </dgm:t>
    </dgm:pt>
    <dgm:pt modelId="{2C1FCAC7-FC29-4F49-8F7F-504CAB71D7EE}" type="sibTrans" cxnId="{5FD02FE6-88A3-4E3C-9DEF-F4FFFA3E3570}">
      <dgm:prSet/>
      <dgm:spPr/>
      <dgm:t>
        <a:bodyPr/>
        <a:lstStyle/>
        <a:p>
          <a:endParaRPr lang="en-US"/>
        </a:p>
      </dgm:t>
    </dgm:pt>
    <dgm:pt modelId="{C528E0A6-0638-4841-969E-913A60C191A0}">
      <dgm:prSet/>
      <dgm:spPr/>
      <dgm:t>
        <a:bodyPr/>
        <a:lstStyle/>
        <a:p>
          <a:pPr>
            <a:defRPr cap="all"/>
          </a:pPr>
          <a:r>
            <a:rPr lang="en-US"/>
            <a:t>Publish readable reports if helpful</a:t>
          </a:r>
        </a:p>
      </dgm:t>
    </dgm:pt>
    <dgm:pt modelId="{C6663D8F-219C-45D6-9D94-DE5D9BB9D9A5}" type="parTrans" cxnId="{636CE22B-16FA-4A72-BA0F-E414B0BF4BE2}">
      <dgm:prSet/>
      <dgm:spPr/>
      <dgm:t>
        <a:bodyPr/>
        <a:lstStyle/>
        <a:p>
          <a:endParaRPr lang="en-US"/>
        </a:p>
      </dgm:t>
    </dgm:pt>
    <dgm:pt modelId="{4CF8E6A8-C1AF-40F8-96A2-C53618FE603D}" type="sibTrans" cxnId="{636CE22B-16FA-4A72-BA0F-E414B0BF4BE2}">
      <dgm:prSet/>
      <dgm:spPr/>
      <dgm:t>
        <a:bodyPr/>
        <a:lstStyle/>
        <a:p>
          <a:endParaRPr lang="en-US"/>
        </a:p>
      </dgm:t>
    </dgm:pt>
    <dgm:pt modelId="{2B74EA94-679D-4F00-B4E3-91CC40196B30}">
      <dgm:prSet/>
      <dgm:spPr/>
      <dgm:t>
        <a:bodyPr/>
        <a:lstStyle/>
        <a:p>
          <a:pPr>
            <a:defRPr cap="all"/>
          </a:pPr>
          <a:r>
            <a:rPr lang="en-US"/>
            <a:t>Keep scenarios maintained, or they become misleading</a:t>
          </a:r>
        </a:p>
      </dgm:t>
    </dgm:pt>
    <dgm:pt modelId="{D2AA41F8-E41F-4A9D-8AB4-A6FB39FBEF3B}" type="parTrans" cxnId="{534E4836-8A3F-4EE9-8BBA-4DA3572704E3}">
      <dgm:prSet/>
      <dgm:spPr/>
      <dgm:t>
        <a:bodyPr/>
        <a:lstStyle/>
        <a:p>
          <a:endParaRPr lang="en-US"/>
        </a:p>
      </dgm:t>
    </dgm:pt>
    <dgm:pt modelId="{DD951CFB-1AB4-4CF5-80D5-212E6298CD14}" type="sibTrans" cxnId="{534E4836-8A3F-4EE9-8BBA-4DA3572704E3}">
      <dgm:prSet/>
      <dgm:spPr/>
      <dgm:t>
        <a:bodyPr/>
        <a:lstStyle/>
        <a:p>
          <a:endParaRPr lang="en-US"/>
        </a:p>
      </dgm:t>
    </dgm:pt>
    <dgm:pt modelId="{104BB5C7-476A-45FF-AC36-15FAE412097D}" type="pres">
      <dgm:prSet presAssocID="{25B112BA-E471-41E5-936C-DC54180331C2}" presName="root" presStyleCnt="0">
        <dgm:presLayoutVars>
          <dgm:dir/>
          <dgm:resizeHandles val="exact"/>
        </dgm:presLayoutVars>
      </dgm:prSet>
      <dgm:spPr/>
    </dgm:pt>
    <dgm:pt modelId="{0875E0B0-EF60-42AB-A4DB-45BA8C053744}" type="pres">
      <dgm:prSet presAssocID="{3027A644-EE31-4FEC-A255-26DBF439F8C4}" presName="compNode" presStyleCnt="0"/>
      <dgm:spPr/>
    </dgm:pt>
    <dgm:pt modelId="{894838C4-EDEF-4F72-B160-D286EC898D2B}" type="pres">
      <dgm:prSet presAssocID="{3027A644-EE31-4FEC-A255-26DBF439F8C4}" presName="iconBgRect" presStyleLbl="bgShp" presStyleIdx="0" presStyleCnt="3"/>
      <dgm:spPr>
        <a:prstGeom prst="round2DiagRect">
          <a:avLst>
            <a:gd name="adj1" fmla="val 29727"/>
            <a:gd name="adj2" fmla="val 0"/>
          </a:avLst>
        </a:prstGeom>
      </dgm:spPr>
    </dgm:pt>
    <dgm:pt modelId="{F2D72E4A-C84C-4B66-8DFE-59F181952834}" type="pres">
      <dgm:prSet presAssocID="{3027A644-EE31-4FEC-A255-26DBF439F8C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5D855B90-E50C-4C23-AEBE-D254FC2981D1}" type="pres">
      <dgm:prSet presAssocID="{3027A644-EE31-4FEC-A255-26DBF439F8C4}" presName="spaceRect" presStyleCnt="0"/>
      <dgm:spPr/>
    </dgm:pt>
    <dgm:pt modelId="{9A5E1453-66FE-43A6-9A1B-BAC114392805}" type="pres">
      <dgm:prSet presAssocID="{3027A644-EE31-4FEC-A255-26DBF439F8C4}" presName="textRect" presStyleLbl="revTx" presStyleIdx="0" presStyleCnt="3">
        <dgm:presLayoutVars>
          <dgm:chMax val="1"/>
          <dgm:chPref val="1"/>
        </dgm:presLayoutVars>
      </dgm:prSet>
      <dgm:spPr/>
    </dgm:pt>
    <dgm:pt modelId="{787EA737-CC2A-46D0-84EE-69E03ED01EBB}" type="pres">
      <dgm:prSet presAssocID="{2C1FCAC7-FC29-4F49-8F7F-504CAB71D7EE}" presName="sibTrans" presStyleCnt="0"/>
      <dgm:spPr/>
    </dgm:pt>
    <dgm:pt modelId="{02505532-F9CE-4E1E-9B36-4C5A5AA65E6E}" type="pres">
      <dgm:prSet presAssocID="{C528E0A6-0638-4841-969E-913A60C191A0}" presName="compNode" presStyleCnt="0"/>
      <dgm:spPr/>
    </dgm:pt>
    <dgm:pt modelId="{9E4C09E1-771A-40EB-9AD0-CC74FE095D40}" type="pres">
      <dgm:prSet presAssocID="{C528E0A6-0638-4841-969E-913A60C191A0}" presName="iconBgRect" presStyleLbl="bgShp" presStyleIdx="1" presStyleCnt="3"/>
      <dgm:spPr>
        <a:prstGeom prst="round2DiagRect">
          <a:avLst>
            <a:gd name="adj1" fmla="val 29727"/>
            <a:gd name="adj2" fmla="val 0"/>
          </a:avLst>
        </a:prstGeom>
      </dgm:spPr>
    </dgm:pt>
    <dgm:pt modelId="{DBE2790D-1B8E-4289-8DEC-FE08893AC603}" type="pres">
      <dgm:prSet presAssocID="{C528E0A6-0638-4841-969E-913A60C191A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449E2675-C6CB-45C4-8426-4ACE44893F19}" type="pres">
      <dgm:prSet presAssocID="{C528E0A6-0638-4841-969E-913A60C191A0}" presName="spaceRect" presStyleCnt="0"/>
      <dgm:spPr/>
    </dgm:pt>
    <dgm:pt modelId="{77230BB2-5674-4A8C-87B8-F744AE8DA870}" type="pres">
      <dgm:prSet presAssocID="{C528E0A6-0638-4841-969E-913A60C191A0}" presName="textRect" presStyleLbl="revTx" presStyleIdx="1" presStyleCnt="3">
        <dgm:presLayoutVars>
          <dgm:chMax val="1"/>
          <dgm:chPref val="1"/>
        </dgm:presLayoutVars>
      </dgm:prSet>
      <dgm:spPr/>
    </dgm:pt>
    <dgm:pt modelId="{B74E5E71-8307-482F-AB99-BDCECC2BA5DA}" type="pres">
      <dgm:prSet presAssocID="{4CF8E6A8-C1AF-40F8-96A2-C53618FE603D}" presName="sibTrans" presStyleCnt="0"/>
      <dgm:spPr/>
    </dgm:pt>
    <dgm:pt modelId="{99B92E82-1984-4923-98FB-9ACA28DFB3CC}" type="pres">
      <dgm:prSet presAssocID="{2B74EA94-679D-4F00-B4E3-91CC40196B30}" presName="compNode" presStyleCnt="0"/>
      <dgm:spPr/>
    </dgm:pt>
    <dgm:pt modelId="{16B328E6-5B3D-4183-B3B2-187CE87BC433}" type="pres">
      <dgm:prSet presAssocID="{2B74EA94-679D-4F00-B4E3-91CC40196B30}" presName="iconBgRect" presStyleLbl="bgShp" presStyleIdx="2" presStyleCnt="3"/>
      <dgm:spPr>
        <a:prstGeom prst="round2DiagRect">
          <a:avLst>
            <a:gd name="adj1" fmla="val 29727"/>
            <a:gd name="adj2" fmla="val 0"/>
          </a:avLst>
        </a:prstGeom>
      </dgm:spPr>
    </dgm:pt>
    <dgm:pt modelId="{C90A52D3-8FD2-4589-8206-7AF95D56F0EE}" type="pres">
      <dgm:prSet presAssocID="{2B74EA94-679D-4F00-B4E3-91CC40196B3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rning"/>
        </a:ext>
      </dgm:extLst>
    </dgm:pt>
    <dgm:pt modelId="{D596AB06-EF58-43A7-A4C9-28FA119A5EA0}" type="pres">
      <dgm:prSet presAssocID="{2B74EA94-679D-4F00-B4E3-91CC40196B30}" presName="spaceRect" presStyleCnt="0"/>
      <dgm:spPr/>
    </dgm:pt>
    <dgm:pt modelId="{A5BCDB7F-753C-4582-8182-172E000362E6}" type="pres">
      <dgm:prSet presAssocID="{2B74EA94-679D-4F00-B4E3-91CC40196B30}" presName="textRect" presStyleLbl="revTx" presStyleIdx="2" presStyleCnt="3">
        <dgm:presLayoutVars>
          <dgm:chMax val="1"/>
          <dgm:chPref val="1"/>
        </dgm:presLayoutVars>
      </dgm:prSet>
      <dgm:spPr/>
    </dgm:pt>
  </dgm:ptLst>
  <dgm:cxnLst>
    <dgm:cxn modelId="{636CE22B-16FA-4A72-BA0F-E414B0BF4BE2}" srcId="{25B112BA-E471-41E5-936C-DC54180331C2}" destId="{C528E0A6-0638-4841-969E-913A60C191A0}" srcOrd="1" destOrd="0" parTransId="{C6663D8F-219C-45D6-9D94-DE5D9BB9D9A5}" sibTransId="{4CF8E6A8-C1AF-40F8-96A2-C53618FE603D}"/>
    <dgm:cxn modelId="{E1C58E30-698C-4CCB-BED4-DB118C305A0B}" type="presOf" srcId="{2B74EA94-679D-4F00-B4E3-91CC40196B30}" destId="{A5BCDB7F-753C-4582-8182-172E000362E6}" srcOrd="0" destOrd="0" presId="urn:microsoft.com/office/officeart/2018/5/layout/IconLeafLabelList"/>
    <dgm:cxn modelId="{534E4836-8A3F-4EE9-8BBA-4DA3572704E3}" srcId="{25B112BA-E471-41E5-936C-DC54180331C2}" destId="{2B74EA94-679D-4F00-B4E3-91CC40196B30}" srcOrd="2" destOrd="0" parTransId="{D2AA41F8-E41F-4A9D-8AB4-A6FB39FBEF3B}" sibTransId="{DD951CFB-1AB4-4CF5-80D5-212E6298CD14}"/>
    <dgm:cxn modelId="{1C7EFF38-92BE-4E1D-94BA-1F91AF796FA7}" type="presOf" srcId="{C528E0A6-0638-4841-969E-913A60C191A0}" destId="{77230BB2-5674-4A8C-87B8-F744AE8DA870}" srcOrd="0" destOrd="0" presId="urn:microsoft.com/office/officeart/2018/5/layout/IconLeafLabelList"/>
    <dgm:cxn modelId="{4001FC96-69ED-44A7-9E9E-08568A756264}" type="presOf" srcId="{3027A644-EE31-4FEC-A255-26DBF439F8C4}" destId="{9A5E1453-66FE-43A6-9A1B-BAC114392805}" srcOrd="0" destOrd="0" presId="urn:microsoft.com/office/officeart/2018/5/layout/IconLeafLabelList"/>
    <dgm:cxn modelId="{E36844DA-EBB7-4F24-A6DF-A26FBFBFD9CF}" type="presOf" srcId="{25B112BA-E471-41E5-936C-DC54180331C2}" destId="{104BB5C7-476A-45FF-AC36-15FAE412097D}" srcOrd="0" destOrd="0" presId="urn:microsoft.com/office/officeart/2018/5/layout/IconLeafLabelList"/>
    <dgm:cxn modelId="{5FD02FE6-88A3-4E3C-9DEF-F4FFFA3E3570}" srcId="{25B112BA-E471-41E5-936C-DC54180331C2}" destId="{3027A644-EE31-4FEC-A255-26DBF439F8C4}" srcOrd="0" destOrd="0" parTransId="{743371E7-DADD-4088-89FA-76167DA74A0A}" sibTransId="{2C1FCAC7-FC29-4F49-8F7F-504CAB71D7EE}"/>
    <dgm:cxn modelId="{CB24EE96-9BE6-4CA5-B54A-BBC797D70E29}" type="presParOf" srcId="{104BB5C7-476A-45FF-AC36-15FAE412097D}" destId="{0875E0B0-EF60-42AB-A4DB-45BA8C053744}" srcOrd="0" destOrd="0" presId="urn:microsoft.com/office/officeart/2018/5/layout/IconLeafLabelList"/>
    <dgm:cxn modelId="{BE920BDC-622C-472C-83F4-CB0D69E3FCEF}" type="presParOf" srcId="{0875E0B0-EF60-42AB-A4DB-45BA8C053744}" destId="{894838C4-EDEF-4F72-B160-D286EC898D2B}" srcOrd="0" destOrd="0" presId="urn:microsoft.com/office/officeart/2018/5/layout/IconLeafLabelList"/>
    <dgm:cxn modelId="{7F303790-CC19-48F8-8DA3-7B0CB77C97BF}" type="presParOf" srcId="{0875E0B0-EF60-42AB-A4DB-45BA8C053744}" destId="{F2D72E4A-C84C-4B66-8DFE-59F181952834}" srcOrd="1" destOrd="0" presId="urn:microsoft.com/office/officeart/2018/5/layout/IconLeafLabelList"/>
    <dgm:cxn modelId="{47D37EE4-5631-4D1D-9A64-9D0B6EC94A11}" type="presParOf" srcId="{0875E0B0-EF60-42AB-A4DB-45BA8C053744}" destId="{5D855B90-E50C-4C23-AEBE-D254FC2981D1}" srcOrd="2" destOrd="0" presId="urn:microsoft.com/office/officeart/2018/5/layout/IconLeafLabelList"/>
    <dgm:cxn modelId="{A31EBC62-B6DD-4BDC-BB3C-620981C74AC9}" type="presParOf" srcId="{0875E0B0-EF60-42AB-A4DB-45BA8C053744}" destId="{9A5E1453-66FE-43A6-9A1B-BAC114392805}" srcOrd="3" destOrd="0" presId="urn:microsoft.com/office/officeart/2018/5/layout/IconLeafLabelList"/>
    <dgm:cxn modelId="{A214717F-2D98-4294-B6FF-4F436024854B}" type="presParOf" srcId="{104BB5C7-476A-45FF-AC36-15FAE412097D}" destId="{787EA737-CC2A-46D0-84EE-69E03ED01EBB}" srcOrd="1" destOrd="0" presId="urn:microsoft.com/office/officeart/2018/5/layout/IconLeafLabelList"/>
    <dgm:cxn modelId="{C64C0D79-0AAE-4C00-9D3D-08127B58EFDC}" type="presParOf" srcId="{104BB5C7-476A-45FF-AC36-15FAE412097D}" destId="{02505532-F9CE-4E1E-9B36-4C5A5AA65E6E}" srcOrd="2" destOrd="0" presId="urn:microsoft.com/office/officeart/2018/5/layout/IconLeafLabelList"/>
    <dgm:cxn modelId="{244C2B68-6823-48AD-A136-D20ED78067CB}" type="presParOf" srcId="{02505532-F9CE-4E1E-9B36-4C5A5AA65E6E}" destId="{9E4C09E1-771A-40EB-9AD0-CC74FE095D40}" srcOrd="0" destOrd="0" presId="urn:microsoft.com/office/officeart/2018/5/layout/IconLeafLabelList"/>
    <dgm:cxn modelId="{662DC7C8-F6EC-4A64-A77F-737284F73FC5}" type="presParOf" srcId="{02505532-F9CE-4E1E-9B36-4C5A5AA65E6E}" destId="{DBE2790D-1B8E-4289-8DEC-FE08893AC603}" srcOrd="1" destOrd="0" presId="urn:microsoft.com/office/officeart/2018/5/layout/IconLeafLabelList"/>
    <dgm:cxn modelId="{2BA7BFA8-E854-4D85-B84B-162A89C57F9A}" type="presParOf" srcId="{02505532-F9CE-4E1E-9B36-4C5A5AA65E6E}" destId="{449E2675-C6CB-45C4-8426-4ACE44893F19}" srcOrd="2" destOrd="0" presId="urn:microsoft.com/office/officeart/2018/5/layout/IconLeafLabelList"/>
    <dgm:cxn modelId="{FA071687-8160-4246-8ACE-4F036A6A3CB3}" type="presParOf" srcId="{02505532-F9CE-4E1E-9B36-4C5A5AA65E6E}" destId="{77230BB2-5674-4A8C-87B8-F744AE8DA870}" srcOrd="3" destOrd="0" presId="urn:microsoft.com/office/officeart/2018/5/layout/IconLeafLabelList"/>
    <dgm:cxn modelId="{4D8B782B-9E22-45EF-B5C7-36C5CA291607}" type="presParOf" srcId="{104BB5C7-476A-45FF-AC36-15FAE412097D}" destId="{B74E5E71-8307-482F-AB99-BDCECC2BA5DA}" srcOrd="3" destOrd="0" presId="urn:microsoft.com/office/officeart/2018/5/layout/IconLeafLabelList"/>
    <dgm:cxn modelId="{7C1DAA3D-AECD-4720-8AB0-D6F93A2BF889}" type="presParOf" srcId="{104BB5C7-476A-45FF-AC36-15FAE412097D}" destId="{99B92E82-1984-4923-98FB-9ACA28DFB3CC}" srcOrd="4" destOrd="0" presId="urn:microsoft.com/office/officeart/2018/5/layout/IconLeafLabelList"/>
    <dgm:cxn modelId="{EE6FA50F-6AA7-473A-B1B3-05A6855C08B9}" type="presParOf" srcId="{99B92E82-1984-4923-98FB-9ACA28DFB3CC}" destId="{16B328E6-5B3D-4183-B3B2-187CE87BC433}" srcOrd="0" destOrd="0" presId="urn:microsoft.com/office/officeart/2018/5/layout/IconLeafLabelList"/>
    <dgm:cxn modelId="{B079BFC6-073C-485B-9012-069CCAA9C536}" type="presParOf" srcId="{99B92E82-1984-4923-98FB-9ACA28DFB3CC}" destId="{C90A52D3-8FD2-4589-8206-7AF95D56F0EE}" srcOrd="1" destOrd="0" presId="urn:microsoft.com/office/officeart/2018/5/layout/IconLeafLabelList"/>
    <dgm:cxn modelId="{E3F41E59-F51A-4ED3-A084-26A363F9F548}" type="presParOf" srcId="{99B92E82-1984-4923-98FB-9ACA28DFB3CC}" destId="{D596AB06-EF58-43A7-A4C9-28FA119A5EA0}" srcOrd="2" destOrd="0" presId="urn:microsoft.com/office/officeart/2018/5/layout/IconLeafLabelList"/>
    <dgm:cxn modelId="{F0B79E4C-3C71-4F1B-97F2-3491F8901019}" type="presParOf" srcId="{99B92E82-1984-4923-98FB-9ACA28DFB3CC}" destId="{A5BCDB7F-753C-4582-8182-172E000362E6}"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7097CB61-2CF6-4037-BE06-14CF22B42858}"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04C3492-02B9-4340-A65C-E856A9281C9C}">
      <dgm:prSet/>
      <dgm:spPr/>
      <dgm:t>
        <a:bodyPr/>
        <a:lstStyle/>
        <a:p>
          <a:pPr>
            <a:defRPr cap="all"/>
          </a:pPr>
          <a:r>
            <a:rPr lang="en-US"/>
            <a:t>Use when behavior is identical but input/output varies</a:t>
          </a:r>
        </a:p>
      </dgm:t>
    </dgm:pt>
    <dgm:pt modelId="{6BA45CB3-F44F-441B-8D01-BE3C53431DDD}" type="parTrans" cxnId="{37C8733C-559A-4F57-853F-2F5DDD0E15EA}">
      <dgm:prSet/>
      <dgm:spPr/>
      <dgm:t>
        <a:bodyPr/>
        <a:lstStyle/>
        <a:p>
          <a:endParaRPr lang="en-US"/>
        </a:p>
      </dgm:t>
    </dgm:pt>
    <dgm:pt modelId="{63991A6F-0DD0-417C-BE6A-213CFC12DE53}" type="sibTrans" cxnId="{37C8733C-559A-4F57-853F-2F5DDD0E15EA}">
      <dgm:prSet/>
      <dgm:spPr/>
      <dgm:t>
        <a:bodyPr/>
        <a:lstStyle/>
        <a:p>
          <a:endParaRPr lang="en-US"/>
        </a:p>
      </dgm:t>
    </dgm:pt>
    <dgm:pt modelId="{93C1567D-2D8C-4632-BA58-CCB31D43473C}">
      <dgm:prSet/>
      <dgm:spPr/>
      <dgm:t>
        <a:bodyPr/>
        <a:lstStyle/>
        <a:p>
          <a:pPr>
            <a:defRPr cap="all"/>
          </a:pPr>
          <a:r>
            <a:rPr lang="en-US"/>
            <a:t>Great for validation rules, pricing, permissions</a:t>
          </a:r>
        </a:p>
      </dgm:t>
    </dgm:pt>
    <dgm:pt modelId="{9B65B5D9-501D-4C52-8E83-2B79470C8A01}" type="parTrans" cxnId="{BCF241F5-99CA-4225-AD19-96F7924D9CA8}">
      <dgm:prSet/>
      <dgm:spPr/>
      <dgm:t>
        <a:bodyPr/>
        <a:lstStyle/>
        <a:p>
          <a:endParaRPr lang="en-US"/>
        </a:p>
      </dgm:t>
    </dgm:pt>
    <dgm:pt modelId="{8395369D-C773-4AA3-A937-0B55024A24D3}" type="sibTrans" cxnId="{BCF241F5-99CA-4225-AD19-96F7924D9CA8}">
      <dgm:prSet/>
      <dgm:spPr/>
      <dgm:t>
        <a:bodyPr/>
        <a:lstStyle/>
        <a:p>
          <a:endParaRPr lang="en-US"/>
        </a:p>
      </dgm:t>
    </dgm:pt>
    <dgm:pt modelId="{835D4126-2E70-48B2-BD59-2D02302A7849}" type="pres">
      <dgm:prSet presAssocID="{7097CB61-2CF6-4037-BE06-14CF22B42858}" presName="root" presStyleCnt="0">
        <dgm:presLayoutVars>
          <dgm:dir/>
          <dgm:resizeHandles val="exact"/>
        </dgm:presLayoutVars>
      </dgm:prSet>
      <dgm:spPr/>
    </dgm:pt>
    <dgm:pt modelId="{CB6BB4FA-9B4E-45A3-ADF7-4380181BDED2}" type="pres">
      <dgm:prSet presAssocID="{804C3492-02B9-4340-A65C-E856A9281C9C}" presName="compNode" presStyleCnt="0"/>
      <dgm:spPr/>
    </dgm:pt>
    <dgm:pt modelId="{06D4ECB7-A4E8-41A3-88AB-41C8A715A706}" type="pres">
      <dgm:prSet presAssocID="{804C3492-02B9-4340-A65C-E856A9281C9C}" presName="iconBgRect" presStyleLbl="bgShp" presStyleIdx="0" presStyleCnt="2"/>
      <dgm:spPr>
        <a:prstGeom prst="round2DiagRect">
          <a:avLst>
            <a:gd name="adj1" fmla="val 29727"/>
            <a:gd name="adj2" fmla="val 0"/>
          </a:avLst>
        </a:prstGeom>
      </dgm:spPr>
    </dgm:pt>
    <dgm:pt modelId="{11A28A2D-2C76-43F2-8D55-3AAB3763C063}" type="pres">
      <dgm:prSet presAssocID="{804C3492-02B9-4340-A65C-E856A9281C9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BF19022F-5DE2-4189-BD69-946FB0C1701A}" type="pres">
      <dgm:prSet presAssocID="{804C3492-02B9-4340-A65C-E856A9281C9C}" presName="spaceRect" presStyleCnt="0"/>
      <dgm:spPr/>
    </dgm:pt>
    <dgm:pt modelId="{D2F99088-6D6F-4C39-9B91-3DE90312B8FC}" type="pres">
      <dgm:prSet presAssocID="{804C3492-02B9-4340-A65C-E856A9281C9C}" presName="textRect" presStyleLbl="revTx" presStyleIdx="0" presStyleCnt="2">
        <dgm:presLayoutVars>
          <dgm:chMax val="1"/>
          <dgm:chPref val="1"/>
        </dgm:presLayoutVars>
      </dgm:prSet>
      <dgm:spPr/>
    </dgm:pt>
    <dgm:pt modelId="{B457DB4B-B854-4B00-936E-CB52DBF7050F}" type="pres">
      <dgm:prSet presAssocID="{63991A6F-0DD0-417C-BE6A-213CFC12DE53}" presName="sibTrans" presStyleCnt="0"/>
      <dgm:spPr/>
    </dgm:pt>
    <dgm:pt modelId="{8A0AE814-AA32-4A11-8233-1E5034655613}" type="pres">
      <dgm:prSet presAssocID="{93C1567D-2D8C-4632-BA58-CCB31D43473C}" presName="compNode" presStyleCnt="0"/>
      <dgm:spPr/>
    </dgm:pt>
    <dgm:pt modelId="{20CBF5A3-899E-49CE-9CF2-A2854E29ACDA}" type="pres">
      <dgm:prSet presAssocID="{93C1567D-2D8C-4632-BA58-CCB31D43473C}" presName="iconBgRect" presStyleLbl="bgShp" presStyleIdx="1" presStyleCnt="2"/>
      <dgm:spPr>
        <a:prstGeom prst="round2DiagRect">
          <a:avLst>
            <a:gd name="adj1" fmla="val 29727"/>
            <a:gd name="adj2" fmla="val 0"/>
          </a:avLst>
        </a:prstGeom>
      </dgm:spPr>
    </dgm:pt>
    <dgm:pt modelId="{8D2B32A1-29BF-4604-BAD8-AA82C0BBB229}" type="pres">
      <dgm:prSet presAssocID="{93C1567D-2D8C-4632-BA58-CCB31D43473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vil Face Outline"/>
        </a:ext>
      </dgm:extLst>
    </dgm:pt>
    <dgm:pt modelId="{93E616A8-623C-4D9A-BD67-0FEFE430B18D}" type="pres">
      <dgm:prSet presAssocID="{93C1567D-2D8C-4632-BA58-CCB31D43473C}" presName="spaceRect" presStyleCnt="0"/>
      <dgm:spPr/>
    </dgm:pt>
    <dgm:pt modelId="{8C136A46-B739-4931-997E-8C6DD9E95F60}" type="pres">
      <dgm:prSet presAssocID="{93C1567D-2D8C-4632-BA58-CCB31D43473C}" presName="textRect" presStyleLbl="revTx" presStyleIdx="1" presStyleCnt="2">
        <dgm:presLayoutVars>
          <dgm:chMax val="1"/>
          <dgm:chPref val="1"/>
        </dgm:presLayoutVars>
      </dgm:prSet>
      <dgm:spPr/>
    </dgm:pt>
  </dgm:ptLst>
  <dgm:cxnLst>
    <dgm:cxn modelId="{724D3036-9494-474E-8D59-BD3F293D1840}" type="presOf" srcId="{804C3492-02B9-4340-A65C-E856A9281C9C}" destId="{D2F99088-6D6F-4C39-9B91-3DE90312B8FC}" srcOrd="0" destOrd="0" presId="urn:microsoft.com/office/officeart/2018/5/layout/IconLeafLabelList"/>
    <dgm:cxn modelId="{37C8733C-559A-4F57-853F-2F5DDD0E15EA}" srcId="{7097CB61-2CF6-4037-BE06-14CF22B42858}" destId="{804C3492-02B9-4340-A65C-E856A9281C9C}" srcOrd="0" destOrd="0" parTransId="{6BA45CB3-F44F-441B-8D01-BE3C53431DDD}" sibTransId="{63991A6F-0DD0-417C-BE6A-213CFC12DE53}"/>
    <dgm:cxn modelId="{F8CD4247-0BE0-4A14-96F0-DCE673264395}" type="presOf" srcId="{93C1567D-2D8C-4632-BA58-CCB31D43473C}" destId="{8C136A46-B739-4931-997E-8C6DD9E95F60}" srcOrd="0" destOrd="0" presId="urn:microsoft.com/office/officeart/2018/5/layout/IconLeafLabelList"/>
    <dgm:cxn modelId="{BF538EBE-DCBE-41D7-9C8A-13BC25EC74EF}" type="presOf" srcId="{7097CB61-2CF6-4037-BE06-14CF22B42858}" destId="{835D4126-2E70-48B2-BD59-2D02302A7849}" srcOrd="0" destOrd="0" presId="urn:microsoft.com/office/officeart/2018/5/layout/IconLeafLabelList"/>
    <dgm:cxn modelId="{BCF241F5-99CA-4225-AD19-96F7924D9CA8}" srcId="{7097CB61-2CF6-4037-BE06-14CF22B42858}" destId="{93C1567D-2D8C-4632-BA58-CCB31D43473C}" srcOrd="1" destOrd="0" parTransId="{9B65B5D9-501D-4C52-8E83-2B79470C8A01}" sibTransId="{8395369D-C773-4AA3-A937-0B55024A24D3}"/>
    <dgm:cxn modelId="{F582A3CD-B61C-4174-A701-AA30FBE7E6F2}" type="presParOf" srcId="{835D4126-2E70-48B2-BD59-2D02302A7849}" destId="{CB6BB4FA-9B4E-45A3-ADF7-4380181BDED2}" srcOrd="0" destOrd="0" presId="urn:microsoft.com/office/officeart/2018/5/layout/IconLeafLabelList"/>
    <dgm:cxn modelId="{C95BFA06-63F2-4BAB-AA1D-85E1396A4C2B}" type="presParOf" srcId="{CB6BB4FA-9B4E-45A3-ADF7-4380181BDED2}" destId="{06D4ECB7-A4E8-41A3-88AB-41C8A715A706}" srcOrd="0" destOrd="0" presId="urn:microsoft.com/office/officeart/2018/5/layout/IconLeafLabelList"/>
    <dgm:cxn modelId="{94AF77FF-0904-4F6F-AFB5-E8BBCEBD1F2A}" type="presParOf" srcId="{CB6BB4FA-9B4E-45A3-ADF7-4380181BDED2}" destId="{11A28A2D-2C76-43F2-8D55-3AAB3763C063}" srcOrd="1" destOrd="0" presId="urn:microsoft.com/office/officeart/2018/5/layout/IconLeafLabelList"/>
    <dgm:cxn modelId="{85C9E7B5-529F-49C8-933D-5E3974C08B89}" type="presParOf" srcId="{CB6BB4FA-9B4E-45A3-ADF7-4380181BDED2}" destId="{BF19022F-5DE2-4189-BD69-946FB0C1701A}" srcOrd="2" destOrd="0" presId="urn:microsoft.com/office/officeart/2018/5/layout/IconLeafLabelList"/>
    <dgm:cxn modelId="{646C507F-D038-452D-A55D-A5E8F5E1CAD3}" type="presParOf" srcId="{CB6BB4FA-9B4E-45A3-ADF7-4380181BDED2}" destId="{D2F99088-6D6F-4C39-9B91-3DE90312B8FC}" srcOrd="3" destOrd="0" presId="urn:microsoft.com/office/officeart/2018/5/layout/IconLeafLabelList"/>
    <dgm:cxn modelId="{56734950-5769-463E-B08F-E9D9625D3EEA}" type="presParOf" srcId="{835D4126-2E70-48B2-BD59-2D02302A7849}" destId="{B457DB4B-B854-4B00-936E-CB52DBF7050F}" srcOrd="1" destOrd="0" presId="urn:microsoft.com/office/officeart/2018/5/layout/IconLeafLabelList"/>
    <dgm:cxn modelId="{CAD92641-CF7D-4F77-9EF1-5B863F24ADA5}" type="presParOf" srcId="{835D4126-2E70-48B2-BD59-2D02302A7849}" destId="{8A0AE814-AA32-4A11-8233-1E5034655613}" srcOrd="2" destOrd="0" presId="urn:microsoft.com/office/officeart/2018/5/layout/IconLeafLabelList"/>
    <dgm:cxn modelId="{4874FFBD-8874-4A51-AA6C-C2D03F07DC0E}" type="presParOf" srcId="{8A0AE814-AA32-4A11-8233-1E5034655613}" destId="{20CBF5A3-899E-49CE-9CF2-A2854E29ACDA}" srcOrd="0" destOrd="0" presId="urn:microsoft.com/office/officeart/2018/5/layout/IconLeafLabelList"/>
    <dgm:cxn modelId="{9BB47E54-C2CE-46C3-B172-61DED340560C}" type="presParOf" srcId="{8A0AE814-AA32-4A11-8233-1E5034655613}" destId="{8D2B32A1-29BF-4604-BAD8-AA82C0BBB229}" srcOrd="1" destOrd="0" presId="urn:microsoft.com/office/officeart/2018/5/layout/IconLeafLabelList"/>
    <dgm:cxn modelId="{F5A26A28-CDAA-42FE-A820-80D630DDEF00}" type="presParOf" srcId="{8A0AE814-AA32-4A11-8233-1E5034655613}" destId="{93E616A8-623C-4D9A-BD67-0FEFE430B18D}" srcOrd="2" destOrd="0" presId="urn:microsoft.com/office/officeart/2018/5/layout/IconLeafLabelList"/>
    <dgm:cxn modelId="{6046A794-2AF5-4048-A345-1F8027634481}" type="presParOf" srcId="{8A0AE814-AA32-4A11-8233-1E5034655613}" destId="{8C136A46-B739-4931-997E-8C6DD9E95F60}"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B0BF0215-4517-4659-A6FD-503661C640ED}" type="doc">
      <dgm:prSet loTypeId="urn:microsoft.com/office/officeart/2016/7/layout/LinearBlockProcessNumbered" loCatId="process" qsTypeId="urn:microsoft.com/office/officeart/2005/8/quickstyle/simple2" qsCatId="simple" csTypeId="urn:microsoft.com/office/officeart/2005/8/colors/colorful1" csCatId="colorful"/>
      <dgm:spPr/>
      <dgm:t>
        <a:bodyPr/>
        <a:lstStyle/>
        <a:p>
          <a:endParaRPr lang="en-US"/>
        </a:p>
      </dgm:t>
    </dgm:pt>
    <dgm:pt modelId="{519C1910-3E38-47A6-BC4E-48397D64F993}">
      <dgm:prSet/>
      <dgm:spPr/>
      <dgm:t>
        <a:bodyPr/>
        <a:lstStyle/>
        <a:p>
          <a:r>
            <a:rPr lang="en-US"/>
            <a:t>Try a 3 Amigos session on your next story</a:t>
          </a:r>
        </a:p>
      </dgm:t>
    </dgm:pt>
    <dgm:pt modelId="{C5831F9C-65C3-41F7-B05F-5FCEA0F96A17}" type="parTrans" cxnId="{6221CB16-78FC-4E94-9628-AFC1B0696494}">
      <dgm:prSet/>
      <dgm:spPr/>
      <dgm:t>
        <a:bodyPr/>
        <a:lstStyle/>
        <a:p>
          <a:endParaRPr lang="en-US"/>
        </a:p>
      </dgm:t>
    </dgm:pt>
    <dgm:pt modelId="{E1A89980-97EF-473B-B499-54081B81B46C}" type="sibTrans" cxnId="{6221CB16-78FC-4E94-9628-AFC1B0696494}">
      <dgm:prSet phldrT="01" phldr="0"/>
      <dgm:spPr/>
      <dgm:t>
        <a:bodyPr/>
        <a:lstStyle/>
        <a:p>
          <a:r>
            <a:rPr lang="en-US"/>
            <a:t>01</a:t>
          </a:r>
        </a:p>
      </dgm:t>
    </dgm:pt>
    <dgm:pt modelId="{0E1294D6-5DAC-4AA7-9E9C-6DC01597CFCF}">
      <dgm:prSet/>
      <dgm:spPr/>
      <dgm:t>
        <a:bodyPr/>
        <a:lstStyle/>
        <a:p>
          <a:r>
            <a:rPr lang="en-US"/>
            <a:t>Write 3–5 scenarios for one feature</a:t>
          </a:r>
        </a:p>
      </dgm:t>
    </dgm:pt>
    <dgm:pt modelId="{9950EAE3-F929-4BC5-8906-8DBE8A00B31E}" type="parTrans" cxnId="{69E2153A-65D6-4FB3-8EF5-81C4F27817DE}">
      <dgm:prSet/>
      <dgm:spPr/>
      <dgm:t>
        <a:bodyPr/>
        <a:lstStyle/>
        <a:p>
          <a:endParaRPr lang="en-US"/>
        </a:p>
      </dgm:t>
    </dgm:pt>
    <dgm:pt modelId="{48488A7E-2CCE-4B66-84D0-39AAF46897AC}" type="sibTrans" cxnId="{69E2153A-65D6-4FB3-8EF5-81C4F27817DE}">
      <dgm:prSet phldrT="02" phldr="0"/>
      <dgm:spPr/>
      <dgm:t>
        <a:bodyPr/>
        <a:lstStyle/>
        <a:p>
          <a:r>
            <a:rPr lang="en-US"/>
            <a:t>02</a:t>
          </a:r>
        </a:p>
      </dgm:t>
    </dgm:pt>
    <dgm:pt modelId="{674B29A0-B274-49B5-8D22-979A2D1F3FD5}">
      <dgm:prSet/>
      <dgm:spPr/>
      <dgm:t>
        <a:bodyPr/>
        <a:lstStyle/>
        <a:p>
          <a:r>
            <a:rPr lang="en-US"/>
            <a:t>Automate 1–2 at API/service level first</a:t>
          </a:r>
        </a:p>
      </dgm:t>
    </dgm:pt>
    <dgm:pt modelId="{2D010518-5714-4FF0-82D0-338F9FF8BADB}" type="parTrans" cxnId="{F008B20E-DEC6-4DE3-836C-F019ACDABDC6}">
      <dgm:prSet/>
      <dgm:spPr/>
      <dgm:t>
        <a:bodyPr/>
        <a:lstStyle/>
        <a:p>
          <a:endParaRPr lang="en-US"/>
        </a:p>
      </dgm:t>
    </dgm:pt>
    <dgm:pt modelId="{DB73C14A-2C4F-4F2B-8079-ACBCD3EB8E83}" type="sibTrans" cxnId="{F008B20E-DEC6-4DE3-836C-F019ACDABDC6}">
      <dgm:prSet phldrT="03" phldr="0"/>
      <dgm:spPr/>
      <dgm:t>
        <a:bodyPr/>
        <a:lstStyle/>
        <a:p>
          <a:r>
            <a:rPr lang="en-US"/>
            <a:t>03</a:t>
          </a:r>
        </a:p>
      </dgm:t>
    </dgm:pt>
    <dgm:pt modelId="{6B758EA6-BB22-4EA9-84C7-520FA731FA7B}">
      <dgm:prSet/>
      <dgm:spPr/>
      <dgm:t>
        <a:bodyPr/>
        <a:lstStyle/>
        <a:p>
          <a:r>
            <a:rPr lang="en-US"/>
            <a:t>Review: are scenarios readable, stable, and trusted?</a:t>
          </a:r>
        </a:p>
      </dgm:t>
    </dgm:pt>
    <dgm:pt modelId="{3313B219-B089-4E6F-BD1C-2AA98BD0F290}" type="parTrans" cxnId="{001D6E39-C135-4087-8255-7C3BF5A7FBE9}">
      <dgm:prSet/>
      <dgm:spPr/>
      <dgm:t>
        <a:bodyPr/>
        <a:lstStyle/>
        <a:p>
          <a:endParaRPr lang="en-US"/>
        </a:p>
      </dgm:t>
    </dgm:pt>
    <dgm:pt modelId="{F674EDAF-3F3B-457C-AAE4-BD3FE6F37571}" type="sibTrans" cxnId="{001D6E39-C135-4087-8255-7C3BF5A7FBE9}">
      <dgm:prSet phldrT="04" phldr="0"/>
      <dgm:spPr/>
      <dgm:t>
        <a:bodyPr/>
        <a:lstStyle/>
        <a:p>
          <a:r>
            <a:rPr lang="en-US"/>
            <a:t>04</a:t>
          </a:r>
        </a:p>
      </dgm:t>
    </dgm:pt>
    <dgm:pt modelId="{A615BD2A-09BC-A445-B5D6-BC47E4F1C789}" type="pres">
      <dgm:prSet presAssocID="{B0BF0215-4517-4659-A6FD-503661C640ED}" presName="Name0" presStyleCnt="0">
        <dgm:presLayoutVars>
          <dgm:animLvl val="lvl"/>
          <dgm:resizeHandles val="exact"/>
        </dgm:presLayoutVars>
      </dgm:prSet>
      <dgm:spPr/>
    </dgm:pt>
    <dgm:pt modelId="{E3D5B5B5-5BDA-8A40-B1E2-C0B6EDF1317C}" type="pres">
      <dgm:prSet presAssocID="{519C1910-3E38-47A6-BC4E-48397D64F993}" presName="compositeNode" presStyleCnt="0">
        <dgm:presLayoutVars>
          <dgm:bulletEnabled val="1"/>
        </dgm:presLayoutVars>
      </dgm:prSet>
      <dgm:spPr/>
    </dgm:pt>
    <dgm:pt modelId="{512BF15C-7885-E94F-81D6-23E49145E420}" type="pres">
      <dgm:prSet presAssocID="{519C1910-3E38-47A6-BC4E-48397D64F993}" presName="bgRect" presStyleLbl="alignNode1" presStyleIdx="0" presStyleCnt="4"/>
      <dgm:spPr/>
    </dgm:pt>
    <dgm:pt modelId="{71F83575-7DFC-614A-8C47-19560DF10A62}" type="pres">
      <dgm:prSet presAssocID="{E1A89980-97EF-473B-B499-54081B81B46C}" presName="sibTransNodeRect" presStyleLbl="alignNode1" presStyleIdx="0" presStyleCnt="4">
        <dgm:presLayoutVars>
          <dgm:chMax val="0"/>
          <dgm:bulletEnabled val="1"/>
        </dgm:presLayoutVars>
      </dgm:prSet>
      <dgm:spPr/>
    </dgm:pt>
    <dgm:pt modelId="{E731BB65-650D-644D-882C-E7BF9B04EC76}" type="pres">
      <dgm:prSet presAssocID="{519C1910-3E38-47A6-BC4E-48397D64F993}" presName="nodeRect" presStyleLbl="alignNode1" presStyleIdx="0" presStyleCnt="4">
        <dgm:presLayoutVars>
          <dgm:bulletEnabled val="1"/>
        </dgm:presLayoutVars>
      </dgm:prSet>
      <dgm:spPr/>
    </dgm:pt>
    <dgm:pt modelId="{FD345678-CB89-4848-84A9-D0F5E99124CB}" type="pres">
      <dgm:prSet presAssocID="{E1A89980-97EF-473B-B499-54081B81B46C}" presName="sibTrans" presStyleCnt="0"/>
      <dgm:spPr/>
    </dgm:pt>
    <dgm:pt modelId="{260924B6-0E2E-E543-AC90-10E42458E158}" type="pres">
      <dgm:prSet presAssocID="{0E1294D6-5DAC-4AA7-9E9C-6DC01597CFCF}" presName="compositeNode" presStyleCnt="0">
        <dgm:presLayoutVars>
          <dgm:bulletEnabled val="1"/>
        </dgm:presLayoutVars>
      </dgm:prSet>
      <dgm:spPr/>
    </dgm:pt>
    <dgm:pt modelId="{DF2D1B21-79A3-6248-ABE8-B8993E7A375F}" type="pres">
      <dgm:prSet presAssocID="{0E1294D6-5DAC-4AA7-9E9C-6DC01597CFCF}" presName="bgRect" presStyleLbl="alignNode1" presStyleIdx="1" presStyleCnt="4"/>
      <dgm:spPr/>
    </dgm:pt>
    <dgm:pt modelId="{DF926F44-EDF3-144C-A4CD-23E0D22803FD}" type="pres">
      <dgm:prSet presAssocID="{48488A7E-2CCE-4B66-84D0-39AAF46897AC}" presName="sibTransNodeRect" presStyleLbl="alignNode1" presStyleIdx="1" presStyleCnt="4">
        <dgm:presLayoutVars>
          <dgm:chMax val="0"/>
          <dgm:bulletEnabled val="1"/>
        </dgm:presLayoutVars>
      </dgm:prSet>
      <dgm:spPr/>
    </dgm:pt>
    <dgm:pt modelId="{B2A4D5F0-64BF-6648-9AB1-23CFF55C966B}" type="pres">
      <dgm:prSet presAssocID="{0E1294D6-5DAC-4AA7-9E9C-6DC01597CFCF}" presName="nodeRect" presStyleLbl="alignNode1" presStyleIdx="1" presStyleCnt="4">
        <dgm:presLayoutVars>
          <dgm:bulletEnabled val="1"/>
        </dgm:presLayoutVars>
      </dgm:prSet>
      <dgm:spPr/>
    </dgm:pt>
    <dgm:pt modelId="{ABD0B551-764A-0F4E-B5B7-F5A722CEA65A}" type="pres">
      <dgm:prSet presAssocID="{48488A7E-2CCE-4B66-84D0-39AAF46897AC}" presName="sibTrans" presStyleCnt="0"/>
      <dgm:spPr/>
    </dgm:pt>
    <dgm:pt modelId="{7A860947-D920-7F40-96DF-EEE5E863496E}" type="pres">
      <dgm:prSet presAssocID="{674B29A0-B274-49B5-8D22-979A2D1F3FD5}" presName="compositeNode" presStyleCnt="0">
        <dgm:presLayoutVars>
          <dgm:bulletEnabled val="1"/>
        </dgm:presLayoutVars>
      </dgm:prSet>
      <dgm:spPr/>
    </dgm:pt>
    <dgm:pt modelId="{ABF1BF45-54FB-144F-97B9-12183DE479C2}" type="pres">
      <dgm:prSet presAssocID="{674B29A0-B274-49B5-8D22-979A2D1F3FD5}" presName="bgRect" presStyleLbl="alignNode1" presStyleIdx="2" presStyleCnt="4"/>
      <dgm:spPr/>
    </dgm:pt>
    <dgm:pt modelId="{8CFA145E-5E69-ED4D-923D-5E7AC9150155}" type="pres">
      <dgm:prSet presAssocID="{DB73C14A-2C4F-4F2B-8079-ACBCD3EB8E83}" presName="sibTransNodeRect" presStyleLbl="alignNode1" presStyleIdx="2" presStyleCnt="4">
        <dgm:presLayoutVars>
          <dgm:chMax val="0"/>
          <dgm:bulletEnabled val="1"/>
        </dgm:presLayoutVars>
      </dgm:prSet>
      <dgm:spPr/>
    </dgm:pt>
    <dgm:pt modelId="{C637B257-E410-A148-AF10-3995C29C3B71}" type="pres">
      <dgm:prSet presAssocID="{674B29A0-B274-49B5-8D22-979A2D1F3FD5}" presName="nodeRect" presStyleLbl="alignNode1" presStyleIdx="2" presStyleCnt="4">
        <dgm:presLayoutVars>
          <dgm:bulletEnabled val="1"/>
        </dgm:presLayoutVars>
      </dgm:prSet>
      <dgm:spPr/>
    </dgm:pt>
    <dgm:pt modelId="{3DCDD763-6187-444E-9B30-2C3A0B338636}" type="pres">
      <dgm:prSet presAssocID="{DB73C14A-2C4F-4F2B-8079-ACBCD3EB8E83}" presName="sibTrans" presStyleCnt="0"/>
      <dgm:spPr/>
    </dgm:pt>
    <dgm:pt modelId="{448842A7-1433-714E-A219-0335130BE809}" type="pres">
      <dgm:prSet presAssocID="{6B758EA6-BB22-4EA9-84C7-520FA731FA7B}" presName="compositeNode" presStyleCnt="0">
        <dgm:presLayoutVars>
          <dgm:bulletEnabled val="1"/>
        </dgm:presLayoutVars>
      </dgm:prSet>
      <dgm:spPr/>
    </dgm:pt>
    <dgm:pt modelId="{4D284AC0-58D7-DB4C-B656-1FC1671F6EE6}" type="pres">
      <dgm:prSet presAssocID="{6B758EA6-BB22-4EA9-84C7-520FA731FA7B}" presName="bgRect" presStyleLbl="alignNode1" presStyleIdx="3" presStyleCnt="4"/>
      <dgm:spPr/>
    </dgm:pt>
    <dgm:pt modelId="{20C89DC4-2566-8B4F-A9F8-87953755AD5E}" type="pres">
      <dgm:prSet presAssocID="{F674EDAF-3F3B-457C-AAE4-BD3FE6F37571}" presName="sibTransNodeRect" presStyleLbl="alignNode1" presStyleIdx="3" presStyleCnt="4">
        <dgm:presLayoutVars>
          <dgm:chMax val="0"/>
          <dgm:bulletEnabled val="1"/>
        </dgm:presLayoutVars>
      </dgm:prSet>
      <dgm:spPr/>
    </dgm:pt>
    <dgm:pt modelId="{7473572A-1433-2B41-8F54-4777461F9CDC}" type="pres">
      <dgm:prSet presAssocID="{6B758EA6-BB22-4EA9-84C7-520FA731FA7B}" presName="nodeRect" presStyleLbl="alignNode1" presStyleIdx="3" presStyleCnt="4">
        <dgm:presLayoutVars>
          <dgm:bulletEnabled val="1"/>
        </dgm:presLayoutVars>
      </dgm:prSet>
      <dgm:spPr/>
    </dgm:pt>
  </dgm:ptLst>
  <dgm:cxnLst>
    <dgm:cxn modelId="{F008B20E-DEC6-4DE3-836C-F019ACDABDC6}" srcId="{B0BF0215-4517-4659-A6FD-503661C640ED}" destId="{674B29A0-B274-49B5-8D22-979A2D1F3FD5}" srcOrd="2" destOrd="0" parTransId="{2D010518-5714-4FF0-82D0-338F9FF8BADB}" sibTransId="{DB73C14A-2C4F-4F2B-8079-ACBCD3EB8E83}"/>
    <dgm:cxn modelId="{6221CB16-78FC-4E94-9628-AFC1B0696494}" srcId="{B0BF0215-4517-4659-A6FD-503661C640ED}" destId="{519C1910-3E38-47A6-BC4E-48397D64F993}" srcOrd="0" destOrd="0" parTransId="{C5831F9C-65C3-41F7-B05F-5FCEA0F96A17}" sibTransId="{E1A89980-97EF-473B-B499-54081B81B46C}"/>
    <dgm:cxn modelId="{77D92818-5023-3F40-A4E7-40A6E120AA25}" type="presOf" srcId="{48488A7E-2CCE-4B66-84D0-39AAF46897AC}" destId="{DF926F44-EDF3-144C-A4CD-23E0D22803FD}" srcOrd="0" destOrd="0" presId="urn:microsoft.com/office/officeart/2016/7/layout/LinearBlockProcessNumbered"/>
    <dgm:cxn modelId="{AF85A219-D5F7-4949-8164-EBEA27DE5045}" type="presOf" srcId="{0E1294D6-5DAC-4AA7-9E9C-6DC01597CFCF}" destId="{DF2D1B21-79A3-6248-ABE8-B8993E7A375F}" srcOrd="0" destOrd="0" presId="urn:microsoft.com/office/officeart/2016/7/layout/LinearBlockProcessNumbered"/>
    <dgm:cxn modelId="{001D6E39-C135-4087-8255-7C3BF5A7FBE9}" srcId="{B0BF0215-4517-4659-A6FD-503661C640ED}" destId="{6B758EA6-BB22-4EA9-84C7-520FA731FA7B}" srcOrd="3" destOrd="0" parTransId="{3313B219-B089-4E6F-BD1C-2AA98BD0F290}" sibTransId="{F674EDAF-3F3B-457C-AAE4-BD3FE6F37571}"/>
    <dgm:cxn modelId="{69E2153A-65D6-4FB3-8EF5-81C4F27817DE}" srcId="{B0BF0215-4517-4659-A6FD-503661C640ED}" destId="{0E1294D6-5DAC-4AA7-9E9C-6DC01597CFCF}" srcOrd="1" destOrd="0" parTransId="{9950EAE3-F929-4BC5-8906-8DBE8A00B31E}" sibTransId="{48488A7E-2CCE-4B66-84D0-39AAF46897AC}"/>
    <dgm:cxn modelId="{DF788F57-0248-9D48-AB43-D7F94D5E7BE9}" type="presOf" srcId="{519C1910-3E38-47A6-BC4E-48397D64F993}" destId="{512BF15C-7885-E94F-81D6-23E49145E420}" srcOrd="0" destOrd="0" presId="urn:microsoft.com/office/officeart/2016/7/layout/LinearBlockProcessNumbered"/>
    <dgm:cxn modelId="{628DA664-7A19-D541-862C-16A6824D921E}" type="presOf" srcId="{E1A89980-97EF-473B-B499-54081B81B46C}" destId="{71F83575-7DFC-614A-8C47-19560DF10A62}" srcOrd="0" destOrd="0" presId="urn:microsoft.com/office/officeart/2016/7/layout/LinearBlockProcessNumbered"/>
    <dgm:cxn modelId="{73CC5573-9CD7-AD43-81C5-202C01A34864}" type="presOf" srcId="{674B29A0-B274-49B5-8D22-979A2D1F3FD5}" destId="{C637B257-E410-A148-AF10-3995C29C3B71}" srcOrd="1" destOrd="0" presId="urn:microsoft.com/office/officeart/2016/7/layout/LinearBlockProcessNumbered"/>
    <dgm:cxn modelId="{964DE678-DDE4-174F-BE3E-5C40239E06D6}" type="presOf" srcId="{B0BF0215-4517-4659-A6FD-503661C640ED}" destId="{A615BD2A-09BC-A445-B5D6-BC47E4F1C789}" srcOrd="0" destOrd="0" presId="urn:microsoft.com/office/officeart/2016/7/layout/LinearBlockProcessNumbered"/>
    <dgm:cxn modelId="{BE01809C-AC2A-4741-AB2A-ADBC48267A48}" type="presOf" srcId="{674B29A0-B274-49B5-8D22-979A2D1F3FD5}" destId="{ABF1BF45-54FB-144F-97B9-12183DE479C2}" srcOrd="0" destOrd="0" presId="urn:microsoft.com/office/officeart/2016/7/layout/LinearBlockProcessNumbered"/>
    <dgm:cxn modelId="{66B924A7-2833-B840-92FE-0D17B5AC2A2F}" type="presOf" srcId="{DB73C14A-2C4F-4F2B-8079-ACBCD3EB8E83}" destId="{8CFA145E-5E69-ED4D-923D-5E7AC9150155}" srcOrd="0" destOrd="0" presId="urn:microsoft.com/office/officeart/2016/7/layout/LinearBlockProcessNumbered"/>
    <dgm:cxn modelId="{E36877D4-9713-9C4D-B364-F5AE624ED3C0}" type="presOf" srcId="{0E1294D6-5DAC-4AA7-9E9C-6DC01597CFCF}" destId="{B2A4D5F0-64BF-6648-9AB1-23CFF55C966B}" srcOrd="1" destOrd="0" presId="urn:microsoft.com/office/officeart/2016/7/layout/LinearBlockProcessNumbered"/>
    <dgm:cxn modelId="{5B2354D5-B8E9-BF40-B1FA-65B243E2AE09}" type="presOf" srcId="{6B758EA6-BB22-4EA9-84C7-520FA731FA7B}" destId="{7473572A-1433-2B41-8F54-4777461F9CDC}" srcOrd="1" destOrd="0" presId="urn:microsoft.com/office/officeart/2016/7/layout/LinearBlockProcessNumbered"/>
    <dgm:cxn modelId="{DE1371DB-FC2E-3048-8659-A25AE9C4112E}" type="presOf" srcId="{F674EDAF-3F3B-457C-AAE4-BD3FE6F37571}" destId="{20C89DC4-2566-8B4F-A9F8-87953755AD5E}" srcOrd="0" destOrd="0" presId="urn:microsoft.com/office/officeart/2016/7/layout/LinearBlockProcessNumbered"/>
    <dgm:cxn modelId="{735E5CE0-075E-9A4D-8170-01155F48FC2F}" type="presOf" srcId="{6B758EA6-BB22-4EA9-84C7-520FA731FA7B}" destId="{4D284AC0-58D7-DB4C-B656-1FC1671F6EE6}" srcOrd="0" destOrd="0" presId="urn:microsoft.com/office/officeart/2016/7/layout/LinearBlockProcessNumbered"/>
    <dgm:cxn modelId="{B43E40FC-A29D-F249-A42B-6DE1911E7FFD}" type="presOf" srcId="{519C1910-3E38-47A6-BC4E-48397D64F993}" destId="{E731BB65-650D-644D-882C-E7BF9B04EC76}" srcOrd="1" destOrd="0" presId="urn:microsoft.com/office/officeart/2016/7/layout/LinearBlockProcessNumbered"/>
    <dgm:cxn modelId="{72825C48-8D97-1D41-B77C-0C5D52A224D9}" type="presParOf" srcId="{A615BD2A-09BC-A445-B5D6-BC47E4F1C789}" destId="{E3D5B5B5-5BDA-8A40-B1E2-C0B6EDF1317C}" srcOrd="0" destOrd="0" presId="urn:microsoft.com/office/officeart/2016/7/layout/LinearBlockProcessNumbered"/>
    <dgm:cxn modelId="{57FF8B42-72ED-AD4D-89BE-6813BDE4CD27}" type="presParOf" srcId="{E3D5B5B5-5BDA-8A40-B1E2-C0B6EDF1317C}" destId="{512BF15C-7885-E94F-81D6-23E49145E420}" srcOrd="0" destOrd="0" presId="urn:microsoft.com/office/officeart/2016/7/layout/LinearBlockProcessNumbered"/>
    <dgm:cxn modelId="{FD665B5A-E74C-8345-9091-0EFF8B042CE2}" type="presParOf" srcId="{E3D5B5B5-5BDA-8A40-B1E2-C0B6EDF1317C}" destId="{71F83575-7DFC-614A-8C47-19560DF10A62}" srcOrd="1" destOrd="0" presId="urn:microsoft.com/office/officeart/2016/7/layout/LinearBlockProcessNumbered"/>
    <dgm:cxn modelId="{DDD249B0-0045-A343-86E2-AFE4EC4E2DA8}" type="presParOf" srcId="{E3D5B5B5-5BDA-8A40-B1E2-C0B6EDF1317C}" destId="{E731BB65-650D-644D-882C-E7BF9B04EC76}" srcOrd="2" destOrd="0" presId="urn:microsoft.com/office/officeart/2016/7/layout/LinearBlockProcessNumbered"/>
    <dgm:cxn modelId="{89453E10-A59F-8F4A-9BA1-FD7AE4F2F6A6}" type="presParOf" srcId="{A615BD2A-09BC-A445-B5D6-BC47E4F1C789}" destId="{FD345678-CB89-4848-84A9-D0F5E99124CB}" srcOrd="1" destOrd="0" presId="urn:microsoft.com/office/officeart/2016/7/layout/LinearBlockProcessNumbered"/>
    <dgm:cxn modelId="{91C0872E-D609-C44C-B398-874DC5D3B6FD}" type="presParOf" srcId="{A615BD2A-09BC-A445-B5D6-BC47E4F1C789}" destId="{260924B6-0E2E-E543-AC90-10E42458E158}" srcOrd="2" destOrd="0" presId="urn:microsoft.com/office/officeart/2016/7/layout/LinearBlockProcessNumbered"/>
    <dgm:cxn modelId="{D6AB5CDA-CEF6-B242-98D3-D528FA361247}" type="presParOf" srcId="{260924B6-0E2E-E543-AC90-10E42458E158}" destId="{DF2D1B21-79A3-6248-ABE8-B8993E7A375F}" srcOrd="0" destOrd="0" presId="urn:microsoft.com/office/officeart/2016/7/layout/LinearBlockProcessNumbered"/>
    <dgm:cxn modelId="{49357C03-09BB-A94A-8B69-628FB5CBF035}" type="presParOf" srcId="{260924B6-0E2E-E543-AC90-10E42458E158}" destId="{DF926F44-EDF3-144C-A4CD-23E0D22803FD}" srcOrd="1" destOrd="0" presId="urn:microsoft.com/office/officeart/2016/7/layout/LinearBlockProcessNumbered"/>
    <dgm:cxn modelId="{660174B5-3666-454B-9E98-4F54033BB01D}" type="presParOf" srcId="{260924B6-0E2E-E543-AC90-10E42458E158}" destId="{B2A4D5F0-64BF-6648-9AB1-23CFF55C966B}" srcOrd="2" destOrd="0" presId="urn:microsoft.com/office/officeart/2016/7/layout/LinearBlockProcessNumbered"/>
    <dgm:cxn modelId="{4BA4A3A2-4BCC-B240-8958-03B2D70C7BA0}" type="presParOf" srcId="{A615BD2A-09BC-A445-B5D6-BC47E4F1C789}" destId="{ABD0B551-764A-0F4E-B5B7-F5A722CEA65A}" srcOrd="3" destOrd="0" presId="urn:microsoft.com/office/officeart/2016/7/layout/LinearBlockProcessNumbered"/>
    <dgm:cxn modelId="{7D7FE80C-7EE9-F34A-AFB1-29E412C3AD5B}" type="presParOf" srcId="{A615BD2A-09BC-A445-B5D6-BC47E4F1C789}" destId="{7A860947-D920-7F40-96DF-EEE5E863496E}" srcOrd="4" destOrd="0" presId="urn:microsoft.com/office/officeart/2016/7/layout/LinearBlockProcessNumbered"/>
    <dgm:cxn modelId="{DF971211-E852-F041-A0AE-B3CD683FDA4D}" type="presParOf" srcId="{7A860947-D920-7F40-96DF-EEE5E863496E}" destId="{ABF1BF45-54FB-144F-97B9-12183DE479C2}" srcOrd="0" destOrd="0" presId="urn:microsoft.com/office/officeart/2016/7/layout/LinearBlockProcessNumbered"/>
    <dgm:cxn modelId="{0695EC5F-A35F-4E46-87D7-8BB01471A5F6}" type="presParOf" srcId="{7A860947-D920-7F40-96DF-EEE5E863496E}" destId="{8CFA145E-5E69-ED4D-923D-5E7AC9150155}" srcOrd="1" destOrd="0" presId="urn:microsoft.com/office/officeart/2016/7/layout/LinearBlockProcessNumbered"/>
    <dgm:cxn modelId="{E64A068C-0B12-1148-88A5-C9A44BBC820A}" type="presParOf" srcId="{7A860947-D920-7F40-96DF-EEE5E863496E}" destId="{C637B257-E410-A148-AF10-3995C29C3B71}" srcOrd="2" destOrd="0" presId="urn:microsoft.com/office/officeart/2016/7/layout/LinearBlockProcessNumbered"/>
    <dgm:cxn modelId="{EE44CCCB-D128-DC44-8B0C-FCAE573C60EB}" type="presParOf" srcId="{A615BD2A-09BC-A445-B5D6-BC47E4F1C789}" destId="{3DCDD763-6187-444E-9B30-2C3A0B338636}" srcOrd="5" destOrd="0" presId="urn:microsoft.com/office/officeart/2016/7/layout/LinearBlockProcessNumbered"/>
    <dgm:cxn modelId="{979C5C14-9404-6247-82CA-7FFD62EF7B8D}" type="presParOf" srcId="{A615BD2A-09BC-A445-B5D6-BC47E4F1C789}" destId="{448842A7-1433-714E-A219-0335130BE809}" srcOrd="6" destOrd="0" presId="urn:microsoft.com/office/officeart/2016/7/layout/LinearBlockProcessNumbered"/>
    <dgm:cxn modelId="{5F771599-E681-0149-B351-9E758607EBF1}" type="presParOf" srcId="{448842A7-1433-714E-A219-0335130BE809}" destId="{4D284AC0-58D7-DB4C-B656-1FC1671F6EE6}" srcOrd="0" destOrd="0" presId="urn:microsoft.com/office/officeart/2016/7/layout/LinearBlockProcessNumbered"/>
    <dgm:cxn modelId="{1E078735-0A37-E34A-9C40-1EDF6E37B6AF}" type="presParOf" srcId="{448842A7-1433-714E-A219-0335130BE809}" destId="{20C89DC4-2566-8B4F-A9F8-87953755AD5E}" srcOrd="1" destOrd="0" presId="urn:microsoft.com/office/officeart/2016/7/layout/LinearBlockProcessNumbered"/>
    <dgm:cxn modelId="{0818FB8C-CEC9-1B47-B489-CF77A0F005D2}" type="presParOf" srcId="{448842A7-1433-714E-A219-0335130BE809}" destId="{7473572A-1433-2B41-8F54-4777461F9CDC}"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CFA836-816A-42EA-8ADF-0863E13A5298}">
      <dsp:nvSpPr>
        <dsp:cNvPr id="0" name=""/>
        <dsp:cNvSpPr/>
      </dsp:nvSpPr>
      <dsp:spPr>
        <a:xfrm>
          <a:off x="0" y="2042"/>
          <a:ext cx="4231481" cy="10351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FFEAE5-7307-4D6B-8F9C-BEF9757FCF84}">
      <dsp:nvSpPr>
        <dsp:cNvPr id="0" name=""/>
        <dsp:cNvSpPr/>
      </dsp:nvSpPr>
      <dsp:spPr>
        <a:xfrm>
          <a:off x="313145" y="234960"/>
          <a:ext cx="569355" cy="5693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DB5EBBA-8D06-4133-9DD8-4BC5406DD2EE}">
      <dsp:nvSpPr>
        <dsp:cNvPr id="0" name=""/>
        <dsp:cNvSpPr/>
      </dsp:nvSpPr>
      <dsp:spPr>
        <a:xfrm>
          <a:off x="1195647" y="2042"/>
          <a:ext cx="3035833" cy="1035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8" tIns="109558" rIns="109558" bIns="109558" numCol="1" spcCol="1270" anchor="ctr" anchorCtr="0">
          <a:noAutofit/>
        </a:bodyPr>
        <a:lstStyle/>
        <a:p>
          <a:pPr marL="0" lvl="0" indent="0" algn="l" defTabSz="933450">
            <a:lnSpc>
              <a:spcPct val="90000"/>
            </a:lnSpc>
            <a:spcBef>
              <a:spcPct val="0"/>
            </a:spcBef>
            <a:spcAft>
              <a:spcPct val="35000"/>
            </a:spcAft>
            <a:buNone/>
          </a:pPr>
          <a:r>
            <a:rPr lang="en-US" sz="2100" kern="1200"/>
            <a:t>Understand what BDD is (and isn’t)</a:t>
          </a:r>
        </a:p>
      </dsp:txBody>
      <dsp:txXfrm>
        <a:off x="1195647" y="2042"/>
        <a:ext cx="3035833" cy="1035192"/>
      </dsp:txXfrm>
    </dsp:sp>
    <dsp:sp modelId="{4334E978-452D-4888-80EB-94843614D1FF}">
      <dsp:nvSpPr>
        <dsp:cNvPr id="0" name=""/>
        <dsp:cNvSpPr/>
      </dsp:nvSpPr>
      <dsp:spPr>
        <a:xfrm>
          <a:off x="0" y="1296033"/>
          <a:ext cx="4231481" cy="10351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4E2B1D-EE2A-4CA4-BC67-4265F00174FD}">
      <dsp:nvSpPr>
        <dsp:cNvPr id="0" name=""/>
        <dsp:cNvSpPr/>
      </dsp:nvSpPr>
      <dsp:spPr>
        <a:xfrm>
          <a:off x="313145" y="1528951"/>
          <a:ext cx="569355" cy="5693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B5A5493-CD1C-44F4-9FC3-43B525E324A8}">
      <dsp:nvSpPr>
        <dsp:cNvPr id="0" name=""/>
        <dsp:cNvSpPr/>
      </dsp:nvSpPr>
      <dsp:spPr>
        <a:xfrm>
          <a:off x="1195647" y="1296033"/>
          <a:ext cx="3035833" cy="1035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8" tIns="109558" rIns="109558" bIns="109558" numCol="1" spcCol="1270" anchor="ctr" anchorCtr="0">
          <a:noAutofit/>
        </a:bodyPr>
        <a:lstStyle/>
        <a:p>
          <a:pPr marL="0" lvl="0" indent="0" algn="l" defTabSz="933450">
            <a:lnSpc>
              <a:spcPct val="90000"/>
            </a:lnSpc>
            <a:spcBef>
              <a:spcPct val="0"/>
            </a:spcBef>
            <a:spcAft>
              <a:spcPct val="35000"/>
            </a:spcAft>
            <a:buNone/>
          </a:pPr>
          <a:r>
            <a:rPr lang="en-US" sz="2100" kern="1200"/>
            <a:t>Learn to write clear, valuable scenarios</a:t>
          </a:r>
        </a:p>
      </dsp:txBody>
      <dsp:txXfrm>
        <a:off x="1195647" y="1296033"/>
        <a:ext cx="3035833" cy="1035192"/>
      </dsp:txXfrm>
    </dsp:sp>
    <dsp:sp modelId="{40C84181-B33E-499D-9D55-F7C9761D5B0A}">
      <dsp:nvSpPr>
        <dsp:cNvPr id="0" name=""/>
        <dsp:cNvSpPr/>
      </dsp:nvSpPr>
      <dsp:spPr>
        <a:xfrm>
          <a:off x="0" y="2590024"/>
          <a:ext cx="4231481" cy="10351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D8B872-198E-477A-9445-80D093FB8E7E}">
      <dsp:nvSpPr>
        <dsp:cNvPr id="0" name=""/>
        <dsp:cNvSpPr/>
      </dsp:nvSpPr>
      <dsp:spPr>
        <a:xfrm>
          <a:off x="313145" y="2822942"/>
          <a:ext cx="569355" cy="56935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52F2EF-92D8-434A-871E-FD43D9950B84}">
      <dsp:nvSpPr>
        <dsp:cNvPr id="0" name=""/>
        <dsp:cNvSpPr/>
      </dsp:nvSpPr>
      <dsp:spPr>
        <a:xfrm>
          <a:off x="1195647" y="2590024"/>
          <a:ext cx="3035833" cy="1035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8" tIns="109558" rIns="109558" bIns="109558" numCol="1" spcCol="1270" anchor="ctr" anchorCtr="0">
          <a:noAutofit/>
        </a:bodyPr>
        <a:lstStyle/>
        <a:p>
          <a:pPr marL="0" lvl="0" indent="0" algn="l" defTabSz="933450">
            <a:lnSpc>
              <a:spcPct val="90000"/>
            </a:lnSpc>
            <a:spcBef>
              <a:spcPct val="0"/>
            </a:spcBef>
            <a:spcAft>
              <a:spcPct val="35000"/>
            </a:spcAft>
            <a:buNone/>
          </a:pPr>
          <a:r>
            <a:rPr lang="en-US" sz="2100" kern="1200"/>
            <a:t>Know where automation helps—and where it hurts</a:t>
          </a:r>
        </a:p>
      </dsp:txBody>
      <dsp:txXfrm>
        <a:off x="1195647" y="2590024"/>
        <a:ext cx="3035833" cy="1035192"/>
      </dsp:txXfrm>
    </dsp:sp>
    <dsp:sp modelId="{0DDBE8E0-C2ED-43C2-BACD-AB81397CCF0C}">
      <dsp:nvSpPr>
        <dsp:cNvPr id="0" name=""/>
        <dsp:cNvSpPr/>
      </dsp:nvSpPr>
      <dsp:spPr>
        <a:xfrm>
          <a:off x="0" y="3884014"/>
          <a:ext cx="4231481" cy="10351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1A18C0-0422-408C-AF97-FF3ABE431FC1}">
      <dsp:nvSpPr>
        <dsp:cNvPr id="0" name=""/>
        <dsp:cNvSpPr/>
      </dsp:nvSpPr>
      <dsp:spPr>
        <a:xfrm>
          <a:off x="313145" y="4116933"/>
          <a:ext cx="569355" cy="56935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83F028-2947-4390-A725-A0130CDC29AD}">
      <dsp:nvSpPr>
        <dsp:cNvPr id="0" name=""/>
        <dsp:cNvSpPr/>
      </dsp:nvSpPr>
      <dsp:spPr>
        <a:xfrm>
          <a:off x="1195647" y="3884014"/>
          <a:ext cx="3035833" cy="1035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8" tIns="109558" rIns="109558" bIns="109558" numCol="1" spcCol="1270" anchor="ctr" anchorCtr="0">
          <a:noAutofit/>
        </a:bodyPr>
        <a:lstStyle/>
        <a:p>
          <a:pPr marL="0" lvl="0" indent="0" algn="l" defTabSz="933450">
            <a:lnSpc>
              <a:spcPct val="90000"/>
            </a:lnSpc>
            <a:spcBef>
              <a:spcPct val="0"/>
            </a:spcBef>
            <a:spcAft>
              <a:spcPct val="35000"/>
            </a:spcAft>
            <a:buNone/>
          </a:pPr>
          <a:r>
            <a:rPr lang="en-US" sz="2100" kern="1200"/>
            <a:t>Leave with templates and a workflow you can use tomorrow</a:t>
          </a:r>
        </a:p>
      </dsp:txBody>
      <dsp:txXfrm>
        <a:off x="1195647" y="3884014"/>
        <a:ext cx="3035833" cy="10351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2B7CB-17E2-4C5E-A8B4-1DAF4D75FFC0}">
      <dsp:nvSpPr>
        <dsp:cNvPr id="0" name=""/>
        <dsp:cNvSpPr/>
      </dsp:nvSpPr>
      <dsp:spPr>
        <a:xfrm>
          <a:off x="0" y="1301"/>
          <a:ext cx="7290055" cy="554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B6C486-7935-4518-BEB5-2CE587E98F35}">
      <dsp:nvSpPr>
        <dsp:cNvPr id="0" name=""/>
        <dsp:cNvSpPr/>
      </dsp:nvSpPr>
      <dsp:spPr>
        <a:xfrm>
          <a:off x="167762" y="126083"/>
          <a:ext cx="305022" cy="30502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7FFEA6-F15F-4868-94CD-94BB5F8CC020}">
      <dsp:nvSpPr>
        <dsp:cNvPr id="0" name=""/>
        <dsp:cNvSpPr/>
      </dsp:nvSpPr>
      <dsp:spPr>
        <a:xfrm>
          <a:off x="640548" y="1301"/>
          <a:ext cx="6649506" cy="55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694" tIns="58694" rIns="58694" bIns="58694" numCol="1" spcCol="1270" anchor="ctr" anchorCtr="0">
          <a:noAutofit/>
        </a:bodyPr>
        <a:lstStyle/>
        <a:p>
          <a:pPr marL="0" lvl="0" indent="0" algn="l" defTabSz="844550">
            <a:lnSpc>
              <a:spcPct val="100000"/>
            </a:lnSpc>
            <a:spcBef>
              <a:spcPct val="0"/>
            </a:spcBef>
            <a:spcAft>
              <a:spcPct val="35000"/>
            </a:spcAft>
            <a:buNone/>
          </a:pPr>
          <a:r>
            <a:rPr lang="en-US" sz="1900" kern="1200"/>
            <a:t>1) What/why of BDD</a:t>
          </a:r>
        </a:p>
      </dsp:txBody>
      <dsp:txXfrm>
        <a:off x="640548" y="1301"/>
        <a:ext cx="6649506" cy="554587"/>
      </dsp:txXfrm>
    </dsp:sp>
    <dsp:sp modelId="{15DDB939-CA4E-4DE4-95A2-BAD9A30A17CC}">
      <dsp:nvSpPr>
        <dsp:cNvPr id="0" name=""/>
        <dsp:cNvSpPr/>
      </dsp:nvSpPr>
      <dsp:spPr>
        <a:xfrm>
          <a:off x="0" y="694535"/>
          <a:ext cx="7290055" cy="554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F3F66A-AF42-43B5-93D6-E0B84EEBDCFC}">
      <dsp:nvSpPr>
        <dsp:cNvPr id="0" name=""/>
        <dsp:cNvSpPr/>
      </dsp:nvSpPr>
      <dsp:spPr>
        <a:xfrm>
          <a:off x="167762" y="819317"/>
          <a:ext cx="305022" cy="30502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B63477-7A57-44A2-8FAC-6390C77B9E24}">
      <dsp:nvSpPr>
        <dsp:cNvPr id="0" name=""/>
        <dsp:cNvSpPr/>
      </dsp:nvSpPr>
      <dsp:spPr>
        <a:xfrm>
          <a:off x="640548" y="694535"/>
          <a:ext cx="6649506" cy="55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694" tIns="58694" rIns="58694" bIns="58694" numCol="1" spcCol="1270" anchor="ctr" anchorCtr="0">
          <a:noAutofit/>
        </a:bodyPr>
        <a:lstStyle/>
        <a:p>
          <a:pPr marL="0" lvl="0" indent="0" algn="l" defTabSz="844550">
            <a:lnSpc>
              <a:spcPct val="100000"/>
            </a:lnSpc>
            <a:spcBef>
              <a:spcPct val="0"/>
            </a:spcBef>
            <a:spcAft>
              <a:spcPct val="35000"/>
            </a:spcAft>
            <a:buNone/>
          </a:pPr>
          <a:r>
            <a:rPr lang="en-US" sz="1900" kern="1200"/>
            <a:t>2) Behavior + examples + shared language</a:t>
          </a:r>
        </a:p>
      </dsp:txBody>
      <dsp:txXfrm>
        <a:off x="640548" y="694535"/>
        <a:ext cx="6649506" cy="554587"/>
      </dsp:txXfrm>
    </dsp:sp>
    <dsp:sp modelId="{3EF2CB2A-8987-43A4-A0B0-DD56B5E58637}">
      <dsp:nvSpPr>
        <dsp:cNvPr id="0" name=""/>
        <dsp:cNvSpPr/>
      </dsp:nvSpPr>
      <dsp:spPr>
        <a:xfrm>
          <a:off x="0" y="1387769"/>
          <a:ext cx="7290055" cy="554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0F5A8B-057D-4533-8BDD-5352BADA7C6F}">
      <dsp:nvSpPr>
        <dsp:cNvPr id="0" name=""/>
        <dsp:cNvSpPr/>
      </dsp:nvSpPr>
      <dsp:spPr>
        <a:xfrm>
          <a:off x="167762" y="1512551"/>
          <a:ext cx="305022" cy="30502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9B42D3-D53C-419D-AF88-BA77FBC75701}">
      <dsp:nvSpPr>
        <dsp:cNvPr id="0" name=""/>
        <dsp:cNvSpPr/>
      </dsp:nvSpPr>
      <dsp:spPr>
        <a:xfrm>
          <a:off x="640548" y="1387769"/>
          <a:ext cx="6649506" cy="55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694" tIns="58694" rIns="58694" bIns="58694" numCol="1" spcCol="1270" anchor="ctr" anchorCtr="0">
          <a:noAutofit/>
        </a:bodyPr>
        <a:lstStyle/>
        <a:p>
          <a:pPr marL="0" lvl="0" indent="0" algn="l" defTabSz="844550">
            <a:lnSpc>
              <a:spcPct val="100000"/>
            </a:lnSpc>
            <a:spcBef>
              <a:spcPct val="0"/>
            </a:spcBef>
            <a:spcAft>
              <a:spcPct val="35000"/>
            </a:spcAft>
            <a:buNone/>
          </a:pPr>
          <a:r>
            <a:rPr lang="en-US" sz="1900" kern="1200"/>
            <a:t>3) Gherkin basics</a:t>
          </a:r>
        </a:p>
      </dsp:txBody>
      <dsp:txXfrm>
        <a:off x="640548" y="1387769"/>
        <a:ext cx="6649506" cy="554587"/>
      </dsp:txXfrm>
    </dsp:sp>
    <dsp:sp modelId="{422AB215-CAB2-4F3C-B79D-68A974F668DB}">
      <dsp:nvSpPr>
        <dsp:cNvPr id="0" name=""/>
        <dsp:cNvSpPr/>
      </dsp:nvSpPr>
      <dsp:spPr>
        <a:xfrm>
          <a:off x="0" y="2081003"/>
          <a:ext cx="7290055" cy="554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365D8D-4B04-47AB-93DD-11D316E4A09B}">
      <dsp:nvSpPr>
        <dsp:cNvPr id="0" name=""/>
        <dsp:cNvSpPr/>
      </dsp:nvSpPr>
      <dsp:spPr>
        <a:xfrm>
          <a:off x="167762" y="2205785"/>
          <a:ext cx="305022" cy="30502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1301AC-7A06-4301-8488-3ECB2AA6CA54}">
      <dsp:nvSpPr>
        <dsp:cNvPr id="0" name=""/>
        <dsp:cNvSpPr/>
      </dsp:nvSpPr>
      <dsp:spPr>
        <a:xfrm>
          <a:off x="640548" y="2081003"/>
          <a:ext cx="6649506" cy="55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694" tIns="58694" rIns="58694" bIns="58694" numCol="1" spcCol="1270" anchor="ctr" anchorCtr="0">
          <a:noAutofit/>
        </a:bodyPr>
        <a:lstStyle/>
        <a:p>
          <a:pPr marL="0" lvl="0" indent="0" algn="l" defTabSz="844550">
            <a:lnSpc>
              <a:spcPct val="100000"/>
            </a:lnSpc>
            <a:spcBef>
              <a:spcPct val="0"/>
            </a:spcBef>
            <a:spcAft>
              <a:spcPct val="35000"/>
            </a:spcAft>
            <a:buNone/>
          </a:pPr>
          <a:r>
            <a:rPr lang="en-US" sz="1900" kern="1200"/>
            <a:t>4) Writing good scenarios</a:t>
          </a:r>
        </a:p>
      </dsp:txBody>
      <dsp:txXfrm>
        <a:off x="640548" y="2081003"/>
        <a:ext cx="6649506" cy="554587"/>
      </dsp:txXfrm>
    </dsp:sp>
    <dsp:sp modelId="{1739D48B-9B1D-4E6E-AE78-AA2F7C8CD443}">
      <dsp:nvSpPr>
        <dsp:cNvPr id="0" name=""/>
        <dsp:cNvSpPr/>
      </dsp:nvSpPr>
      <dsp:spPr>
        <a:xfrm>
          <a:off x="0" y="2774237"/>
          <a:ext cx="7290055" cy="554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5FBB9F-C897-46C8-B693-A0B9A48543DA}">
      <dsp:nvSpPr>
        <dsp:cNvPr id="0" name=""/>
        <dsp:cNvSpPr/>
      </dsp:nvSpPr>
      <dsp:spPr>
        <a:xfrm>
          <a:off x="167762" y="2899019"/>
          <a:ext cx="305022" cy="30502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EC9243-92C4-4544-AD6A-AB3C577410F6}">
      <dsp:nvSpPr>
        <dsp:cNvPr id="0" name=""/>
        <dsp:cNvSpPr/>
      </dsp:nvSpPr>
      <dsp:spPr>
        <a:xfrm>
          <a:off x="640548" y="2774237"/>
          <a:ext cx="6649506" cy="55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694" tIns="58694" rIns="58694" bIns="58694" numCol="1" spcCol="1270" anchor="ctr" anchorCtr="0">
          <a:noAutofit/>
        </a:bodyPr>
        <a:lstStyle/>
        <a:p>
          <a:pPr marL="0" lvl="0" indent="0" algn="l" defTabSz="844550">
            <a:lnSpc>
              <a:spcPct val="100000"/>
            </a:lnSpc>
            <a:spcBef>
              <a:spcPct val="0"/>
            </a:spcBef>
            <a:spcAft>
              <a:spcPct val="35000"/>
            </a:spcAft>
            <a:buNone/>
          </a:pPr>
          <a:r>
            <a:rPr lang="en-US" sz="1900" kern="1200"/>
            <a:t>5) Automation and step design</a:t>
          </a:r>
        </a:p>
      </dsp:txBody>
      <dsp:txXfrm>
        <a:off x="640548" y="2774237"/>
        <a:ext cx="6649506" cy="554587"/>
      </dsp:txXfrm>
    </dsp:sp>
    <dsp:sp modelId="{83A38D68-4227-4C9C-B1AF-43E67BE51A1A}">
      <dsp:nvSpPr>
        <dsp:cNvPr id="0" name=""/>
        <dsp:cNvSpPr/>
      </dsp:nvSpPr>
      <dsp:spPr>
        <a:xfrm>
          <a:off x="0" y="3467471"/>
          <a:ext cx="7290055" cy="554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846A15-08F0-4C59-8A31-774C9A98C9E5}">
      <dsp:nvSpPr>
        <dsp:cNvPr id="0" name=""/>
        <dsp:cNvSpPr/>
      </dsp:nvSpPr>
      <dsp:spPr>
        <a:xfrm>
          <a:off x="167762" y="3592253"/>
          <a:ext cx="305022" cy="30502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3597BC-A568-4FF3-83D6-077AADD51A2D}">
      <dsp:nvSpPr>
        <dsp:cNvPr id="0" name=""/>
        <dsp:cNvSpPr/>
      </dsp:nvSpPr>
      <dsp:spPr>
        <a:xfrm>
          <a:off x="640548" y="3467471"/>
          <a:ext cx="6649506" cy="55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694" tIns="58694" rIns="58694" bIns="58694" numCol="1" spcCol="1270" anchor="ctr" anchorCtr="0">
          <a:noAutofit/>
        </a:bodyPr>
        <a:lstStyle/>
        <a:p>
          <a:pPr marL="0" lvl="0" indent="0" algn="l" defTabSz="844550">
            <a:lnSpc>
              <a:spcPct val="100000"/>
            </a:lnSpc>
            <a:spcBef>
              <a:spcPct val="0"/>
            </a:spcBef>
            <a:spcAft>
              <a:spcPct val="35000"/>
            </a:spcAft>
            <a:buNone/>
          </a:pPr>
          <a:r>
            <a:rPr lang="en-US" sz="1900" kern="1200"/>
            <a:t>6) Workflow, strategy, pitfalls</a:t>
          </a:r>
        </a:p>
      </dsp:txBody>
      <dsp:txXfrm>
        <a:off x="640548" y="3467471"/>
        <a:ext cx="6649506" cy="5545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45D0D2-D20F-5F42-A6FB-E2DEAF82CE32}">
      <dsp:nvSpPr>
        <dsp:cNvPr id="0" name=""/>
        <dsp:cNvSpPr/>
      </dsp:nvSpPr>
      <dsp:spPr>
        <a:xfrm>
          <a:off x="1633347" y="0"/>
          <a:ext cx="4023360" cy="402336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ABDD29-96BD-D243-A4D1-1CA07D5DA04D}">
      <dsp:nvSpPr>
        <dsp:cNvPr id="0" name=""/>
        <dsp:cNvSpPr/>
      </dsp:nvSpPr>
      <dsp:spPr>
        <a:xfrm>
          <a:off x="2015566" y="382219"/>
          <a:ext cx="1569110" cy="156911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Vague requirements → different interpretations</a:t>
          </a:r>
        </a:p>
      </dsp:txBody>
      <dsp:txXfrm>
        <a:off x="2092164" y="458817"/>
        <a:ext cx="1415914" cy="1415914"/>
      </dsp:txXfrm>
    </dsp:sp>
    <dsp:sp modelId="{CAF362A7-3964-0E41-A992-35E423B65138}">
      <dsp:nvSpPr>
        <dsp:cNvPr id="0" name=""/>
        <dsp:cNvSpPr/>
      </dsp:nvSpPr>
      <dsp:spPr>
        <a:xfrm>
          <a:off x="3705377" y="382219"/>
          <a:ext cx="1569110" cy="156911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Hard-to-verify acceptance criteria</a:t>
          </a:r>
        </a:p>
      </dsp:txBody>
      <dsp:txXfrm>
        <a:off x="3781975" y="458817"/>
        <a:ext cx="1415914" cy="1415914"/>
      </dsp:txXfrm>
    </dsp:sp>
    <dsp:sp modelId="{6424156F-0C6F-6746-8BC2-7F1EF8B80534}">
      <dsp:nvSpPr>
        <dsp:cNvPr id="0" name=""/>
        <dsp:cNvSpPr/>
      </dsp:nvSpPr>
      <dsp:spPr>
        <a:xfrm>
          <a:off x="2015566" y="2072030"/>
          <a:ext cx="1569110" cy="156911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Late surprises during QA/release</a:t>
          </a:r>
        </a:p>
      </dsp:txBody>
      <dsp:txXfrm>
        <a:off x="2092164" y="2148628"/>
        <a:ext cx="1415914" cy="1415914"/>
      </dsp:txXfrm>
    </dsp:sp>
    <dsp:sp modelId="{D0C3F3F9-46C0-5343-A32B-86FA4A2968C2}">
      <dsp:nvSpPr>
        <dsp:cNvPr id="0" name=""/>
        <dsp:cNvSpPr/>
      </dsp:nvSpPr>
      <dsp:spPr>
        <a:xfrm>
          <a:off x="3705377" y="2072030"/>
          <a:ext cx="1569110" cy="156911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Knowledge trapped in heads and chat logs</a:t>
          </a:r>
        </a:p>
      </dsp:txBody>
      <dsp:txXfrm>
        <a:off x="3781975" y="2148628"/>
        <a:ext cx="1415914" cy="14159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CD90FE-C3DC-40B9-949F-DE27D2E07253}">
      <dsp:nvSpPr>
        <dsp:cNvPr id="0" name=""/>
        <dsp:cNvSpPr/>
      </dsp:nvSpPr>
      <dsp:spPr>
        <a:xfrm>
          <a:off x="316100" y="1045268"/>
          <a:ext cx="982195" cy="98219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0D1BB0-0ECE-4451-8AC8-C3AE33FB0DD0}">
      <dsp:nvSpPr>
        <dsp:cNvPr id="0" name=""/>
        <dsp:cNvSpPr/>
      </dsp:nvSpPr>
      <dsp:spPr>
        <a:xfrm>
          <a:off x="525420" y="1254589"/>
          <a:ext cx="563554" cy="5635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BB6082-0527-4595-8F22-2FB3633F0C5E}">
      <dsp:nvSpPr>
        <dsp:cNvPr id="0" name=""/>
        <dsp:cNvSpPr/>
      </dsp:nvSpPr>
      <dsp:spPr>
        <a:xfrm>
          <a:off x="2119" y="2333393"/>
          <a:ext cx="1610156" cy="644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Bring a story/requirement</a:t>
          </a:r>
        </a:p>
      </dsp:txBody>
      <dsp:txXfrm>
        <a:off x="2119" y="2333393"/>
        <a:ext cx="1610156" cy="644062"/>
      </dsp:txXfrm>
    </dsp:sp>
    <dsp:sp modelId="{C64BEAFA-9C94-43B9-BA1B-449546B1D58E}">
      <dsp:nvSpPr>
        <dsp:cNvPr id="0" name=""/>
        <dsp:cNvSpPr/>
      </dsp:nvSpPr>
      <dsp:spPr>
        <a:xfrm>
          <a:off x="2208034" y="1045268"/>
          <a:ext cx="982195" cy="98219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E3FC6E-B53A-47FA-A493-F0DFAA573F4D}">
      <dsp:nvSpPr>
        <dsp:cNvPr id="0" name=""/>
        <dsp:cNvSpPr/>
      </dsp:nvSpPr>
      <dsp:spPr>
        <a:xfrm>
          <a:off x="2417354" y="1254589"/>
          <a:ext cx="563554" cy="5635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B5B4564-B0E5-4BD0-BD1D-43E06330AC45}">
      <dsp:nvSpPr>
        <dsp:cNvPr id="0" name=""/>
        <dsp:cNvSpPr/>
      </dsp:nvSpPr>
      <dsp:spPr>
        <a:xfrm>
          <a:off x="1894053" y="2333393"/>
          <a:ext cx="1610156" cy="644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Ask: “What are real examples?”</a:t>
          </a:r>
        </a:p>
      </dsp:txBody>
      <dsp:txXfrm>
        <a:off x="1894053" y="2333393"/>
        <a:ext cx="1610156" cy="644062"/>
      </dsp:txXfrm>
    </dsp:sp>
    <dsp:sp modelId="{55AD672F-4BED-497A-BD5F-536D9452D13D}">
      <dsp:nvSpPr>
        <dsp:cNvPr id="0" name=""/>
        <dsp:cNvSpPr/>
      </dsp:nvSpPr>
      <dsp:spPr>
        <a:xfrm>
          <a:off x="4099967" y="1045268"/>
          <a:ext cx="982195" cy="98219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18F18C-984E-461F-A83E-03A1BCC567C1}">
      <dsp:nvSpPr>
        <dsp:cNvPr id="0" name=""/>
        <dsp:cNvSpPr/>
      </dsp:nvSpPr>
      <dsp:spPr>
        <a:xfrm>
          <a:off x="4309287" y="1254589"/>
          <a:ext cx="563554" cy="56355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B1B210-B5E0-47C5-AA62-517E1CB47C14}">
      <dsp:nvSpPr>
        <dsp:cNvPr id="0" name=""/>
        <dsp:cNvSpPr/>
      </dsp:nvSpPr>
      <dsp:spPr>
        <a:xfrm>
          <a:off x="3785987" y="2333393"/>
          <a:ext cx="1610156" cy="644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Capture rules, edge cases, risks</a:t>
          </a:r>
        </a:p>
      </dsp:txBody>
      <dsp:txXfrm>
        <a:off x="3785987" y="2333393"/>
        <a:ext cx="1610156" cy="644062"/>
      </dsp:txXfrm>
    </dsp:sp>
    <dsp:sp modelId="{E3B70EF9-A749-4B4F-99D8-28DE0BBCF6F2}">
      <dsp:nvSpPr>
        <dsp:cNvPr id="0" name=""/>
        <dsp:cNvSpPr/>
      </dsp:nvSpPr>
      <dsp:spPr>
        <a:xfrm>
          <a:off x="5991901" y="1045268"/>
          <a:ext cx="982195" cy="98219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6A027F-27A7-4A94-9A02-995803C48A30}">
      <dsp:nvSpPr>
        <dsp:cNvPr id="0" name=""/>
        <dsp:cNvSpPr/>
      </dsp:nvSpPr>
      <dsp:spPr>
        <a:xfrm>
          <a:off x="6201221" y="1254589"/>
          <a:ext cx="563554" cy="56355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A499E56-1223-4882-9452-6417ACC30720}">
      <dsp:nvSpPr>
        <dsp:cNvPr id="0" name=""/>
        <dsp:cNvSpPr/>
      </dsp:nvSpPr>
      <dsp:spPr>
        <a:xfrm>
          <a:off x="5677920" y="2333393"/>
          <a:ext cx="1610156" cy="644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Agree on wording (shared language)</a:t>
          </a:r>
        </a:p>
      </dsp:txBody>
      <dsp:txXfrm>
        <a:off x="5677920" y="2333393"/>
        <a:ext cx="1610156" cy="6440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C8047F-FD70-4527-9FC3-43AF39975269}">
      <dsp:nvSpPr>
        <dsp:cNvPr id="0" name=""/>
        <dsp:cNvSpPr/>
      </dsp:nvSpPr>
      <dsp:spPr>
        <a:xfrm>
          <a:off x="441424" y="5340"/>
          <a:ext cx="1144350" cy="114435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5586C9-4253-4754-92BF-6B62C5811F29}">
      <dsp:nvSpPr>
        <dsp:cNvPr id="0" name=""/>
        <dsp:cNvSpPr/>
      </dsp:nvSpPr>
      <dsp:spPr>
        <a:xfrm>
          <a:off x="685302" y="249217"/>
          <a:ext cx="656594" cy="6565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D40C88E-C4B9-4215-8298-070B592746CA}">
      <dsp:nvSpPr>
        <dsp:cNvPr id="0" name=""/>
        <dsp:cNvSpPr/>
      </dsp:nvSpPr>
      <dsp:spPr>
        <a:xfrm>
          <a:off x="75608" y="1506127"/>
          <a:ext cx="187598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Readable by non-developers</a:t>
          </a:r>
        </a:p>
      </dsp:txBody>
      <dsp:txXfrm>
        <a:off x="75608" y="1506127"/>
        <a:ext cx="1875983" cy="720000"/>
      </dsp:txXfrm>
    </dsp:sp>
    <dsp:sp modelId="{A93B7119-1FAE-4167-BB98-5DCB82A292D7}">
      <dsp:nvSpPr>
        <dsp:cNvPr id="0" name=""/>
        <dsp:cNvSpPr/>
      </dsp:nvSpPr>
      <dsp:spPr>
        <a:xfrm>
          <a:off x="2645705" y="5340"/>
          <a:ext cx="1144350" cy="114435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B1F3E7-6EEE-43ED-9436-92F4C0B56C47}">
      <dsp:nvSpPr>
        <dsp:cNvPr id="0" name=""/>
        <dsp:cNvSpPr/>
      </dsp:nvSpPr>
      <dsp:spPr>
        <a:xfrm>
          <a:off x="2889583" y="249217"/>
          <a:ext cx="656594" cy="6565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B61B57F-9291-4A97-AD8C-52DDF39213F3}">
      <dsp:nvSpPr>
        <dsp:cNvPr id="0" name=""/>
        <dsp:cNvSpPr/>
      </dsp:nvSpPr>
      <dsp:spPr>
        <a:xfrm>
          <a:off x="2279889" y="1506127"/>
          <a:ext cx="187598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Focused on behavior (not UI mechanics)</a:t>
          </a:r>
        </a:p>
      </dsp:txBody>
      <dsp:txXfrm>
        <a:off x="2279889" y="1506127"/>
        <a:ext cx="1875983" cy="720000"/>
      </dsp:txXfrm>
    </dsp:sp>
    <dsp:sp modelId="{7522DA11-5EA3-4198-8333-B1283CD40E8F}">
      <dsp:nvSpPr>
        <dsp:cNvPr id="0" name=""/>
        <dsp:cNvSpPr/>
      </dsp:nvSpPr>
      <dsp:spPr>
        <a:xfrm>
          <a:off x="441424" y="2695122"/>
          <a:ext cx="1144350" cy="114435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204520-2708-4734-8DAD-C842C7E6C36D}">
      <dsp:nvSpPr>
        <dsp:cNvPr id="0" name=""/>
        <dsp:cNvSpPr/>
      </dsp:nvSpPr>
      <dsp:spPr>
        <a:xfrm>
          <a:off x="685302" y="2939000"/>
          <a:ext cx="656594" cy="6565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81F3CCD-F3BC-4342-A3AE-10C6D94A409D}">
      <dsp:nvSpPr>
        <dsp:cNvPr id="0" name=""/>
        <dsp:cNvSpPr/>
      </dsp:nvSpPr>
      <dsp:spPr>
        <a:xfrm>
          <a:off x="75608" y="4195909"/>
          <a:ext cx="187598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Specific, observable outcomes</a:t>
          </a:r>
        </a:p>
      </dsp:txBody>
      <dsp:txXfrm>
        <a:off x="75608" y="4195909"/>
        <a:ext cx="1875983" cy="720000"/>
      </dsp:txXfrm>
    </dsp:sp>
    <dsp:sp modelId="{11E707ED-B27F-465A-A107-F14A87DB8EA8}">
      <dsp:nvSpPr>
        <dsp:cNvPr id="0" name=""/>
        <dsp:cNvSpPr/>
      </dsp:nvSpPr>
      <dsp:spPr>
        <a:xfrm>
          <a:off x="2645705" y="2695122"/>
          <a:ext cx="1144350" cy="114435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1D2F79-8EF5-4C98-B891-FAC8F5104110}">
      <dsp:nvSpPr>
        <dsp:cNvPr id="0" name=""/>
        <dsp:cNvSpPr/>
      </dsp:nvSpPr>
      <dsp:spPr>
        <a:xfrm>
          <a:off x="2889583" y="2939000"/>
          <a:ext cx="656594" cy="65659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CA5B807-D193-4DA8-A43D-18CE036642CC}">
      <dsp:nvSpPr>
        <dsp:cNvPr id="0" name=""/>
        <dsp:cNvSpPr/>
      </dsp:nvSpPr>
      <dsp:spPr>
        <a:xfrm>
          <a:off x="2279889" y="4195909"/>
          <a:ext cx="187598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Stable and deterministic</a:t>
          </a:r>
        </a:p>
      </dsp:txBody>
      <dsp:txXfrm>
        <a:off x="2279889" y="4195909"/>
        <a:ext cx="1875983"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C08B3C-8D41-2F46-B6D9-A2493DA01087}">
      <dsp:nvSpPr>
        <dsp:cNvPr id="0" name=""/>
        <dsp:cNvSpPr/>
      </dsp:nvSpPr>
      <dsp:spPr>
        <a:xfrm>
          <a:off x="0" y="684790"/>
          <a:ext cx="4231481" cy="112437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Bad: “System validates email”</a:t>
          </a:r>
        </a:p>
      </dsp:txBody>
      <dsp:txXfrm>
        <a:off x="54887" y="739677"/>
        <a:ext cx="4121707" cy="1014596"/>
      </dsp:txXfrm>
    </dsp:sp>
    <dsp:sp modelId="{4DF1349E-7A96-F247-ACA4-AF63886A37A8}">
      <dsp:nvSpPr>
        <dsp:cNvPr id="0" name=""/>
        <dsp:cNvSpPr/>
      </dsp:nvSpPr>
      <dsp:spPr>
        <a:xfrm>
          <a:off x="0" y="1898440"/>
          <a:ext cx="4231481" cy="1124370"/>
        </a:xfrm>
        <a:prstGeom prst="roundRect">
          <a:avLst/>
        </a:prstGeom>
        <a:solidFill>
          <a:schemeClr val="accent2">
            <a:hueOff val="-1284095"/>
            <a:satOff val="14753"/>
            <a:lumOff val="451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Better: “User creates an account with email”</a:t>
          </a:r>
        </a:p>
      </dsp:txBody>
      <dsp:txXfrm>
        <a:off x="54887" y="1953327"/>
        <a:ext cx="4121707" cy="1014596"/>
      </dsp:txXfrm>
    </dsp:sp>
    <dsp:sp modelId="{91B838B4-32BA-904E-AA04-28DAE448729E}">
      <dsp:nvSpPr>
        <dsp:cNvPr id="0" name=""/>
        <dsp:cNvSpPr/>
      </dsp:nvSpPr>
      <dsp:spPr>
        <a:xfrm>
          <a:off x="0" y="3112090"/>
          <a:ext cx="4231481" cy="1124370"/>
        </a:xfrm>
        <a:prstGeom prst="roundRect">
          <a:avLst/>
        </a:prstGeom>
        <a:solidFill>
          <a:schemeClr val="accent2">
            <a:hueOff val="-2568191"/>
            <a:satOff val="29507"/>
            <a:lumOff val="901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Best: add examples that show the rule in action</a:t>
          </a:r>
        </a:p>
      </dsp:txBody>
      <dsp:txXfrm>
        <a:off x="54887" y="3166977"/>
        <a:ext cx="4121707" cy="101459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78742A-9DD0-0A4C-A060-EE0B59648DAF}">
      <dsp:nvSpPr>
        <dsp:cNvPr id="0" name=""/>
        <dsp:cNvSpPr/>
      </dsp:nvSpPr>
      <dsp:spPr>
        <a:xfrm>
          <a:off x="1217405" y="944665"/>
          <a:ext cx="971077" cy="71"/>
        </a:xfrm>
        <a:prstGeom prst="rect">
          <a:avLst/>
        </a:prstGeom>
        <a:solidFill>
          <a:schemeClr val="accent5">
            <a:tint val="40000"/>
            <a:alpha val="90000"/>
            <a:hueOff val="0"/>
            <a:satOff val="0"/>
            <a:lumOff val="0"/>
            <a:alphaOff val="0"/>
          </a:schemeClr>
        </a:solidFill>
        <a:ln w="15875"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102C2F0-BC91-0C43-B1EB-8445CE98D7EF}">
      <dsp:nvSpPr>
        <dsp:cNvPr id="0" name=""/>
        <dsp:cNvSpPr/>
      </dsp:nvSpPr>
      <dsp:spPr>
        <a:xfrm>
          <a:off x="2246747" y="863131"/>
          <a:ext cx="111673" cy="209308"/>
        </a:xfrm>
        <a:prstGeom prst="chevron">
          <a:avLst>
            <a:gd name="adj" fmla="val 90000"/>
          </a:avLst>
        </a:prstGeom>
        <a:solidFill>
          <a:schemeClr val="accent5">
            <a:tint val="40000"/>
            <a:alpha val="90000"/>
            <a:hueOff val="10958"/>
            <a:satOff val="-2645"/>
            <a:lumOff val="-359"/>
            <a:alphaOff val="0"/>
          </a:schemeClr>
        </a:solidFill>
        <a:ln w="15875" cap="flat" cmpd="sng" algn="ctr">
          <a:solidFill>
            <a:schemeClr val="accent5">
              <a:tint val="40000"/>
              <a:alpha val="90000"/>
              <a:hueOff val="10958"/>
              <a:satOff val="-2645"/>
              <a:lumOff val="-359"/>
              <a:alphaOff val="0"/>
            </a:schemeClr>
          </a:solidFill>
          <a:prstDash val="solid"/>
        </a:ln>
        <a:effectLst/>
      </dsp:spPr>
      <dsp:style>
        <a:lnRef idx="2">
          <a:scrgbClr r="0" g="0" b="0"/>
        </a:lnRef>
        <a:fillRef idx="1">
          <a:scrgbClr r="0" g="0" b="0"/>
        </a:fillRef>
        <a:effectRef idx="0">
          <a:scrgbClr r="0" g="0" b="0"/>
        </a:effectRef>
        <a:fontRef idx="minor"/>
      </dsp:style>
    </dsp:sp>
    <dsp:sp modelId="{D245DE2B-F2C0-AC43-9190-C53885B918A2}">
      <dsp:nvSpPr>
        <dsp:cNvPr id="0" name=""/>
        <dsp:cNvSpPr/>
      </dsp:nvSpPr>
      <dsp:spPr>
        <a:xfrm>
          <a:off x="595999" y="444679"/>
          <a:ext cx="1000043" cy="1000043"/>
        </a:xfrm>
        <a:prstGeom prst="ellips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807" tIns="38807" rIns="38807" bIns="38807" numCol="1" spcCol="1270" anchor="ctr" anchorCtr="0">
          <a:noAutofit/>
        </a:bodyPr>
        <a:lstStyle/>
        <a:p>
          <a:pPr marL="0" lvl="0" indent="0" algn="ctr" defTabSz="2178050">
            <a:lnSpc>
              <a:spcPct val="90000"/>
            </a:lnSpc>
            <a:spcBef>
              <a:spcPct val="0"/>
            </a:spcBef>
            <a:spcAft>
              <a:spcPct val="35000"/>
            </a:spcAft>
            <a:buNone/>
          </a:pPr>
          <a:r>
            <a:rPr lang="en-US" sz="4900" kern="1200"/>
            <a:t>1</a:t>
          </a:r>
        </a:p>
      </dsp:txBody>
      <dsp:txXfrm>
        <a:off x="742452" y="591132"/>
        <a:ext cx="707137" cy="707137"/>
      </dsp:txXfrm>
    </dsp:sp>
    <dsp:sp modelId="{0A27E667-CEB0-1144-A57E-513A8A5EAF30}">
      <dsp:nvSpPr>
        <dsp:cNvPr id="0" name=""/>
        <dsp:cNvSpPr/>
      </dsp:nvSpPr>
      <dsp:spPr>
        <a:xfrm>
          <a:off x="3559" y="1609972"/>
          <a:ext cx="2184923" cy="1965600"/>
        </a:xfrm>
        <a:prstGeom prst="upArrowCallout">
          <a:avLst>
            <a:gd name="adj1" fmla="val 50000"/>
            <a:gd name="adj2" fmla="val 20000"/>
            <a:gd name="adj3" fmla="val 20000"/>
            <a:gd name="adj4" fmla="val 100000"/>
          </a:avLst>
        </a:prstGeom>
        <a:solidFill>
          <a:schemeClr val="accent5">
            <a:tint val="40000"/>
            <a:alpha val="90000"/>
            <a:hueOff val="21916"/>
            <a:satOff val="-5289"/>
            <a:lumOff val="-717"/>
            <a:alphaOff val="0"/>
          </a:schemeClr>
        </a:solidFill>
        <a:ln w="15875" cap="flat" cmpd="sng" algn="ctr">
          <a:solidFill>
            <a:schemeClr val="accent5">
              <a:tint val="40000"/>
              <a:alpha val="90000"/>
              <a:hueOff val="21916"/>
              <a:satOff val="-5289"/>
              <a:lumOff val="-7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2349" tIns="165100" rIns="172349" bIns="165100" numCol="1" spcCol="1270" anchor="t" anchorCtr="0">
          <a:noAutofit/>
        </a:bodyPr>
        <a:lstStyle/>
        <a:p>
          <a:pPr marL="0" lvl="0" indent="0" algn="l" defTabSz="577850">
            <a:lnSpc>
              <a:spcPct val="90000"/>
            </a:lnSpc>
            <a:spcBef>
              <a:spcPct val="0"/>
            </a:spcBef>
            <a:spcAft>
              <a:spcPct val="35000"/>
            </a:spcAft>
            <a:buNone/>
          </a:pPr>
          <a:r>
            <a:rPr lang="en-US" sz="1300" kern="1200"/>
            <a:t>Only include context needed for the behavior</a:t>
          </a:r>
        </a:p>
      </dsp:txBody>
      <dsp:txXfrm>
        <a:off x="3559" y="2003092"/>
        <a:ext cx="2184923" cy="1572480"/>
      </dsp:txXfrm>
    </dsp:sp>
    <dsp:sp modelId="{280B536A-CC22-8642-8686-F39E6C735E2F}">
      <dsp:nvSpPr>
        <dsp:cNvPr id="0" name=""/>
        <dsp:cNvSpPr/>
      </dsp:nvSpPr>
      <dsp:spPr>
        <a:xfrm>
          <a:off x="2431252" y="945726"/>
          <a:ext cx="2184923" cy="72"/>
        </a:xfrm>
        <a:prstGeom prst="rect">
          <a:avLst/>
        </a:prstGeom>
        <a:solidFill>
          <a:schemeClr val="accent5">
            <a:tint val="40000"/>
            <a:alpha val="90000"/>
            <a:hueOff val="32875"/>
            <a:satOff val="-7934"/>
            <a:lumOff val="-1076"/>
            <a:alphaOff val="0"/>
          </a:schemeClr>
        </a:solidFill>
        <a:ln w="15875" cap="flat" cmpd="sng" algn="ctr">
          <a:solidFill>
            <a:schemeClr val="accent5">
              <a:tint val="40000"/>
              <a:alpha val="90000"/>
              <a:hueOff val="32875"/>
              <a:satOff val="-7934"/>
              <a:lumOff val="-1076"/>
              <a:alphaOff val="0"/>
            </a:schemeClr>
          </a:solidFill>
          <a:prstDash val="solid"/>
        </a:ln>
        <a:effectLst/>
      </dsp:spPr>
      <dsp:style>
        <a:lnRef idx="2">
          <a:scrgbClr r="0" g="0" b="0"/>
        </a:lnRef>
        <a:fillRef idx="1">
          <a:scrgbClr r="0" g="0" b="0"/>
        </a:fillRef>
        <a:effectRef idx="0">
          <a:scrgbClr r="0" g="0" b="0"/>
        </a:effectRef>
        <a:fontRef idx="minor"/>
      </dsp:style>
    </dsp:sp>
    <dsp:sp modelId="{61D41DEE-558F-274A-A8D3-8848B29AE6BC}">
      <dsp:nvSpPr>
        <dsp:cNvPr id="0" name=""/>
        <dsp:cNvSpPr/>
      </dsp:nvSpPr>
      <dsp:spPr>
        <a:xfrm>
          <a:off x="4674440" y="864018"/>
          <a:ext cx="111673" cy="210197"/>
        </a:xfrm>
        <a:prstGeom prst="chevron">
          <a:avLst>
            <a:gd name="adj" fmla="val 90000"/>
          </a:avLst>
        </a:prstGeom>
        <a:solidFill>
          <a:schemeClr val="accent5">
            <a:tint val="40000"/>
            <a:alpha val="90000"/>
            <a:hueOff val="43833"/>
            <a:satOff val="-10578"/>
            <a:lumOff val="-1434"/>
            <a:alphaOff val="0"/>
          </a:schemeClr>
        </a:solidFill>
        <a:ln w="15875" cap="flat" cmpd="sng" algn="ctr">
          <a:solidFill>
            <a:schemeClr val="accent5">
              <a:tint val="40000"/>
              <a:alpha val="90000"/>
              <a:hueOff val="43833"/>
              <a:satOff val="-10578"/>
              <a:lumOff val="-1434"/>
              <a:alphaOff val="0"/>
            </a:schemeClr>
          </a:solidFill>
          <a:prstDash val="solid"/>
        </a:ln>
        <a:effectLst/>
      </dsp:spPr>
      <dsp:style>
        <a:lnRef idx="2">
          <a:scrgbClr r="0" g="0" b="0"/>
        </a:lnRef>
        <a:fillRef idx="1">
          <a:scrgbClr r="0" g="0" b="0"/>
        </a:fillRef>
        <a:effectRef idx="0">
          <a:scrgbClr r="0" g="0" b="0"/>
        </a:effectRef>
        <a:fontRef idx="minor"/>
      </dsp:style>
    </dsp:sp>
    <dsp:sp modelId="{EA440173-1E0C-9440-B092-DFB80EDA2BD7}">
      <dsp:nvSpPr>
        <dsp:cNvPr id="0" name=""/>
        <dsp:cNvSpPr/>
      </dsp:nvSpPr>
      <dsp:spPr>
        <a:xfrm>
          <a:off x="3023692" y="445740"/>
          <a:ext cx="1000043" cy="1000043"/>
        </a:xfrm>
        <a:prstGeom prst="ellipse">
          <a:avLst/>
        </a:prstGeom>
        <a:solidFill>
          <a:schemeClr val="accent5">
            <a:hueOff val="14692"/>
            <a:satOff val="-3552"/>
            <a:lumOff val="-6275"/>
            <a:alphaOff val="0"/>
          </a:schemeClr>
        </a:solidFill>
        <a:ln w="15875" cap="flat" cmpd="sng" algn="ctr">
          <a:solidFill>
            <a:schemeClr val="accent5">
              <a:hueOff val="14692"/>
              <a:satOff val="-3552"/>
              <a:lumOff val="-627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807" tIns="38807" rIns="38807" bIns="38807" numCol="1" spcCol="1270" anchor="ctr" anchorCtr="0">
          <a:noAutofit/>
        </a:bodyPr>
        <a:lstStyle/>
        <a:p>
          <a:pPr marL="0" lvl="0" indent="0" algn="ctr" defTabSz="2178050">
            <a:lnSpc>
              <a:spcPct val="90000"/>
            </a:lnSpc>
            <a:spcBef>
              <a:spcPct val="0"/>
            </a:spcBef>
            <a:spcAft>
              <a:spcPct val="35000"/>
            </a:spcAft>
            <a:buNone/>
          </a:pPr>
          <a:r>
            <a:rPr lang="en-US" sz="4900" kern="1200"/>
            <a:t>2</a:t>
          </a:r>
        </a:p>
      </dsp:txBody>
      <dsp:txXfrm>
        <a:off x="3170145" y="592193"/>
        <a:ext cx="707137" cy="707137"/>
      </dsp:txXfrm>
    </dsp:sp>
    <dsp:sp modelId="{05981268-197D-AB4C-A9AB-ECD1611A7459}">
      <dsp:nvSpPr>
        <dsp:cNvPr id="0" name=""/>
        <dsp:cNvSpPr/>
      </dsp:nvSpPr>
      <dsp:spPr>
        <a:xfrm>
          <a:off x="2431252" y="1612445"/>
          <a:ext cx="2184923" cy="1965600"/>
        </a:xfrm>
        <a:prstGeom prst="upArrowCallout">
          <a:avLst>
            <a:gd name="adj1" fmla="val 50000"/>
            <a:gd name="adj2" fmla="val 20000"/>
            <a:gd name="adj3" fmla="val 20000"/>
            <a:gd name="adj4" fmla="val 100000"/>
          </a:avLst>
        </a:prstGeom>
        <a:solidFill>
          <a:schemeClr val="accent5">
            <a:tint val="40000"/>
            <a:alpha val="90000"/>
            <a:hueOff val="54791"/>
            <a:satOff val="-13223"/>
            <a:lumOff val="-1793"/>
            <a:alphaOff val="0"/>
          </a:schemeClr>
        </a:solidFill>
        <a:ln w="15875" cap="flat" cmpd="sng" algn="ctr">
          <a:solidFill>
            <a:schemeClr val="accent5">
              <a:tint val="40000"/>
              <a:alpha val="90000"/>
              <a:hueOff val="54791"/>
              <a:satOff val="-13223"/>
              <a:lumOff val="-179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2349" tIns="165100" rIns="172349" bIns="165100" numCol="1" spcCol="1270" anchor="t" anchorCtr="0">
          <a:noAutofit/>
        </a:bodyPr>
        <a:lstStyle/>
        <a:p>
          <a:pPr marL="0" lvl="0" indent="0" algn="l" defTabSz="577850">
            <a:lnSpc>
              <a:spcPct val="90000"/>
            </a:lnSpc>
            <a:spcBef>
              <a:spcPct val="0"/>
            </a:spcBef>
            <a:spcAft>
              <a:spcPct val="35000"/>
            </a:spcAft>
            <a:buNone/>
          </a:pPr>
          <a:r>
            <a:rPr lang="en-US" sz="1300" kern="1200"/>
            <a:t>Avoid long setup stories inside the scenario</a:t>
          </a:r>
        </a:p>
      </dsp:txBody>
      <dsp:txXfrm>
        <a:off x="2431252" y="2005565"/>
        <a:ext cx="2184923" cy="1572480"/>
      </dsp:txXfrm>
    </dsp:sp>
    <dsp:sp modelId="{F8EA3B6C-67F9-DD49-9A99-77CDFF48E890}">
      <dsp:nvSpPr>
        <dsp:cNvPr id="0" name=""/>
        <dsp:cNvSpPr/>
      </dsp:nvSpPr>
      <dsp:spPr>
        <a:xfrm>
          <a:off x="4858944" y="945726"/>
          <a:ext cx="1092461" cy="72"/>
        </a:xfrm>
        <a:prstGeom prst="rect">
          <a:avLst/>
        </a:prstGeom>
        <a:solidFill>
          <a:schemeClr val="accent5">
            <a:tint val="40000"/>
            <a:alpha val="90000"/>
            <a:hueOff val="65749"/>
            <a:satOff val="-15868"/>
            <a:lumOff val="-2152"/>
            <a:alphaOff val="0"/>
          </a:schemeClr>
        </a:solidFill>
        <a:ln w="15875" cap="flat" cmpd="sng" algn="ctr">
          <a:solidFill>
            <a:schemeClr val="accent5">
              <a:tint val="40000"/>
              <a:alpha val="90000"/>
              <a:hueOff val="65749"/>
              <a:satOff val="-15868"/>
              <a:lumOff val="-2152"/>
              <a:alphaOff val="0"/>
            </a:schemeClr>
          </a:solidFill>
          <a:prstDash val="solid"/>
        </a:ln>
        <a:effectLst/>
      </dsp:spPr>
      <dsp:style>
        <a:lnRef idx="2">
          <a:scrgbClr r="0" g="0" b="0"/>
        </a:lnRef>
        <a:fillRef idx="1">
          <a:scrgbClr r="0" g="0" b="0"/>
        </a:fillRef>
        <a:effectRef idx="0">
          <a:scrgbClr r="0" g="0" b="0"/>
        </a:effectRef>
        <a:fontRef idx="minor"/>
      </dsp:style>
    </dsp:sp>
    <dsp:sp modelId="{46AD1C73-6904-8949-B972-6D59646BCB95}">
      <dsp:nvSpPr>
        <dsp:cNvPr id="0" name=""/>
        <dsp:cNvSpPr/>
      </dsp:nvSpPr>
      <dsp:spPr>
        <a:xfrm>
          <a:off x="5451384" y="445740"/>
          <a:ext cx="1000043" cy="1000043"/>
        </a:xfrm>
        <a:prstGeom prst="ellipse">
          <a:avLst/>
        </a:prstGeom>
        <a:solidFill>
          <a:schemeClr val="accent5">
            <a:hueOff val="29384"/>
            <a:satOff val="-7104"/>
            <a:lumOff val="-12550"/>
            <a:alphaOff val="0"/>
          </a:schemeClr>
        </a:solidFill>
        <a:ln w="15875" cap="flat" cmpd="sng" algn="ctr">
          <a:solidFill>
            <a:schemeClr val="accent5">
              <a:hueOff val="29384"/>
              <a:satOff val="-7104"/>
              <a:lumOff val="-1255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807" tIns="38807" rIns="38807" bIns="38807" numCol="1" spcCol="1270" anchor="ctr" anchorCtr="0">
          <a:noAutofit/>
        </a:bodyPr>
        <a:lstStyle/>
        <a:p>
          <a:pPr marL="0" lvl="0" indent="0" algn="ctr" defTabSz="2178050">
            <a:lnSpc>
              <a:spcPct val="90000"/>
            </a:lnSpc>
            <a:spcBef>
              <a:spcPct val="0"/>
            </a:spcBef>
            <a:spcAft>
              <a:spcPct val="35000"/>
            </a:spcAft>
            <a:buNone/>
          </a:pPr>
          <a:r>
            <a:rPr lang="en-US" sz="4900" kern="1200"/>
            <a:t>3</a:t>
          </a:r>
        </a:p>
      </dsp:txBody>
      <dsp:txXfrm>
        <a:off x="5597837" y="592193"/>
        <a:ext cx="707137" cy="707137"/>
      </dsp:txXfrm>
    </dsp:sp>
    <dsp:sp modelId="{8EF0ACF2-017E-2B42-A65B-32AB28E8D7D2}">
      <dsp:nvSpPr>
        <dsp:cNvPr id="0" name=""/>
        <dsp:cNvSpPr/>
      </dsp:nvSpPr>
      <dsp:spPr>
        <a:xfrm>
          <a:off x="4858944" y="1612445"/>
          <a:ext cx="2184923" cy="1965600"/>
        </a:xfrm>
        <a:prstGeom prst="upArrowCallout">
          <a:avLst>
            <a:gd name="adj1" fmla="val 50000"/>
            <a:gd name="adj2" fmla="val 20000"/>
            <a:gd name="adj3" fmla="val 20000"/>
            <a:gd name="adj4" fmla="val 100000"/>
          </a:avLst>
        </a:prstGeom>
        <a:solidFill>
          <a:schemeClr val="accent5">
            <a:tint val="40000"/>
            <a:alpha val="90000"/>
            <a:hueOff val="87665"/>
            <a:satOff val="-21157"/>
            <a:lumOff val="-2869"/>
            <a:alphaOff val="0"/>
          </a:schemeClr>
        </a:solidFill>
        <a:ln w="15875" cap="flat" cmpd="sng" algn="ctr">
          <a:solidFill>
            <a:schemeClr val="accent5">
              <a:tint val="40000"/>
              <a:alpha val="90000"/>
              <a:hueOff val="87665"/>
              <a:satOff val="-21157"/>
              <a:lumOff val="-286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2349" tIns="165100" rIns="172349" bIns="165100" numCol="1" spcCol="1270" anchor="t" anchorCtr="0">
          <a:noAutofit/>
        </a:bodyPr>
        <a:lstStyle/>
        <a:p>
          <a:pPr marL="0" lvl="0" indent="0" algn="l" defTabSz="577850">
            <a:lnSpc>
              <a:spcPct val="90000"/>
            </a:lnSpc>
            <a:spcBef>
              <a:spcPct val="0"/>
            </a:spcBef>
            <a:spcAft>
              <a:spcPct val="35000"/>
            </a:spcAft>
            <a:buNone/>
          </a:pPr>
          <a:r>
            <a:rPr lang="en-US" sz="1300" kern="1200"/>
            <a:t>Prefer fixtures/factories/helpers in automation</a:t>
          </a:r>
        </a:p>
      </dsp:txBody>
      <dsp:txXfrm>
        <a:off x="4858944" y="2005565"/>
        <a:ext cx="2184923" cy="157248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005EE8-D315-4BCD-9ACC-240AC3E09B71}">
      <dsp:nvSpPr>
        <dsp:cNvPr id="0" name=""/>
        <dsp:cNvSpPr/>
      </dsp:nvSpPr>
      <dsp:spPr>
        <a:xfrm>
          <a:off x="0" y="603"/>
          <a:ext cx="4947047" cy="14116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07FD9E-85E7-4F95-BEF6-FB3D26281B41}">
      <dsp:nvSpPr>
        <dsp:cNvPr id="0" name=""/>
        <dsp:cNvSpPr/>
      </dsp:nvSpPr>
      <dsp:spPr>
        <a:xfrm>
          <a:off x="427016" y="318218"/>
          <a:ext cx="776392" cy="7763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F98B27-824B-417B-BEBD-5457B054A99E}">
      <dsp:nvSpPr>
        <dsp:cNvPr id="0" name=""/>
        <dsp:cNvSpPr/>
      </dsp:nvSpPr>
      <dsp:spPr>
        <a:xfrm>
          <a:off x="1630424" y="603"/>
          <a:ext cx="3316622" cy="1411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7" tIns="149397" rIns="149397" bIns="149397" numCol="1" spcCol="1270" anchor="ctr" anchorCtr="0">
          <a:noAutofit/>
        </a:bodyPr>
        <a:lstStyle/>
        <a:p>
          <a:pPr marL="0" lvl="0" indent="0" algn="l" defTabSz="1111250">
            <a:lnSpc>
              <a:spcPct val="90000"/>
            </a:lnSpc>
            <a:spcBef>
              <a:spcPct val="0"/>
            </a:spcBef>
            <a:spcAft>
              <a:spcPct val="35000"/>
            </a:spcAft>
            <a:buNone/>
          </a:pPr>
          <a:r>
            <a:rPr lang="en-US" sz="2500" kern="1200"/>
            <a:t>Avoid: click / type / scroll / wait</a:t>
          </a:r>
        </a:p>
      </dsp:txBody>
      <dsp:txXfrm>
        <a:off x="1630424" y="603"/>
        <a:ext cx="3316622" cy="1411623"/>
      </dsp:txXfrm>
    </dsp:sp>
    <dsp:sp modelId="{BF3E49B5-B611-40FA-80CA-1F634628B31E}">
      <dsp:nvSpPr>
        <dsp:cNvPr id="0" name=""/>
        <dsp:cNvSpPr/>
      </dsp:nvSpPr>
      <dsp:spPr>
        <a:xfrm>
          <a:off x="0" y="1765132"/>
          <a:ext cx="4947047" cy="14116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F3280D-004D-49D9-AF3B-5927FC374D98}">
      <dsp:nvSpPr>
        <dsp:cNvPr id="0" name=""/>
        <dsp:cNvSpPr/>
      </dsp:nvSpPr>
      <dsp:spPr>
        <a:xfrm>
          <a:off x="427016" y="2082747"/>
          <a:ext cx="776392" cy="7763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3DB87E1-4BCB-498D-A925-D4145633179A}">
      <dsp:nvSpPr>
        <dsp:cNvPr id="0" name=""/>
        <dsp:cNvSpPr/>
      </dsp:nvSpPr>
      <dsp:spPr>
        <a:xfrm>
          <a:off x="1630424" y="1765132"/>
          <a:ext cx="3316622" cy="1411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7" tIns="149397" rIns="149397" bIns="149397" numCol="1" spcCol="1270" anchor="ctr" anchorCtr="0">
          <a:noAutofit/>
        </a:bodyPr>
        <a:lstStyle/>
        <a:p>
          <a:pPr marL="0" lvl="0" indent="0" algn="l" defTabSz="1111250">
            <a:lnSpc>
              <a:spcPct val="90000"/>
            </a:lnSpc>
            <a:spcBef>
              <a:spcPct val="0"/>
            </a:spcBef>
            <a:spcAft>
              <a:spcPct val="35000"/>
            </a:spcAft>
            <a:buNone/>
          </a:pPr>
          <a:r>
            <a:rPr lang="en-US" sz="2500" kern="1200"/>
            <a:t>Prefer: intent + meaningful actions</a:t>
          </a:r>
        </a:p>
      </dsp:txBody>
      <dsp:txXfrm>
        <a:off x="1630424" y="1765132"/>
        <a:ext cx="3316622" cy="1411623"/>
      </dsp:txXfrm>
    </dsp:sp>
    <dsp:sp modelId="{F141E57C-DA94-4CA1-98B5-4E2D947E2AC8}">
      <dsp:nvSpPr>
        <dsp:cNvPr id="0" name=""/>
        <dsp:cNvSpPr/>
      </dsp:nvSpPr>
      <dsp:spPr>
        <a:xfrm>
          <a:off x="0" y="3529661"/>
          <a:ext cx="4947047" cy="14116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3AEE54-DFB6-4FBA-B373-A4037560DE5D}">
      <dsp:nvSpPr>
        <dsp:cNvPr id="0" name=""/>
        <dsp:cNvSpPr/>
      </dsp:nvSpPr>
      <dsp:spPr>
        <a:xfrm>
          <a:off x="427016" y="3847276"/>
          <a:ext cx="776392" cy="7763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1D5642D-2985-414C-A05E-ED33165A15AC}">
      <dsp:nvSpPr>
        <dsp:cNvPr id="0" name=""/>
        <dsp:cNvSpPr/>
      </dsp:nvSpPr>
      <dsp:spPr>
        <a:xfrm>
          <a:off x="1630424" y="3529661"/>
          <a:ext cx="3316622" cy="1411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7" tIns="149397" rIns="149397" bIns="149397" numCol="1" spcCol="1270" anchor="ctr" anchorCtr="0">
          <a:noAutofit/>
        </a:bodyPr>
        <a:lstStyle/>
        <a:p>
          <a:pPr marL="0" lvl="0" indent="0" algn="l" defTabSz="1111250">
            <a:lnSpc>
              <a:spcPct val="90000"/>
            </a:lnSpc>
            <a:spcBef>
              <a:spcPct val="0"/>
            </a:spcBef>
            <a:spcAft>
              <a:spcPct val="35000"/>
            </a:spcAft>
            <a:buNone/>
          </a:pPr>
          <a:r>
            <a:rPr lang="en-US" sz="2500" kern="1200"/>
            <a:t>UI specifics belong in step code (if needed)</a:t>
          </a:r>
        </a:p>
      </dsp:txBody>
      <dsp:txXfrm>
        <a:off x="1630424" y="3529661"/>
        <a:ext cx="3316622" cy="141162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FD5E38-11E3-45FC-897C-08C9BF56193B}">
      <dsp:nvSpPr>
        <dsp:cNvPr id="0" name=""/>
        <dsp:cNvSpPr/>
      </dsp:nvSpPr>
      <dsp:spPr>
        <a:xfrm>
          <a:off x="0" y="600"/>
          <a:ext cx="4231481" cy="14057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96A4FB-DFFB-4CB3-8591-50EB62C9689C}">
      <dsp:nvSpPr>
        <dsp:cNvPr id="0" name=""/>
        <dsp:cNvSpPr/>
      </dsp:nvSpPr>
      <dsp:spPr>
        <a:xfrm>
          <a:off x="425232" y="316889"/>
          <a:ext cx="773150" cy="7731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A11B657-8E34-4D6F-B8E7-7336C96AFB84}">
      <dsp:nvSpPr>
        <dsp:cNvPr id="0" name=""/>
        <dsp:cNvSpPr/>
      </dsp:nvSpPr>
      <dsp:spPr>
        <a:xfrm>
          <a:off x="1623616" y="600"/>
          <a:ext cx="2607864" cy="1405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773" tIns="148773" rIns="148773" bIns="148773" numCol="1" spcCol="1270" anchor="ctr" anchorCtr="0">
          <a:noAutofit/>
        </a:bodyPr>
        <a:lstStyle/>
        <a:p>
          <a:pPr marL="0" lvl="0" indent="0" algn="l" defTabSz="1022350">
            <a:lnSpc>
              <a:spcPct val="90000"/>
            </a:lnSpc>
            <a:spcBef>
              <a:spcPct val="0"/>
            </a:spcBef>
            <a:spcAft>
              <a:spcPct val="35000"/>
            </a:spcAft>
            <a:buNone/>
          </a:pPr>
          <a:r>
            <a:rPr lang="en-US" sz="2300" kern="1200"/>
            <a:t>Bad: “Then it works”</a:t>
          </a:r>
        </a:p>
      </dsp:txBody>
      <dsp:txXfrm>
        <a:off x="1623616" y="600"/>
        <a:ext cx="2607864" cy="1405728"/>
      </dsp:txXfrm>
    </dsp:sp>
    <dsp:sp modelId="{54B03FF1-81F6-4646-8989-E28CE76B1AC5}">
      <dsp:nvSpPr>
        <dsp:cNvPr id="0" name=""/>
        <dsp:cNvSpPr/>
      </dsp:nvSpPr>
      <dsp:spPr>
        <a:xfrm>
          <a:off x="0" y="1757760"/>
          <a:ext cx="4231481" cy="14057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5A9C6F-7958-40F9-AC4A-2ECC758600F6}">
      <dsp:nvSpPr>
        <dsp:cNvPr id="0" name=""/>
        <dsp:cNvSpPr/>
      </dsp:nvSpPr>
      <dsp:spPr>
        <a:xfrm>
          <a:off x="425232" y="2074049"/>
          <a:ext cx="773150" cy="7731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30B54D1-6B48-4D33-A909-FD0F7E4BFF71}">
      <dsp:nvSpPr>
        <dsp:cNvPr id="0" name=""/>
        <dsp:cNvSpPr/>
      </dsp:nvSpPr>
      <dsp:spPr>
        <a:xfrm>
          <a:off x="1623616" y="1757760"/>
          <a:ext cx="2607864" cy="1405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773" tIns="148773" rIns="148773" bIns="148773" numCol="1" spcCol="1270" anchor="ctr" anchorCtr="0">
          <a:noAutofit/>
        </a:bodyPr>
        <a:lstStyle/>
        <a:p>
          <a:pPr marL="0" lvl="0" indent="0" algn="l" defTabSz="1022350">
            <a:lnSpc>
              <a:spcPct val="90000"/>
            </a:lnSpc>
            <a:spcBef>
              <a:spcPct val="0"/>
            </a:spcBef>
            <a:spcAft>
              <a:spcPct val="35000"/>
            </a:spcAft>
            <a:buNone/>
          </a:pPr>
          <a:r>
            <a:rPr lang="en-US" sz="2300" kern="1200"/>
            <a:t>Good: “Then the dashboard is shown”</a:t>
          </a:r>
        </a:p>
      </dsp:txBody>
      <dsp:txXfrm>
        <a:off x="1623616" y="1757760"/>
        <a:ext cx="2607864" cy="1405728"/>
      </dsp:txXfrm>
    </dsp:sp>
    <dsp:sp modelId="{A192F42A-8403-4374-B3A3-BF73DBF2BDE0}">
      <dsp:nvSpPr>
        <dsp:cNvPr id="0" name=""/>
        <dsp:cNvSpPr/>
      </dsp:nvSpPr>
      <dsp:spPr>
        <a:xfrm>
          <a:off x="0" y="3514921"/>
          <a:ext cx="4231481" cy="14057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DD8F27-1CD7-4813-9751-18CF25446BEC}">
      <dsp:nvSpPr>
        <dsp:cNvPr id="0" name=""/>
        <dsp:cNvSpPr/>
      </dsp:nvSpPr>
      <dsp:spPr>
        <a:xfrm>
          <a:off x="425232" y="3831209"/>
          <a:ext cx="773150" cy="7731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B033376-7BB4-4B02-9A51-077499E49B3B}">
      <dsp:nvSpPr>
        <dsp:cNvPr id="0" name=""/>
        <dsp:cNvSpPr/>
      </dsp:nvSpPr>
      <dsp:spPr>
        <a:xfrm>
          <a:off x="1623616" y="3514921"/>
          <a:ext cx="2607864" cy="1405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773" tIns="148773" rIns="148773" bIns="148773" numCol="1" spcCol="1270" anchor="ctr" anchorCtr="0">
          <a:noAutofit/>
        </a:bodyPr>
        <a:lstStyle/>
        <a:p>
          <a:pPr marL="0" lvl="0" indent="0" algn="l" defTabSz="1022350">
            <a:lnSpc>
              <a:spcPct val="90000"/>
            </a:lnSpc>
            <a:spcBef>
              <a:spcPct val="0"/>
            </a:spcBef>
            <a:spcAft>
              <a:spcPct val="35000"/>
            </a:spcAft>
            <a:buNone/>
          </a:pPr>
          <a:r>
            <a:rPr lang="en-US" sz="2300" kern="1200"/>
            <a:t>Best: include the key business result (only what matters)</a:t>
          </a:r>
        </a:p>
      </dsp:txBody>
      <dsp:txXfrm>
        <a:off x="1623616" y="3514921"/>
        <a:ext cx="2607864" cy="140572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17D1C0-D9DD-824A-B35D-0B89C29F9274}">
      <dsp:nvSpPr>
        <dsp:cNvPr id="0" name=""/>
        <dsp:cNvSpPr/>
      </dsp:nvSpPr>
      <dsp:spPr>
        <a:xfrm>
          <a:off x="603" y="653348"/>
          <a:ext cx="4945839" cy="150848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n-US" sz="3800" kern="1200"/>
            <a:t>Story: “As a member, I want to reset my password…”</a:t>
          </a:r>
        </a:p>
      </dsp:txBody>
      <dsp:txXfrm>
        <a:off x="603" y="653348"/>
        <a:ext cx="4945839" cy="1508480"/>
      </dsp:txXfrm>
    </dsp:sp>
    <dsp:sp modelId="{B92B3E4D-78E4-8541-B5FB-06F79CA5D97A}">
      <dsp:nvSpPr>
        <dsp:cNvPr id="0" name=""/>
        <dsp:cNvSpPr/>
      </dsp:nvSpPr>
      <dsp:spPr>
        <a:xfrm>
          <a:off x="603" y="2780058"/>
          <a:ext cx="4945839" cy="150848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n-US" sz="3800" kern="1200"/>
            <a:t>We need examples: valid link, unknown email, expiration, success flow</a:t>
          </a:r>
        </a:p>
      </dsp:txBody>
      <dsp:txXfrm>
        <a:off x="603" y="2780058"/>
        <a:ext cx="4945839" cy="15084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51EC8B-95FB-427B-B515-0449087DC2CD}">
      <dsp:nvSpPr>
        <dsp:cNvPr id="0" name=""/>
        <dsp:cNvSpPr/>
      </dsp:nvSpPr>
      <dsp:spPr>
        <a:xfrm>
          <a:off x="0" y="603"/>
          <a:ext cx="4947047" cy="14116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793E37-BFE8-4625-A8BC-1BEA9D439D98}">
      <dsp:nvSpPr>
        <dsp:cNvPr id="0" name=""/>
        <dsp:cNvSpPr/>
      </dsp:nvSpPr>
      <dsp:spPr>
        <a:xfrm>
          <a:off x="427016" y="318218"/>
          <a:ext cx="776392" cy="7763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F32C1B8-10DE-4C45-A44C-D33A6D0AF620}">
      <dsp:nvSpPr>
        <dsp:cNvPr id="0" name=""/>
        <dsp:cNvSpPr/>
      </dsp:nvSpPr>
      <dsp:spPr>
        <a:xfrm>
          <a:off x="1630424" y="603"/>
          <a:ext cx="3316622" cy="1411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7" tIns="149397" rIns="149397" bIns="149397" numCol="1" spcCol="1270" anchor="ctr" anchorCtr="0">
          <a:noAutofit/>
        </a:bodyPr>
        <a:lstStyle/>
        <a:p>
          <a:pPr marL="0" lvl="0" indent="0" algn="l" defTabSz="1111250">
            <a:lnSpc>
              <a:spcPct val="90000"/>
            </a:lnSpc>
            <a:spcBef>
              <a:spcPct val="0"/>
            </a:spcBef>
            <a:spcAft>
              <a:spcPct val="35000"/>
            </a:spcAft>
            <a:buNone/>
          </a:pPr>
          <a:r>
            <a:rPr lang="en-US" sz="2500" kern="1200"/>
            <a:t>BDD ≠ automation</a:t>
          </a:r>
        </a:p>
      </dsp:txBody>
      <dsp:txXfrm>
        <a:off x="1630424" y="603"/>
        <a:ext cx="3316622" cy="1411623"/>
      </dsp:txXfrm>
    </dsp:sp>
    <dsp:sp modelId="{DF2C90FB-DB95-41F0-A29E-D3CB5E1E8129}">
      <dsp:nvSpPr>
        <dsp:cNvPr id="0" name=""/>
        <dsp:cNvSpPr/>
      </dsp:nvSpPr>
      <dsp:spPr>
        <a:xfrm>
          <a:off x="0" y="1765132"/>
          <a:ext cx="4947047" cy="14116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034782-4A10-4D7B-9587-7BCC87A90340}">
      <dsp:nvSpPr>
        <dsp:cNvPr id="0" name=""/>
        <dsp:cNvSpPr/>
      </dsp:nvSpPr>
      <dsp:spPr>
        <a:xfrm>
          <a:off x="427016" y="2082747"/>
          <a:ext cx="776392" cy="7763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27DBE1-6ACE-46E9-82CA-9E8C4101BE6C}">
      <dsp:nvSpPr>
        <dsp:cNvPr id="0" name=""/>
        <dsp:cNvSpPr/>
      </dsp:nvSpPr>
      <dsp:spPr>
        <a:xfrm>
          <a:off x="1630424" y="1765132"/>
          <a:ext cx="3316622" cy="1411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7" tIns="149397" rIns="149397" bIns="149397" numCol="1" spcCol="1270" anchor="ctr" anchorCtr="0">
          <a:noAutofit/>
        </a:bodyPr>
        <a:lstStyle/>
        <a:p>
          <a:pPr marL="0" lvl="0" indent="0" algn="l" defTabSz="1111250">
            <a:lnSpc>
              <a:spcPct val="90000"/>
            </a:lnSpc>
            <a:spcBef>
              <a:spcPct val="0"/>
            </a:spcBef>
            <a:spcAft>
              <a:spcPct val="35000"/>
            </a:spcAft>
            <a:buNone/>
          </a:pPr>
          <a:r>
            <a:rPr lang="en-US" sz="2500" kern="1200"/>
            <a:t>Automate when checks stay fast, stable, and trusted</a:t>
          </a:r>
        </a:p>
      </dsp:txBody>
      <dsp:txXfrm>
        <a:off x="1630424" y="1765132"/>
        <a:ext cx="3316622" cy="1411623"/>
      </dsp:txXfrm>
    </dsp:sp>
    <dsp:sp modelId="{2C7B4A52-1F77-4203-B729-E5972662853F}">
      <dsp:nvSpPr>
        <dsp:cNvPr id="0" name=""/>
        <dsp:cNvSpPr/>
      </dsp:nvSpPr>
      <dsp:spPr>
        <a:xfrm>
          <a:off x="0" y="3529661"/>
          <a:ext cx="4947047" cy="14116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B073FD-53BC-4671-B32E-57258C114769}">
      <dsp:nvSpPr>
        <dsp:cNvPr id="0" name=""/>
        <dsp:cNvSpPr/>
      </dsp:nvSpPr>
      <dsp:spPr>
        <a:xfrm>
          <a:off x="427016" y="3847276"/>
          <a:ext cx="776392" cy="7763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AB537C4-8961-4EE7-B3A7-90B45B9F52FC}">
      <dsp:nvSpPr>
        <dsp:cNvPr id="0" name=""/>
        <dsp:cNvSpPr/>
      </dsp:nvSpPr>
      <dsp:spPr>
        <a:xfrm>
          <a:off x="1630424" y="3529661"/>
          <a:ext cx="3316622" cy="1411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7" tIns="149397" rIns="149397" bIns="149397" numCol="1" spcCol="1270" anchor="ctr" anchorCtr="0">
          <a:noAutofit/>
        </a:bodyPr>
        <a:lstStyle/>
        <a:p>
          <a:pPr marL="0" lvl="0" indent="0" algn="l" defTabSz="1111250">
            <a:lnSpc>
              <a:spcPct val="90000"/>
            </a:lnSpc>
            <a:spcBef>
              <a:spcPct val="0"/>
            </a:spcBef>
            <a:spcAft>
              <a:spcPct val="35000"/>
            </a:spcAft>
            <a:buNone/>
          </a:pPr>
          <a:r>
            <a:rPr lang="en-US" sz="2500" kern="1200"/>
            <a:t>Automate what you want to rely on every day</a:t>
          </a:r>
        </a:p>
      </dsp:txBody>
      <dsp:txXfrm>
        <a:off x="1630424" y="3529661"/>
        <a:ext cx="3316622" cy="141162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490BE8-E713-3D47-A478-A8AB3858B015}">
      <dsp:nvSpPr>
        <dsp:cNvPr id="0" name=""/>
        <dsp:cNvSpPr/>
      </dsp:nvSpPr>
      <dsp:spPr>
        <a:xfrm>
          <a:off x="846296" y="1537"/>
          <a:ext cx="3385184" cy="1576337"/>
        </a:xfrm>
        <a:prstGeom prst="rect">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682" tIns="400390" rIns="65682" bIns="400390" numCol="1" spcCol="1270" anchor="ctr" anchorCtr="0">
          <a:noAutofit/>
        </a:bodyPr>
        <a:lstStyle/>
        <a:p>
          <a:pPr marL="0" lvl="0" indent="0" algn="l" defTabSz="844550">
            <a:lnSpc>
              <a:spcPct val="90000"/>
            </a:lnSpc>
            <a:spcBef>
              <a:spcPct val="0"/>
            </a:spcBef>
            <a:spcAft>
              <a:spcPct val="35000"/>
            </a:spcAft>
            <a:buNone/>
          </a:pPr>
          <a:r>
            <a:rPr lang="en-US" sz="1900" kern="1200"/>
            <a:t>Keep business meaning in Gherkin</a:t>
          </a:r>
        </a:p>
      </dsp:txBody>
      <dsp:txXfrm>
        <a:off x="846296" y="1537"/>
        <a:ext cx="3385184" cy="1576337"/>
      </dsp:txXfrm>
    </dsp:sp>
    <dsp:sp modelId="{9F952DEE-3561-4B44-8CE6-35CBF0420733}">
      <dsp:nvSpPr>
        <dsp:cNvPr id="0" name=""/>
        <dsp:cNvSpPr/>
      </dsp:nvSpPr>
      <dsp:spPr>
        <a:xfrm>
          <a:off x="0" y="1537"/>
          <a:ext cx="846296" cy="1576337"/>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783" tIns="155707" rIns="44783" bIns="155707" numCol="1" spcCol="1270" anchor="ctr" anchorCtr="0">
          <a:noAutofit/>
        </a:bodyPr>
        <a:lstStyle/>
        <a:p>
          <a:pPr marL="0" lvl="0" indent="0" algn="ctr" defTabSz="1022350">
            <a:lnSpc>
              <a:spcPct val="90000"/>
            </a:lnSpc>
            <a:spcBef>
              <a:spcPct val="0"/>
            </a:spcBef>
            <a:spcAft>
              <a:spcPct val="35000"/>
            </a:spcAft>
            <a:buNone/>
          </a:pPr>
          <a:r>
            <a:rPr lang="en-US" sz="2300" kern="1200"/>
            <a:t>Keep</a:t>
          </a:r>
        </a:p>
      </dsp:txBody>
      <dsp:txXfrm>
        <a:off x="0" y="1537"/>
        <a:ext cx="846296" cy="1576337"/>
      </dsp:txXfrm>
    </dsp:sp>
    <dsp:sp modelId="{8EB97A1F-8A58-E146-86D2-68E4BB1A19BE}">
      <dsp:nvSpPr>
        <dsp:cNvPr id="0" name=""/>
        <dsp:cNvSpPr/>
      </dsp:nvSpPr>
      <dsp:spPr>
        <a:xfrm>
          <a:off x="846296" y="1672456"/>
          <a:ext cx="3385184" cy="1576337"/>
        </a:xfrm>
        <a:prstGeom prst="rect">
          <a:avLst/>
        </a:prstGeom>
        <a:solidFill>
          <a:schemeClr val="accent3">
            <a:tint val="40000"/>
            <a:alpha val="90000"/>
            <a:hueOff val="0"/>
            <a:satOff val="0"/>
            <a:lumOff val="0"/>
            <a:alphaOff val="0"/>
          </a:schemeClr>
        </a:solidFill>
        <a:ln w="15875"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682" tIns="400390" rIns="65682" bIns="400390" numCol="1" spcCol="1270" anchor="ctr" anchorCtr="0">
          <a:noAutofit/>
        </a:bodyPr>
        <a:lstStyle/>
        <a:p>
          <a:pPr marL="0" lvl="0" indent="0" algn="l" defTabSz="844550">
            <a:lnSpc>
              <a:spcPct val="90000"/>
            </a:lnSpc>
            <a:spcBef>
              <a:spcPct val="0"/>
            </a:spcBef>
            <a:spcAft>
              <a:spcPct val="35000"/>
            </a:spcAft>
            <a:buNone/>
          </a:pPr>
          <a:r>
            <a:rPr lang="en-US" sz="1900" kern="1200"/>
            <a:t>Put technical details in step code</a:t>
          </a:r>
        </a:p>
      </dsp:txBody>
      <dsp:txXfrm>
        <a:off x="846296" y="1672456"/>
        <a:ext cx="3385184" cy="1576337"/>
      </dsp:txXfrm>
    </dsp:sp>
    <dsp:sp modelId="{0A8065B2-861C-384E-9D6D-A81C0648E761}">
      <dsp:nvSpPr>
        <dsp:cNvPr id="0" name=""/>
        <dsp:cNvSpPr/>
      </dsp:nvSpPr>
      <dsp:spPr>
        <a:xfrm>
          <a:off x="0" y="1672456"/>
          <a:ext cx="846296" cy="1576337"/>
        </a:xfrm>
        <a:prstGeom prst="rect">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783" tIns="155707" rIns="44783" bIns="155707" numCol="1" spcCol="1270" anchor="ctr" anchorCtr="0">
          <a:noAutofit/>
        </a:bodyPr>
        <a:lstStyle/>
        <a:p>
          <a:pPr marL="0" lvl="0" indent="0" algn="ctr" defTabSz="1022350">
            <a:lnSpc>
              <a:spcPct val="90000"/>
            </a:lnSpc>
            <a:spcBef>
              <a:spcPct val="0"/>
            </a:spcBef>
            <a:spcAft>
              <a:spcPct val="35000"/>
            </a:spcAft>
            <a:buNone/>
          </a:pPr>
          <a:r>
            <a:rPr lang="en-US" sz="2300" kern="1200"/>
            <a:t>Put</a:t>
          </a:r>
        </a:p>
      </dsp:txBody>
      <dsp:txXfrm>
        <a:off x="0" y="1672456"/>
        <a:ext cx="846296" cy="1576337"/>
      </dsp:txXfrm>
    </dsp:sp>
    <dsp:sp modelId="{6C876FE1-510F-AC4B-86B1-9D900B9F0881}">
      <dsp:nvSpPr>
        <dsp:cNvPr id="0" name=""/>
        <dsp:cNvSpPr/>
      </dsp:nvSpPr>
      <dsp:spPr>
        <a:xfrm>
          <a:off x="846296" y="3343374"/>
          <a:ext cx="3385184" cy="1576337"/>
        </a:xfrm>
        <a:prstGeom prst="rect">
          <a:avLst/>
        </a:prstGeom>
        <a:solidFill>
          <a:schemeClr val="accent4">
            <a:tint val="40000"/>
            <a:alpha val="90000"/>
            <a:hueOff val="0"/>
            <a:satOff val="0"/>
            <a:lumOff val="0"/>
            <a:alphaOff val="0"/>
          </a:schemeClr>
        </a:solidFill>
        <a:ln w="15875"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682" tIns="400390" rIns="65682" bIns="400390" numCol="1" spcCol="1270" anchor="ctr" anchorCtr="0">
          <a:noAutofit/>
        </a:bodyPr>
        <a:lstStyle/>
        <a:p>
          <a:pPr marL="0" lvl="0" indent="0" algn="l" defTabSz="844550">
            <a:lnSpc>
              <a:spcPct val="90000"/>
            </a:lnSpc>
            <a:spcBef>
              <a:spcPct val="0"/>
            </a:spcBef>
            <a:spcAft>
              <a:spcPct val="35000"/>
            </a:spcAft>
            <a:buNone/>
          </a:pPr>
          <a:r>
            <a:rPr lang="en-US" sz="1900" kern="1200"/>
            <a:t>Prefer thin steps that call application services/helpers</a:t>
          </a:r>
        </a:p>
      </dsp:txBody>
      <dsp:txXfrm>
        <a:off x="846296" y="3343374"/>
        <a:ext cx="3385184" cy="1576337"/>
      </dsp:txXfrm>
    </dsp:sp>
    <dsp:sp modelId="{60480FA2-BCFB-A149-BA74-EFECF0A6A3C8}">
      <dsp:nvSpPr>
        <dsp:cNvPr id="0" name=""/>
        <dsp:cNvSpPr/>
      </dsp:nvSpPr>
      <dsp:spPr>
        <a:xfrm>
          <a:off x="0" y="3343374"/>
          <a:ext cx="846296" cy="1576337"/>
        </a:xfrm>
        <a:prstGeom prst="rect">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783" tIns="155707" rIns="44783" bIns="155707" numCol="1" spcCol="1270" anchor="ctr" anchorCtr="0">
          <a:noAutofit/>
        </a:bodyPr>
        <a:lstStyle/>
        <a:p>
          <a:pPr marL="0" lvl="0" indent="0" algn="ctr" defTabSz="1022350">
            <a:lnSpc>
              <a:spcPct val="90000"/>
            </a:lnSpc>
            <a:spcBef>
              <a:spcPct val="0"/>
            </a:spcBef>
            <a:spcAft>
              <a:spcPct val="35000"/>
            </a:spcAft>
            <a:buNone/>
          </a:pPr>
          <a:r>
            <a:rPr lang="en-US" sz="2300" kern="1200"/>
            <a:t>Prefer</a:t>
          </a:r>
        </a:p>
      </dsp:txBody>
      <dsp:txXfrm>
        <a:off x="0" y="3343374"/>
        <a:ext cx="846296" cy="157633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F12795-1BF3-AA43-84BA-B663B0E42060}">
      <dsp:nvSpPr>
        <dsp:cNvPr id="0" name=""/>
        <dsp:cNvSpPr/>
      </dsp:nvSpPr>
      <dsp:spPr>
        <a:xfrm>
          <a:off x="0" y="4348220"/>
          <a:ext cx="1057870" cy="570701"/>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236" tIns="120904" rIns="75236" bIns="120904" numCol="1" spcCol="1270" anchor="ctr" anchorCtr="0">
          <a:noAutofit/>
        </a:bodyPr>
        <a:lstStyle/>
        <a:p>
          <a:pPr marL="0" lvl="0" indent="0" algn="ctr" defTabSz="755650">
            <a:lnSpc>
              <a:spcPct val="90000"/>
            </a:lnSpc>
            <a:spcBef>
              <a:spcPct val="0"/>
            </a:spcBef>
            <a:spcAft>
              <a:spcPct val="35000"/>
            </a:spcAft>
            <a:buNone/>
          </a:pPr>
          <a:r>
            <a:rPr lang="en-US" sz="1700" kern="1200"/>
            <a:t>Run in</a:t>
          </a:r>
        </a:p>
      </dsp:txBody>
      <dsp:txXfrm>
        <a:off x="0" y="4348220"/>
        <a:ext cx="1057870" cy="570701"/>
      </dsp:txXfrm>
    </dsp:sp>
    <dsp:sp modelId="{FCF96409-2B64-764B-AB6F-56460DB833DF}">
      <dsp:nvSpPr>
        <dsp:cNvPr id="0" name=""/>
        <dsp:cNvSpPr/>
      </dsp:nvSpPr>
      <dsp:spPr>
        <a:xfrm>
          <a:off x="1057870" y="4348220"/>
          <a:ext cx="3173610" cy="570701"/>
        </a:xfrm>
        <a:prstGeom prst="rect">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376" tIns="177800" rIns="64376" bIns="177800" numCol="1" spcCol="1270" anchor="ctr" anchorCtr="0">
          <a:noAutofit/>
        </a:bodyPr>
        <a:lstStyle/>
        <a:p>
          <a:pPr marL="0" lvl="0" indent="0" algn="l" defTabSz="622300">
            <a:lnSpc>
              <a:spcPct val="90000"/>
            </a:lnSpc>
            <a:spcBef>
              <a:spcPct val="0"/>
            </a:spcBef>
            <a:spcAft>
              <a:spcPct val="35000"/>
            </a:spcAft>
            <a:buNone/>
          </a:pPr>
          <a:r>
            <a:rPr lang="en-US" sz="1400" kern="1200"/>
            <a:t>Run in CI: keep suite trusted</a:t>
          </a:r>
        </a:p>
      </dsp:txBody>
      <dsp:txXfrm>
        <a:off x="1057870" y="4348220"/>
        <a:ext cx="3173610" cy="570701"/>
      </dsp:txXfrm>
    </dsp:sp>
    <dsp:sp modelId="{CC445F8A-934D-FF42-B77B-BFB712A168A2}">
      <dsp:nvSpPr>
        <dsp:cNvPr id="0" name=""/>
        <dsp:cNvSpPr/>
      </dsp:nvSpPr>
      <dsp:spPr>
        <a:xfrm rot="10800000">
          <a:off x="0" y="3479042"/>
          <a:ext cx="1057870" cy="877739"/>
        </a:xfrm>
        <a:prstGeom prst="upArrowCallout">
          <a:avLst>
            <a:gd name="adj1" fmla="val 5000"/>
            <a:gd name="adj2" fmla="val 10000"/>
            <a:gd name="adj3" fmla="val 15000"/>
            <a:gd name="adj4" fmla="val 64977"/>
          </a:avLst>
        </a:prstGeom>
        <a:solidFill>
          <a:schemeClr val="accent2">
            <a:hueOff val="-513638"/>
            <a:satOff val="5901"/>
            <a:lumOff val="1804"/>
            <a:alphaOff val="0"/>
          </a:schemeClr>
        </a:solidFill>
        <a:ln w="15875" cap="flat" cmpd="sng" algn="ctr">
          <a:solidFill>
            <a:schemeClr val="accent2">
              <a:hueOff val="-513638"/>
              <a:satOff val="5901"/>
              <a:lumOff val="1804"/>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236" tIns="120904" rIns="75236" bIns="120904" numCol="1" spcCol="1270" anchor="ctr" anchorCtr="0">
          <a:noAutofit/>
        </a:bodyPr>
        <a:lstStyle/>
        <a:p>
          <a:pPr marL="0" lvl="0" indent="0" algn="ctr" defTabSz="755650">
            <a:lnSpc>
              <a:spcPct val="90000"/>
            </a:lnSpc>
            <a:spcBef>
              <a:spcPct val="0"/>
            </a:spcBef>
            <a:spcAft>
              <a:spcPct val="35000"/>
            </a:spcAft>
            <a:buNone/>
          </a:pPr>
          <a:r>
            <a:rPr lang="en-US" sz="1700" kern="1200"/>
            <a:t>Refactor</a:t>
          </a:r>
        </a:p>
      </dsp:txBody>
      <dsp:txXfrm rot="-10800000">
        <a:off x="0" y="3479042"/>
        <a:ext cx="1057870" cy="570530"/>
      </dsp:txXfrm>
    </dsp:sp>
    <dsp:sp modelId="{E0955077-DD2D-C644-8F5E-A64D1792887D}">
      <dsp:nvSpPr>
        <dsp:cNvPr id="0" name=""/>
        <dsp:cNvSpPr/>
      </dsp:nvSpPr>
      <dsp:spPr>
        <a:xfrm>
          <a:off x="1057870" y="3479042"/>
          <a:ext cx="3173610" cy="570530"/>
        </a:xfrm>
        <a:prstGeom prst="rect">
          <a:avLst/>
        </a:prstGeom>
        <a:solidFill>
          <a:schemeClr val="accent2">
            <a:tint val="40000"/>
            <a:alpha val="90000"/>
            <a:hueOff val="-663566"/>
            <a:satOff val="8850"/>
            <a:lumOff val="765"/>
            <a:alphaOff val="0"/>
          </a:schemeClr>
        </a:solidFill>
        <a:ln w="15875" cap="flat" cmpd="sng" algn="ctr">
          <a:solidFill>
            <a:schemeClr val="accent2">
              <a:tint val="40000"/>
              <a:alpha val="90000"/>
              <a:hueOff val="-663566"/>
              <a:satOff val="8850"/>
              <a:lumOff val="76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376" tIns="177800" rIns="64376" bIns="177800" numCol="1" spcCol="1270" anchor="ctr" anchorCtr="0">
          <a:noAutofit/>
        </a:bodyPr>
        <a:lstStyle/>
        <a:p>
          <a:pPr marL="0" lvl="0" indent="0" algn="l" defTabSz="622300">
            <a:lnSpc>
              <a:spcPct val="90000"/>
            </a:lnSpc>
            <a:spcBef>
              <a:spcPct val="0"/>
            </a:spcBef>
            <a:spcAft>
              <a:spcPct val="35000"/>
            </a:spcAft>
            <a:buNone/>
          </a:pPr>
          <a:r>
            <a:rPr lang="en-US" sz="1400" kern="1200"/>
            <a:t>Refactor: improve wording + step design</a:t>
          </a:r>
        </a:p>
      </dsp:txBody>
      <dsp:txXfrm>
        <a:off x="1057870" y="3479042"/>
        <a:ext cx="3173610" cy="570530"/>
      </dsp:txXfrm>
    </dsp:sp>
    <dsp:sp modelId="{67668B36-5417-FF41-ACE0-0CF8287317AB}">
      <dsp:nvSpPr>
        <dsp:cNvPr id="0" name=""/>
        <dsp:cNvSpPr/>
      </dsp:nvSpPr>
      <dsp:spPr>
        <a:xfrm rot="10800000">
          <a:off x="0" y="2609863"/>
          <a:ext cx="1057870" cy="877739"/>
        </a:xfrm>
        <a:prstGeom prst="upArrowCallout">
          <a:avLst>
            <a:gd name="adj1" fmla="val 5000"/>
            <a:gd name="adj2" fmla="val 10000"/>
            <a:gd name="adj3" fmla="val 15000"/>
            <a:gd name="adj4" fmla="val 64977"/>
          </a:avLst>
        </a:prstGeom>
        <a:solidFill>
          <a:schemeClr val="accent2">
            <a:hueOff val="-1027276"/>
            <a:satOff val="11803"/>
            <a:lumOff val="3608"/>
            <a:alphaOff val="0"/>
          </a:schemeClr>
        </a:solidFill>
        <a:ln w="15875" cap="flat" cmpd="sng" algn="ctr">
          <a:solidFill>
            <a:schemeClr val="accent2">
              <a:hueOff val="-1027276"/>
              <a:satOff val="11803"/>
              <a:lumOff val="360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236" tIns="120904" rIns="75236" bIns="120904" numCol="1" spcCol="1270" anchor="ctr" anchorCtr="0">
          <a:noAutofit/>
        </a:bodyPr>
        <a:lstStyle/>
        <a:p>
          <a:pPr marL="0" lvl="0" indent="0" algn="ctr" defTabSz="755650">
            <a:lnSpc>
              <a:spcPct val="90000"/>
            </a:lnSpc>
            <a:spcBef>
              <a:spcPct val="0"/>
            </a:spcBef>
            <a:spcAft>
              <a:spcPct val="35000"/>
            </a:spcAft>
            <a:buNone/>
          </a:pPr>
          <a:r>
            <a:rPr lang="en-US" sz="1700" kern="1200"/>
            <a:t>Automate</a:t>
          </a:r>
        </a:p>
      </dsp:txBody>
      <dsp:txXfrm rot="-10800000">
        <a:off x="0" y="2609863"/>
        <a:ext cx="1057870" cy="570530"/>
      </dsp:txXfrm>
    </dsp:sp>
    <dsp:sp modelId="{F3844410-4917-194B-93BB-EBF3AEF385CC}">
      <dsp:nvSpPr>
        <dsp:cNvPr id="0" name=""/>
        <dsp:cNvSpPr/>
      </dsp:nvSpPr>
      <dsp:spPr>
        <a:xfrm>
          <a:off x="1057870" y="2609863"/>
          <a:ext cx="3173610" cy="570530"/>
        </a:xfrm>
        <a:prstGeom prst="rect">
          <a:avLst/>
        </a:prstGeom>
        <a:solidFill>
          <a:schemeClr val="accent2">
            <a:tint val="40000"/>
            <a:alpha val="90000"/>
            <a:hueOff val="-1327132"/>
            <a:satOff val="17701"/>
            <a:lumOff val="1530"/>
            <a:alphaOff val="0"/>
          </a:schemeClr>
        </a:solidFill>
        <a:ln w="15875" cap="flat" cmpd="sng" algn="ctr">
          <a:solidFill>
            <a:schemeClr val="accent2">
              <a:tint val="40000"/>
              <a:alpha val="90000"/>
              <a:hueOff val="-1327132"/>
              <a:satOff val="17701"/>
              <a:lumOff val="153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376" tIns="177800" rIns="64376" bIns="177800" numCol="1" spcCol="1270" anchor="ctr" anchorCtr="0">
          <a:noAutofit/>
        </a:bodyPr>
        <a:lstStyle/>
        <a:p>
          <a:pPr marL="0" lvl="0" indent="0" algn="l" defTabSz="622300">
            <a:lnSpc>
              <a:spcPct val="90000"/>
            </a:lnSpc>
            <a:spcBef>
              <a:spcPct val="0"/>
            </a:spcBef>
            <a:spcAft>
              <a:spcPct val="35000"/>
            </a:spcAft>
            <a:buNone/>
          </a:pPr>
          <a:r>
            <a:rPr lang="en-US" sz="1400" kern="1200"/>
            <a:t>Automate: wire steps (optional)</a:t>
          </a:r>
        </a:p>
      </dsp:txBody>
      <dsp:txXfrm>
        <a:off x="1057870" y="2609863"/>
        <a:ext cx="3173610" cy="570530"/>
      </dsp:txXfrm>
    </dsp:sp>
    <dsp:sp modelId="{DA101FA5-9BB6-C146-B29C-04E37B3BC203}">
      <dsp:nvSpPr>
        <dsp:cNvPr id="0" name=""/>
        <dsp:cNvSpPr/>
      </dsp:nvSpPr>
      <dsp:spPr>
        <a:xfrm rot="10800000">
          <a:off x="0" y="1740684"/>
          <a:ext cx="1057870" cy="877739"/>
        </a:xfrm>
        <a:prstGeom prst="upArrowCallout">
          <a:avLst>
            <a:gd name="adj1" fmla="val 5000"/>
            <a:gd name="adj2" fmla="val 10000"/>
            <a:gd name="adj3" fmla="val 15000"/>
            <a:gd name="adj4" fmla="val 64977"/>
          </a:avLst>
        </a:prstGeom>
        <a:solidFill>
          <a:schemeClr val="accent2">
            <a:hueOff val="-1540915"/>
            <a:satOff val="17704"/>
            <a:lumOff val="5411"/>
            <a:alphaOff val="0"/>
          </a:schemeClr>
        </a:solidFill>
        <a:ln w="15875" cap="flat" cmpd="sng" algn="ctr">
          <a:solidFill>
            <a:schemeClr val="accent2">
              <a:hueOff val="-1540915"/>
              <a:satOff val="17704"/>
              <a:lumOff val="541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236" tIns="120904" rIns="75236" bIns="120904" numCol="1" spcCol="1270" anchor="ctr" anchorCtr="0">
          <a:noAutofit/>
        </a:bodyPr>
        <a:lstStyle/>
        <a:p>
          <a:pPr marL="0" lvl="0" indent="0" algn="ctr" defTabSz="755650">
            <a:lnSpc>
              <a:spcPct val="90000"/>
            </a:lnSpc>
            <a:spcBef>
              <a:spcPct val="0"/>
            </a:spcBef>
            <a:spcAft>
              <a:spcPct val="35000"/>
            </a:spcAft>
            <a:buNone/>
          </a:pPr>
          <a:r>
            <a:rPr lang="en-US" sz="1700" kern="1200"/>
            <a:t>Implement</a:t>
          </a:r>
        </a:p>
      </dsp:txBody>
      <dsp:txXfrm rot="-10800000">
        <a:off x="0" y="1740684"/>
        <a:ext cx="1057870" cy="570530"/>
      </dsp:txXfrm>
    </dsp:sp>
    <dsp:sp modelId="{2AC16C13-6F5A-6848-93EA-FBCFBC75392D}">
      <dsp:nvSpPr>
        <dsp:cNvPr id="0" name=""/>
        <dsp:cNvSpPr/>
      </dsp:nvSpPr>
      <dsp:spPr>
        <a:xfrm>
          <a:off x="1057870" y="1740684"/>
          <a:ext cx="3173610" cy="570530"/>
        </a:xfrm>
        <a:prstGeom prst="rect">
          <a:avLst/>
        </a:prstGeom>
        <a:solidFill>
          <a:schemeClr val="accent2">
            <a:tint val="40000"/>
            <a:alpha val="90000"/>
            <a:hueOff val="-1990698"/>
            <a:satOff val="26551"/>
            <a:lumOff val="2294"/>
            <a:alphaOff val="0"/>
          </a:schemeClr>
        </a:solidFill>
        <a:ln w="15875" cap="flat" cmpd="sng" algn="ctr">
          <a:solidFill>
            <a:schemeClr val="accent2">
              <a:tint val="40000"/>
              <a:alpha val="90000"/>
              <a:hueOff val="-1990698"/>
              <a:satOff val="26551"/>
              <a:lumOff val="229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376" tIns="177800" rIns="64376" bIns="177800" numCol="1" spcCol="1270" anchor="ctr" anchorCtr="0">
          <a:noAutofit/>
        </a:bodyPr>
        <a:lstStyle/>
        <a:p>
          <a:pPr marL="0" lvl="0" indent="0" algn="l" defTabSz="622300">
            <a:lnSpc>
              <a:spcPct val="90000"/>
            </a:lnSpc>
            <a:spcBef>
              <a:spcPct val="0"/>
            </a:spcBef>
            <a:spcAft>
              <a:spcPct val="35000"/>
            </a:spcAft>
            <a:buNone/>
          </a:pPr>
          <a:r>
            <a:rPr lang="en-US" sz="1400" kern="1200"/>
            <a:t>Implement: code + tests</a:t>
          </a:r>
        </a:p>
      </dsp:txBody>
      <dsp:txXfrm>
        <a:off x="1057870" y="1740684"/>
        <a:ext cx="3173610" cy="570530"/>
      </dsp:txXfrm>
    </dsp:sp>
    <dsp:sp modelId="{4511A689-E03D-794E-B3E4-4769A266B5E3}">
      <dsp:nvSpPr>
        <dsp:cNvPr id="0" name=""/>
        <dsp:cNvSpPr/>
      </dsp:nvSpPr>
      <dsp:spPr>
        <a:xfrm rot="10800000">
          <a:off x="0" y="871506"/>
          <a:ext cx="1057870" cy="877739"/>
        </a:xfrm>
        <a:prstGeom prst="upArrowCallout">
          <a:avLst>
            <a:gd name="adj1" fmla="val 5000"/>
            <a:gd name="adj2" fmla="val 10000"/>
            <a:gd name="adj3" fmla="val 15000"/>
            <a:gd name="adj4" fmla="val 64977"/>
          </a:avLst>
        </a:prstGeom>
        <a:solidFill>
          <a:schemeClr val="accent2">
            <a:hueOff val="-2054553"/>
            <a:satOff val="23606"/>
            <a:lumOff val="7215"/>
            <a:alphaOff val="0"/>
          </a:schemeClr>
        </a:solidFill>
        <a:ln w="15875" cap="flat" cmpd="sng" algn="ctr">
          <a:solidFill>
            <a:schemeClr val="accent2">
              <a:hueOff val="-2054553"/>
              <a:satOff val="23606"/>
              <a:lumOff val="721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236" tIns="120904" rIns="75236" bIns="120904" numCol="1" spcCol="1270" anchor="ctr" anchorCtr="0">
          <a:noAutofit/>
        </a:bodyPr>
        <a:lstStyle/>
        <a:p>
          <a:pPr marL="0" lvl="0" indent="0" algn="ctr" defTabSz="755650">
            <a:lnSpc>
              <a:spcPct val="90000"/>
            </a:lnSpc>
            <a:spcBef>
              <a:spcPct val="0"/>
            </a:spcBef>
            <a:spcAft>
              <a:spcPct val="35000"/>
            </a:spcAft>
            <a:buNone/>
          </a:pPr>
          <a:r>
            <a:rPr lang="en-US" sz="1700" kern="1200"/>
            <a:t>Formulate</a:t>
          </a:r>
        </a:p>
      </dsp:txBody>
      <dsp:txXfrm rot="-10800000">
        <a:off x="0" y="871506"/>
        <a:ext cx="1057870" cy="570530"/>
      </dsp:txXfrm>
    </dsp:sp>
    <dsp:sp modelId="{FB545C25-327E-AB43-8030-89DA39AC2B5F}">
      <dsp:nvSpPr>
        <dsp:cNvPr id="0" name=""/>
        <dsp:cNvSpPr/>
      </dsp:nvSpPr>
      <dsp:spPr>
        <a:xfrm>
          <a:off x="1057870" y="871506"/>
          <a:ext cx="3173610" cy="570530"/>
        </a:xfrm>
        <a:prstGeom prst="rect">
          <a:avLst/>
        </a:prstGeom>
        <a:solidFill>
          <a:schemeClr val="accent2">
            <a:tint val="40000"/>
            <a:alpha val="90000"/>
            <a:hueOff val="-2654264"/>
            <a:satOff val="35402"/>
            <a:lumOff val="3059"/>
            <a:alphaOff val="0"/>
          </a:schemeClr>
        </a:solidFill>
        <a:ln w="15875" cap="flat" cmpd="sng" algn="ctr">
          <a:solidFill>
            <a:schemeClr val="accent2">
              <a:tint val="40000"/>
              <a:alpha val="90000"/>
              <a:hueOff val="-2654264"/>
              <a:satOff val="35402"/>
              <a:lumOff val="305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376" tIns="177800" rIns="64376" bIns="177800" numCol="1" spcCol="1270" anchor="ctr" anchorCtr="0">
          <a:noAutofit/>
        </a:bodyPr>
        <a:lstStyle/>
        <a:p>
          <a:pPr marL="0" lvl="0" indent="0" algn="l" defTabSz="622300">
            <a:lnSpc>
              <a:spcPct val="90000"/>
            </a:lnSpc>
            <a:spcBef>
              <a:spcPct val="0"/>
            </a:spcBef>
            <a:spcAft>
              <a:spcPct val="35000"/>
            </a:spcAft>
            <a:buNone/>
          </a:pPr>
          <a:r>
            <a:rPr lang="en-US" sz="1400" kern="1200"/>
            <a:t>Formulate: write scenarios</a:t>
          </a:r>
        </a:p>
      </dsp:txBody>
      <dsp:txXfrm>
        <a:off x="1057870" y="871506"/>
        <a:ext cx="3173610" cy="570530"/>
      </dsp:txXfrm>
    </dsp:sp>
    <dsp:sp modelId="{3B14010F-2D8D-7B4B-AC33-69CA6AB1CC0A}">
      <dsp:nvSpPr>
        <dsp:cNvPr id="0" name=""/>
        <dsp:cNvSpPr/>
      </dsp:nvSpPr>
      <dsp:spPr>
        <a:xfrm rot="10800000">
          <a:off x="0" y="2327"/>
          <a:ext cx="1057870" cy="877739"/>
        </a:xfrm>
        <a:prstGeom prst="upArrowCallout">
          <a:avLst>
            <a:gd name="adj1" fmla="val 5000"/>
            <a:gd name="adj2" fmla="val 10000"/>
            <a:gd name="adj3" fmla="val 15000"/>
            <a:gd name="adj4" fmla="val 64977"/>
          </a:avLst>
        </a:prstGeom>
        <a:solidFill>
          <a:schemeClr val="accent2">
            <a:hueOff val="-2568191"/>
            <a:satOff val="29507"/>
            <a:lumOff val="9019"/>
            <a:alphaOff val="0"/>
          </a:schemeClr>
        </a:solidFill>
        <a:ln w="15875" cap="flat" cmpd="sng" algn="ctr">
          <a:solidFill>
            <a:schemeClr val="accent2">
              <a:hueOff val="-2568191"/>
              <a:satOff val="29507"/>
              <a:lumOff val="901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236" tIns="120904" rIns="75236" bIns="120904" numCol="1" spcCol="1270" anchor="ctr" anchorCtr="0">
          <a:noAutofit/>
        </a:bodyPr>
        <a:lstStyle/>
        <a:p>
          <a:pPr marL="0" lvl="0" indent="0" algn="ctr" defTabSz="755650">
            <a:lnSpc>
              <a:spcPct val="90000"/>
            </a:lnSpc>
            <a:spcBef>
              <a:spcPct val="0"/>
            </a:spcBef>
            <a:spcAft>
              <a:spcPct val="35000"/>
            </a:spcAft>
            <a:buNone/>
          </a:pPr>
          <a:r>
            <a:rPr lang="en-US" sz="1700" kern="1200"/>
            <a:t>Agree on</a:t>
          </a:r>
        </a:p>
      </dsp:txBody>
      <dsp:txXfrm rot="-10800000">
        <a:off x="0" y="2327"/>
        <a:ext cx="1057870" cy="570530"/>
      </dsp:txXfrm>
    </dsp:sp>
    <dsp:sp modelId="{23997A55-09B9-B946-AB9F-E964ECD6AEEB}">
      <dsp:nvSpPr>
        <dsp:cNvPr id="0" name=""/>
        <dsp:cNvSpPr/>
      </dsp:nvSpPr>
      <dsp:spPr>
        <a:xfrm>
          <a:off x="1057870" y="2327"/>
          <a:ext cx="3173610" cy="570530"/>
        </a:xfrm>
        <a:prstGeom prst="rect">
          <a:avLst/>
        </a:prstGeom>
        <a:solidFill>
          <a:schemeClr val="accent2">
            <a:tint val="40000"/>
            <a:alpha val="90000"/>
            <a:hueOff val="-3317830"/>
            <a:satOff val="44252"/>
            <a:lumOff val="3824"/>
            <a:alphaOff val="0"/>
          </a:schemeClr>
        </a:solidFill>
        <a:ln w="15875" cap="flat" cmpd="sng" algn="ctr">
          <a:solidFill>
            <a:schemeClr val="accent2">
              <a:tint val="40000"/>
              <a:alpha val="90000"/>
              <a:hueOff val="-3317830"/>
              <a:satOff val="44252"/>
              <a:lumOff val="382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376" tIns="177800" rIns="64376" bIns="177800" numCol="1" spcCol="1270" anchor="ctr" anchorCtr="0">
          <a:noAutofit/>
        </a:bodyPr>
        <a:lstStyle/>
        <a:p>
          <a:pPr marL="0" lvl="0" indent="0" algn="l" defTabSz="622300">
            <a:lnSpc>
              <a:spcPct val="90000"/>
            </a:lnSpc>
            <a:spcBef>
              <a:spcPct val="0"/>
            </a:spcBef>
            <a:spcAft>
              <a:spcPct val="35000"/>
            </a:spcAft>
            <a:buNone/>
          </a:pPr>
          <a:r>
            <a:rPr lang="en-US" sz="1400" kern="1200"/>
            <a:t>Discovery: agree on examples</a:t>
          </a:r>
        </a:p>
      </dsp:txBody>
      <dsp:txXfrm>
        <a:off x="1057870" y="2327"/>
        <a:ext cx="3173610" cy="57053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B7AAA9-D251-4BEB-B0F9-E3C78704F4EC}">
      <dsp:nvSpPr>
        <dsp:cNvPr id="0" name=""/>
        <dsp:cNvSpPr/>
      </dsp:nvSpPr>
      <dsp:spPr>
        <a:xfrm>
          <a:off x="0" y="603"/>
          <a:ext cx="4947047" cy="14116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8506FA-4E06-48BE-AEA1-374F4B8A4875}">
      <dsp:nvSpPr>
        <dsp:cNvPr id="0" name=""/>
        <dsp:cNvSpPr/>
      </dsp:nvSpPr>
      <dsp:spPr>
        <a:xfrm>
          <a:off x="427016" y="318218"/>
          <a:ext cx="776392" cy="7763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8AC8457-A7BC-441D-B010-57646D8DADFF}">
      <dsp:nvSpPr>
        <dsp:cNvPr id="0" name=""/>
        <dsp:cNvSpPr/>
      </dsp:nvSpPr>
      <dsp:spPr>
        <a:xfrm>
          <a:off x="1630424" y="603"/>
          <a:ext cx="3316622" cy="1411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7" tIns="149397" rIns="149397" bIns="149397" numCol="1" spcCol="1270" anchor="ctr" anchorCtr="0">
          <a:noAutofit/>
        </a:bodyPr>
        <a:lstStyle/>
        <a:p>
          <a:pPr marL="0" lvl="0" indent="0" algn="l" defTabSz="1111250">
            <a:lnSpc>
              <a:spcPct val="90000"/>
            </a:lnSpc>
            <a:spcBef>
              <a:spcPct val="0"/>
            </a:spcBef>
            <a:spcAft>
              <a:spcPct val="35000"/>
            </a:spcAft>
            <a:buNone/>
          </a:pPr>
          <a:r>
            <a:rPr lang="en-US" sz="2500" kern="1200"/>
            <a:t>Pure rules → unit tests</a:t>
          </a:r>
        </a:p>
      </dsp:txBody>
      <dsp:txXfrm>
        <a:off x="1630424" y="603"/>
        <a:ext cx="3316622" cy="1411623"/>
      </dsp:txXfrm>
    </dsp:sp>
    <dsp:sp modelId="{65501DCE-9BF5-4F80-8E32-A07B2F284170}">
      <dsp:nvSpPr>
        <dsp:cNvPr id="0" name=""/>
        <dsp:cNvSpPr/>
      </dsp:nvSpPr>
      <dsp:spPr>
        <a:xfrm>
          <a:off x="0" y="1765132"/>
          <a:ext cx="4947047" cy="14116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449A36-43BD-408D-A870-BE9829768457}">
      <dsp:nvSpPr>
        <dsp:cNvPr id="0" name=""/>
        <dsp:cNvSpPr/>
      </dsp:nvSpPr>
      <dsp:spPr>
        <a:xfrm>
          <a:off x="427016" y="2082747"/>
          <a:ext cx="776392" cy="7763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76B61DF-67B6-44E0-9BBF-6FEFF13AC1E3}">
      <dsp:nvSpPr>
        <dsp:cNvPr id="0" name=""/>
        <dsp:cNvSpPr/>
      </dsp:nvSpPr>
      <dsp:spPr>
        <a:xfrm>
          <a:off x="1630424" y="1765132"/>
          <a:ext cx="3316622" cy="1411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7" tIns="149397" rIns="149397" bIns="149397" numCol="1" spcCol="1270" anchor="ctr" anchorCtr="0">
          <a:noAutofit/>
        </a:bodyPr>
        <a:lstStyle/>
        <a:p>
          <a:pPr marL="0" lvl="0" indent="0" algn="l" defTabSz="1111250">
            <a:lnSpc>
              <a:spcPct val="90000"/>
            </a:lnSpc>
            <a:spcBef>
              <a:spcPct val="0"/>
            </a:spcBef>
            <a:spcAft>
              <a:spcPct val="35000"/>
            </a:spcAft>
            <a:buNone/>
          </a:pPr>
          <a:r>
            <a:rPr lang="en-US" sz="2500" kern="1200"/>
            <a:t>Workflows → service/API tests</a:t>
          </a:r>
        </a:p>
      </dsp:txBody>
      <dsp:txXfrm>
        <a:off x="1630424" y="1765132"/>
        <a:ext cx="3316622" cy="1411623"/>
      </dsp:txXfrm>
    </dsp:sp>
    <dsp:sp modelId="{1950BC06-CE90-4583-805C-FA16E659AB68}">
      <dsp:nvSpPr>
        <dsp:cNvPr id="0" name=""/>
        <dsp:cNvSpPr/>
      </dsp:nvSpPr>
      <dsp:spPr>
        <a:xfrm>
          <a:off x="0" y="3529661"/>
          <a:ext cx="4947047" cy="141162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D57175-B46F-46B1-A305-B5BFFE740B45}">
      <dsp:nvSpPr>
        <dsp:cNvPr id="0" name=""/>
        <dsp:cNvSpPr/>
      </dsp:nvSpPr>
      <dsp:spPr>
        <a:xfrm>
          <a:off x="427016" y="3847276"/>
          <a:ext cx="776392" cy="7763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46A8CC2-4ACD-452D-B7FD-B1B23A226244}">
      <dsp:nvSpPr>
        <dsp:cNvPr id="0" name=""/>
        <dsp:cNvSpPr/>
      </dsp:nvSpPr>
      <dsp:spPr>
        <a:xfrm>
          <a:off x="1630424" y="3529661"/>
          <a:ext cx="3316622" cy="14116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397" tIns="149397" rIns="149397" bIns="149397" numCol="1" spcCol="1270" anchor="ctr" anchorCtr="0">
          <a:noAutofit/>
        </a:bodyPr>
        <a:lstStyle/>
        <a:p>
          <a:pPr marL="0" lvl="0" indent="0" algn="l" defTabSz="1111250">
            <a:lnSpc>
              <a:spcPct val="90000"/>
            </a:lnSpc>
            <a:spcBef>
              <a:spcPct val="0"/>
            </a:spcBef>
            <a:spcAft>
              <a:spcPct val="35000"/>
            </a:spcAft>
            <a:buNone/>
          </a:pPr>
          <a:r>
            <a:rPr lang="en-US" sz="2500" kern="1200"/>
            <a:t>Customer confidence → a few UI scenarios</a:t>
          </a:r>
        </a:p>
      </dsp:txBody>
      <dsp:txXfrm>
        <a:off x="1630424" y="3529661"/>
        <a:ext cx="3316622" cy="141162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4838C4-EDEF-4F72-B160-D286EC898D2B}">
      <dsp:nvSpPr>
        <dsp:cNvPr id="0" name=""/>
        <dsp:cNvSpPr/>
      </dsp:nvSpPr>
      <dsp:spPr>
        <a:xfrm>
          <a:off x="481598" y="796362"/>
          <a:ext cx="1303875" cy="1303875"/>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D72E4A-C84C-4B66-8DFE-59F181952834}">
      <dsp:nvSpPr>
        <dsp:cNvPr id="0" name=""/>
        <dsp:cNvSpPr/>
      </dsp:nvSpPr>
      <dsp:spPr>
        <a:xfrm>
          <a:off x="759473" y="1074237"/>
          <a:ext cx="748125" cy="748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A5E1453-66FE-43A6-9A1B-BAC114392805}">
      <dsp:nvSpPr>
        <dsp:cNvPr id="0" name=""/>
        <dsp:cNvSpPr/>
      </dsp:nvSpPr>
      <dsp:spPr>
        <a:xfrm>
          <a:off x="64785" y="2506362"/>
          <a:ext cx="21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a:t>Run behavior checks in CI</a:t>
          </a:r>
        </a:p>
      </dsp:txBody>
      <dsp:txXfrm>
        <a:off x="64785" y="2506362"/>
        <a:ext cx="2137500" cy="720000"/>
      </dsp:txXfrm>
    </dsp:sp>
    <dsp:sp modelId="{9E4C09E1-771A-40EB-9AD0-CC74FE095D40}">
      <dsp:nvSpPr>
        <dsp:cNvPr id="0" name=""/>
        <dsp:cNvSpPr/>
      </dsp:nvSpPr>
      <dsp:spPr>
        <a:xfrm>
          <a:off x="2993160" y="796362"/>
          <a:ext cx="1303875" cy="1303875"/>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E2790D-1B8E-4289-8DEC-FE08893AC603}">
      <dsp:nvSpPr>
        <dsp:cNvPr id="0" name=""/>
        <dsp:cNvSpPr/>
      </dsp:nvSpPr>
      <dsp:spPr>
        <a:xfrm>
          <a:off x="3271035" y="1074237"/>
          <a:ext cx="748125" cy="748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7230BB2-5674-4A8C-87B8-F744AE8DA870}">
      <dsp:nvSpPr>
        <dsp:cNvPr id="0" name=""/>
        <dsp:cNvSpPr/>
      </dsp:nvSpPr>
      <dsp:spPr>
        <a:xfrm>
          <a:off x="2576348" y="2506362"/>
          <a:ext cx="21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a:t>Publish readable reports if helpful</a:t>
          </a:r>
        </a:p>
      </dsp:txBody>
      <dsp:txXfrm>
        <a:off x="2576348" y="2506362"/>
        <a:ext cx="2137500" cy="720000"/>
      </dsp:txXfrm>
    </dsp:sp>
    <dsp:sp modelId="{16B328E6-5B3D-4183-B3B2-187CE87BC433}">
      <dsp:nvSpPr>
        <dsp:cNvPr id="0" name=""/>
        <dsp:cNvSpPr/>
      </dsp:nvSpPr>
      <dsp:spPr>
        <a:xfrm>
          <a:off x="5504723" y="796362"/>
          <a:ext cx="1303875" cy="1303875"/>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0A52D3-8FD2-4589-8206-7AF95D56F0EE}">
      <dsp:nvSpPr>
        <dsp:cNvPr id="0" name=""/>
        <dsp:cNvSpPr/>
      </dsp:nvSpPr>
      <dsp:spPr>
        <a:xfrm>
          <a:off x="5782598" y="1074237"/>
          <a:ext cx="748125" cy="7481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5BCDB7F-753C-4582-8182-172E000362E6}">
      <dsp:nvSpPr>
        <dsp:cNvPr id="0" name=""/>
        <dsp:cNvSpPr/>
      </dsp:nvSpPr>
      <dsp:spPr>
        <a:xfrm>
          <a:off x="5087911" y="2506362"/>
          <a:ext cx="21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a:t>Keep scenarios maintained, or they become misleading</a:t>
          </a:r>
        </a:p>
      </dsp:txBody>
      <dsp:txXfrm>
        <a:off x="5087911" y="2506362"/>
        <a:ext cx="2137500" cy="72000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D4ECB7-A4E8-41A3-88AB-41C8A715A706}">
      <dsp:nvSpPr>
        <dsp:cNvPr id="0" name=""/>
        <dsp:cNvSpPr/>
      </dsp:nvSpPr>
      <dsp:spPr>
        <a:xfrm>
          <a:off x="683114" y="323862"/>
          <a:ext cx="2024437" cy="202443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A28A2D-2C76-43F2-8D55-3AAB3763C063}">
      <dsp:nvSpPr>
        <dsp:cNvPr id="0" name=""/>
        <dsp:cNvSpPr/>
      </dsp:nvSpPr>
      <dsp:spPr>
        <a:xfrm>
          <a:off x="1114551" y="755300"/>
          <a:ext cx="1161562" cy="1161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2F99088-6D6F-4C39-9B91-3DE90312B8FC}">
      <dsp:nvSpPr>
        <dsp:cNvPr id="0" name=""/>
        <dsp:cNvSpPr/>
      </dsp:nvSpPr>
      <dsp:spPr>
        <a:xfrm>
          <a:off x="35957" y="2978862"/>
          <a:ext cx="33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Use when behavior is identical but input/output varies</a:t>
          </a:r>
        </a:p>
      </dsp:txBody>
      <dsp:txXfrm>
        <a:off x="35957" y="2978862"/>
        <a:ext cx="3318750" cy="720000"/>
      </dsp:txXfrm>
    </dsp:sp>
    <dsp:sp modelId="{20CBF5A3-899E-49CE-9CF2-A2854E29ACDA}">
      <dsp:nvSpPr>
        <dsp:cNvPr id="0" name=""/>
        <dsp:cNvSpPr/>
      </dsp:nvSpPr>
      <dsp:spPr>
        <a:xfrm>
          <a:off x="4582645" y="323862"/>
          <a:ext cx="2024437" cy="202443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2B32A1-29BF-4604-BAD8-AA82C0BBB229}">
      <dsp:nvSpPr>
        <dsp:cNvPr id="0" name=""/>
        <dsp:cNvSpPr/>
      </dsp:nvSpPr>
      <dsp:spPr>
        <a:xfrm>
          <a:off x="5014082" y="755300"/>
          <a:ext cx="1161562" cy="1161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C136A46-B739-4931-997E-8C6DD9E95F60}">
      <dsp:nvSpPr>
        <dsp:cNvPr id="0" name=""/>
        <dsp:cNvSpPr/>
      </dsp:nvSpPr>
      <dsp:spPr>
        <a:xfrm>
          <a:off x="3935489" y="2978862"/>
          <a:ext cx="33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Great for validation rules, pricing, permissions</a:t>
          </a:r>
        </a:p>
      </dsp:txBody>
      <dsp:txXfrm>
        <a:off x="3935489" y="2978862"/>
        <a:ext cx="3318750" cy="72000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2BF15C-7885-E94F-81D6-23E49145E420}">
      <dsp:nvSpPr>
        <dsp:cNvPr id="0" name=""/>
        <dsp:cNvSpPr/>
      </dsp:nvSpPr>
      <dsp:spPr>
        <a:xfrm>
          <a:off x="142" y="776554"/>
          <a:ext cx="1719318" cy="2063182"/>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69831" tIns="0" rIns="169831" bIns="330200" numCol="1" spcCol="1270" anchor="t" anchorCtr="0">
          <a:noAutofit/>
        </a:bodyPr>
        <a:lstStyle/>
        <a:p>
          <a:pPr marL="0" lvl="0" indent="0" algn="l" defTabSz="666750">
            <a:lnSpc>
              <a:spcPct val="90000"/>
            </a:lnSpc>
            <a:spcBef>
              <a:spcPct val="0"/>
            </a:spcBef>
            <a:spcAft>
              <a:spcPct val="35000"/>
            </a:spcAft>
            <a:buNone/>
          </a:pPr>
          <a:r>
            <a:rPr lang="en-US" sz="1500" kern="1200"/>
            <a:t>Try a 3 Amigos session on your next story</a:t>
          </a:r>
        </a:p>
      </dsp:txBody>
      <dsp:txXfrm>
        <a:off x="142" y="1601827"/>
        <a:ext cx="1719318" cy="1237909"/>
      </dsp:txXfrm>
    </dsp:sp>
    <dsp:sp modelId="{71F83575-7DFC-614A-8C47-19560DF10A62}">
      <dsp:nvSpPr>
        <dsp:cNvPr id="0" name=""/>
        <dsp:cNvSpPr/>
      </dsp:nvSpPr>
      <dsp:spPr>
        <a:xfrm>
          <a:off x="142" y="776554"/>
          <a:ext cx="1719318" cy="825273"/>
        </a:xfrm>
        <a:prstGeom prst="rect">
          <a:avLst/>
        </a:prstGeom>
        <a:noFill/>
        <a:ln w="15875"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169831" tIns="165100" rIns="169831" bIns="165100" numCol="1" spcCol="1270" anchor="ctr" anchorCtr="0">
          <a:noAutofit/>
        </a:bodyPr>
        <a:lstStyle/>
        <a:p>
          <a:pPr marL="0" lvl="0" indent="0" algn="l" defTabSz="1733550">
            <a:lnSpc>
              <a:spcPct val="90000"/>
            </a:lnSpc>
            <a:spcBef>
              <a:spcPct val="0"/>
            </a:spcBef>
            <a:spcAft>
              <a:spcPct val="35000"/>
            </a:spcAft>
            <a:buNone/>
          </a:pPr>
          <a:r>
            <a:rPr lang="en-US" sz="3900" kern="1200"/>
            <a:t>01</a:t>
          </a:r>
        </a:p>
      </dsp:txBody>
      <dsp:txXfrm>
        <a:off x="142" y="776554"/>
        <a:ext cx="1719318" cy="825273"/>
      </dsp:txXfrm>
    </dsp:sp>
    <dsp:sp modelId="{DF2D1B21-79A3-6248-ABE8-B8993E7A375F}">
      <dsp:nvSpPr>
        <dsp:cNvPr id="0" name=""/>
        <dsp:cNvSpPr/>
      </dsp:nvSpPr>
      <dsp:spPr>
        <a:xfrm>
          <a:off x="1857006" y="776554"/>
          <a:ext cx="1719318" cy="2063182"/>
        </a:xfrm>
        <a:prstGeom prst="rect">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69831" tIns="0" rIns="169831" bIns="330200" numCol="1" spcCol="1270" anchor="t" anchorCtr="0">
          <a:noAutofit/>
        </a:bodyPr>
        <a:lstStyle/>
        <a:p>
          <a:pPr marL="0" lvl="0" indent="0" algn="l" defTabSz="666750">
            <a:lnSpc>
              <a:spcPct val="90000"/>
            </a:lnSpc>
            <a:spcBef>
              <a:spcPct val="0"/>
            </a:spcBef>
            <a:spcAft>
              <a:spcPct val="35000"/>
            </a:spcAft>
            <a:buNone/>
          </a:pPr>
          <a:r>
            <a:rPr lang="en-US" sz="1500" kern="1200"/>
            <a:t>Write 3–5 scenarios for one feature</a:t>
          </a:r>
        </a:p>
      </dsp:txBody>
      <dsp:txXfrm>
        <a:off x="1857006" y="1601827"/>
        <a:ext cx="1719318" cy="1237909"/>
      </dsp:txXfrm>
    </dsp:sp>
    <dsp:sp modelId="{DF926F44-EDF3-144C-A4CD-23E0D22803FD}">
      <dsp:nvSpPr>
        <dsp:cNvPr id="0" name=""/>
        <dsp:cNvSpPr/>
      </dsp:nvSpPr>
      <dsp:spPr>
        <a:xfrm>
          <a:off x="1857006" y="776554"/>
          <a:ext cx="1719318" cy="825273"/>
        </a:xfrm>
        <a:prstGeom prst="rect">
          <a:avLst/>
        </a:prstGeom>
        <a:noFill/>
        <a:ln w="15875"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169831" tIns="165100" rIns="169831" bIns="165100" numCol="1" spcCol="1270" anchor="ctr" anchorCtr="0">
          <a:noAutofit/>
        </a:bodyPr>
        <a:lstStyle/>
        <a:p>
          <a:pPr marL="0" lvl="0" indent="0" algn="l" defTabSz="1733550">
            <a:lnSpc>
              <a:spcPct val="90000"/>
            </a:lnSpc>
            <a:spcBef>
              <a:spcPct val="0"/>
            </a:spcBef>
            <a:spcAft>
              <a:spcPct val="35000"/>
            </a:spcAft>
            <a:buNone/>
          </a:pPr>
          <a:r>
            <a:rPr lang="en-US" sz="3900" kern="1200"/>
            <a:t>02</a:t>
          </a:r>
        </a:p>
      </dsp:txBody>
      <dsp:txXfrm>
        <a:off x="1857006" y="776554"/>
        <a:ext cx="1719318" cy="825273"/>
      </dsp:txXfrm>
    </dsp:sp>
    <dsp:sp modelId="{ABF1BF45-54FB-144F-97B9-12183DE479C2}">
      <dsp:nvSpPr>
        <dsp:cNvPr id="0" name=""/>
        <dsp:cNvSpPr/>
      </dsp:nvSpPr>
      <dsp:spPr>
        <a:xfrm>
          <a:off x="3713871" y="776554"/>
          <a:ext cx="1719318" cy="2063182"/>
        </a:xfrm>
        <a:prstGeom prst="rect">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69831" tIns="0" rIns="169831" bIns="330200" numCol="1" spcCol="1270" anchor="t" anchorCtr="0">
          <a:noAutofit/>
        </a:bodyPr>
        <a:lstStyle/>
        <a:p>
          <a:pPr marL="0" lvl="0" indent="0" algn="l" defTabSz="666750">
            <a:lnSpc>
              <a:spcPct val="90000"/>
            </a:lnSpc>
            <a:spcBef>
              <a:spcPct val="0"/>
            </a:spcBef>
            <a:spcAft>
              <a:spcPct val="35000"/>
            </a:spcAft>
            <a:buNone/>
          </a:pPr>
          <a:r>
            <a:rPr lang="en-US" sz="1500" kern="1200"/>
            <a:t>Automate 1–2 at API/service level first</a:t>
          </a:r>
        </a:p>
      </dsp:txBody>
      <dsp:txXfrm>
        <a:off x="3713871" y="1601827"/>
        <a:ext cx="1719318" cy="1237909"/>
      </dsp:txXfrm>
    </dsp:sp>
    <dsp:sp modelId="{8CFA145E-5E69-ED4D-923D-5E7AC9150155}">
      <dsp:nvSpPr>
        <dsp:cNvPr id="0" name=""/>
        <dsp:cNvSpPr/>
      </dsp:nvSpPr>
      <dsp:spPr>
        <a:xfrm>
          <a:off x="3713871" y="776554"/>
          <a:ext cx="1719318" cy="825273"/>
        </a:xfrm>
        <a:prstGeom prst="rect">
          <a:avLst/>
        </a:prstGeom>
        <a:noFill/>
        <a:ln w="15875"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169831" tIns="165100" rIns="169831" bIns="165100" numCol="1" spcCol="1270" anchor="ctr" anchorCtr="0">
          <a:noAutofit/>
        </a:bodyPr>
        <a:lstStyle/>
        <a:p>
          <a:pPr marL="0" lvl="0" indent="0" algn="l" defTabSz="1733550">
            <a:lnSpc>
              <a:spcPct val="90000"/>
            </a:lnSpc>
            <a:spcBef>
              <a:spcPct val="0"/>
            </a:spcBef>
            <a:spcAft>
              <a:spcPct val="35000"/>
            </a:spcAft>
            <a:buNone/>
          </a:pPr>
          <a:r>
            <a:rPr lang="en-US" sz="3900" kern="1200"/>
            <a:t>03</a:t>
          </a:r>
        </a:p>
      </dsp:txBody>
      <dsp:txXfrm>
        <a:off x="3713871" y="776554"/>
        <a:ext cx="1719318" cy="825273"/>
      </dsp:txXfrm>
    </dsp:sp>
    <dsp:sp modelId="{4D284AC0-58D7-DB4C-B656-1FC1671F6EE6}">
      <dsp:nvSpPr>
        <dsp:cNvPr id="0" name=""/>
        <dsp:cNvSpPr/>
      </dsp:nvSpPr>
      <dsp:spPr>
        <a:xfrm>
          <a:off x="5570735" y="776554"/>
          <a:ext cx="1719318" cy="2063182"/>
        </a:xfrm>
        <a:prstGeom prst="rect">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69831" tIns="0" rIns="169831" bIns="330200" numCol="1" spcCol="1270" anchor="t" anchorCtr="0">
          <a:noAutofit/>
        </a:bodyPr>
        <a:lstStyle/>
        <a:p>
          <a:pPr marL="0" lvl="0" indent="0" algn="l" defTabSz="666750">
            <a:lnSpc>
              <a:spcPct val="90000"/>
            </a:lnSpc>
            <a:spcBef>
              <a:spcPct val="0"/>
            </a:spcBef>
            <a:spcAft>
              <a:spcPct val="35000"/>
            </a:spcAft>
            <a:buNone/>
          </a:pPr>
          <a:r>
            <a:rPr lang="en-US" sz="1500" kern="1200"/>
            <a:t>Review: are scenarios readable, stable, and trusted?</a:t>
          </a:r>
        </a:p>
      </dsp:txBody>
      <dsp:txXfrm>
        <a:off x="5570735" y="1601827"/>
        <a:ext cx="1719318" cy="1237909"/>
      </dsp:txXfrm>
    </dsp:sp>
    <dsp:sp modelId="{20C89DC4-2566-8B4F-A9F8-87953755AD5E}">
      <dsp:nvSpPr>
        <dsp:cNvPr id="0" name=""/>
        <dsp:cNvSpPr/>
      </dsp:nvSpPr>
      <dsp:spPr>
        <a:xfrm>
          <a:off x="5570735" y="776554"/>
          <a:ext cx="1719318" cy="825273"/>
        </a:xfrm>
        <a:prstGeom prst="rect">
          <a:avLst/>
        </a:prstGeom>
        <a:noFill/>
        <a:ln w="15875"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169831" tIns="165100" rIns="169831" bIns="165100" numCol="1" spcCol="1270" anchor="ctr" anchorCtr="0">
          <a:noAutofit/>
        </a:bodyPr>
        <a:lstStyle/>
        <a:p>
          <a:pPr marL="0" lvl="0" indent="0" algn="l" defTabSz="1733550">
            <a:lnSpc>
              <a:spcPct val="90000"/>
            </a:lnSpc>
            <a:spcBef>
              <a:spcPct val="0"/>
            </a:spcBef>
            <a:spcAft>
              <a:spcPct val="35000"/>
            </a:spcAft>
            <a:buNone/>
          </a:pPr>
          <a:r>
            <a:rPr lang="en-US" sz="3900" kern="1200"/>
            <a:t>04</a:t>
          </a:r>
        </a:p>
      </dsp:txBody>
      <dsp:txXfrm>
        <a:off x="5570735" y="776554"/>
        <a:ext cx="1719318" cy="82527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6.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7.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0DF8B5-BCEF-A145-A38C-9AAC1315403B}" type="datetimeFigureOut">
              <a:rPr lang="en-US" smtClean="0"/>
              <a:t>12/4/25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153D06-F2F5-594F-8302-09F05D8AE5D3}" type="slidenum">
              <a:rPr lang="en-US" smtClean="0"/>
              <a:t>‹#›</a:t>
            </a:fld>
            <a:endParaRPr lang="en-US"/>
          </a:p>
        </p:txBody>
      </p:sp>
    </p:spTree>
    <p:extLst>
      <p:ext uri="{BB962C8B-B14F-4D97-AF65-F5344CB8AC3E}">
        <p14:creationId xmlns:p14="http://schemas.microsoft.com/office/powerpoint/2010/main" val="432250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title slide to set tone: BDD is *not* a syntax to memorize; it’s a collaboration habit. Emphasize the subtitle sequence on the slide—**Discovery → Examples → Confidence**—as the throughline of the whole session.</a:t>
            </a:r>
          </a:p>
          <a:p>
            <a:endParaRPr lang="en-US" dirty="0"/>
          </a:p>
          <a:p>
            <a:r>
              <a:rPr lang="en-US" dirty="0"/>
              <a:t>Start by framing “behavior” in plain language: “What does the system do, from a user’s perspective, in a particular situation?” Then explain how BDD turns that into concrete examples everyone can point at. The key promise: fewer “I thought you meant…” moments, less rework, and fewer brittle tests.</a:t>
            </a:r>
          </a:p>
          <a:p>
            <a:endParaRPr lang="en-US" dirty="0"/>
          </a:p>
          <a:p>
            <a:r>
              <a:rPr lang="en-US" dirty="0"/>
              <a:t>**Suggested talk track**</a:t>
            </a:r>
          </a:p>
          <a:p>
            <a:r>
              <a:rPr lang="en-US" dirty="0"/>
              <a:t>- *Discovery*: we bring Product/Business, Dev, and QA together early to surface assumptions and risks.  </a:t>
            </a:r>
          </a:p>
          <a:p>
            <a:r>
              <a:rPr lang="en-US" dirty="0"/>
              <a:t>- *Examples*: we convert fuzzy requirements into short, specific scenarios that describe outcomes.  </a:t>
            </a:r>
          </a:p>
          <a:p>
            <a:r>
              <a:rPr lang="en-US" dirty="0"/>
              <a:t>- *Confidence*: those same scenarios can become automated checks at the right level (unit/service/UI) and serve as living documentation.</a:t>
            </a:r>
          </a:p>
          <a:p>
            <a:endParaRPr lang="en-US" dirty="0"/>
          </a:p>
          <a:p>
            <a:r>
              <a:rPr lang="en-US" dirty="0"/>
              <a:t>**Anchor metaphor**</a:t>
            </a:r>
          </a:p>
          <a:p>
            <a:r>
              <a:rPr lang="en-US" dirty="0"/>
              <a:t>Think of BDD like drafting a contract with example clauses, rather than arguing about abstract definitions. The examples are the clauses. Everyone signs off on them before we build.</a:t>
            </a:r>
          </a:p>
          <a:p>
            <a:endParaRPr lang="en-US" dirty="0"/>
          </a:p>
          <a:p>
            <a:r>
              <a:rPr lang="en-US" dirty="0"/>
              <a:t>**Set expectations**</a:t>
            </a:r>
          </a:p>
          <a:p>
            <a:r>
              <a:rPr lang="en-US" dirty="0"/>
              <a:t>- We’re not trying to replace existing engineering practices. Unit tests, code reviews, and good design still matter.</a:t>
            </a:r>
          </a:p>
          <a:p>
            <a:r>
              <a:rPr lang="en-US" dirty="0"/>
              <a:t>- We *are* trying to reduce ambiguity, align language, and make testing more purposeful.</a:t>
            </a:r>
          </a:p>
          <a:p>
            <a:r>
              <a:rPr lang="en-US" dirty="0"/>
              <a:t>- By the end, you should be able to facilitate a short Three Amigos session, write scenarios that read like behavior (not scripts), and decide what to automate vs. what to keep as human checks.</a:t>
            </a:r>
          </a:p>
          <a:p>
            <a:endParaRPr lang="en-US" dirty="0"/>
          </a:p>
          <a:p>
            <a:r>
              <a:rPr lang="en-US" dirty="0"/>
              <a:t>**Practical tip for presenters**</a:t>
            </a:r>
          </a:p>
          <a:p>
            <a:r>
              <a:rPr lang="en-US" dirty="0"/>
              <a:t>If this is an internal workshop, invite participants to think of one recent “requirement misunderstanding” or one flaky test pain point. Mention you’ll return to those in Q&amp;A to make the ideas real.</a:t>
            </a:r>
          </a:p>
        </p:txBody>
      </p:sp>
      <p:sp>
        <p:nvSpPr>
          <p:cNvPr id="4" name="Slide Number Placeholder 3"/>
          <p:cNvSpPr>
            <a:spLocks noGrp="1"/>
          </p:cNvSpPr>
          <p:nvPr>
            <p:ph type="sldNum" sz="quarter" idx="5"/>
          </p:nvPr>
        </p:nvSpPr>
        <p:spPr/>
        <p:txBody>
          <a:bodyPr/>
          <a:lstStyle/>
          <a:p>
            <a:fld id="{99153D06-F2F5-594F-8302-09F05D8AE5D3}" type="slidenum">
              <a:rPr lang="en-US" smtClean="0"/>
              <a:t>1</a:t>
            </a:fld>
            <a:endParaRPr lang="en-US"/>
          </a:p>
        </p:txBody>
      </p:sp>
    </p:spTree>
    <p:extLst>
      <p:ext uri="{BB962C8B-B14F-4D97-AF65-F5344CB8AC3E}">
        <p14:creationId xmlns:p14="http://schemas.microsoft.com/office/powerpoint/2010/main" val="1109563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your “problem statement” opener. You want your audience to *feel* the pain BDD addresses before you teach them the method. Keep it conversational and concrete.</a:t>
            </a:r>
          </a:p>
          <a:p>
            <a:endParaRPr lang="en-US" dirty="0"/>
          </a:p>
          <a:p>
            <a:r>
              <a:rPr lang="en-US" dirty="0"/>
              <a:t>**What to say**</a:t>
            </a:r>
          </a:p>
          <a:p>
            <a:r>
              <a:rPr lang="en-US" dirty="0"/>
              <a:t>Start with two common failure modes:</a:t>
            </a:r>
          </a:p>
          <a:p>
            <a:r>
              <a:rPr lang="en-US" dirty="0"/>
              <a:t>1) *Ambiguity-driven rework*: Requirements are described at a high level (“validation”, “secure”, “fast”), people interpret them differently, and the team discovers mismatches late—during QA, UAT, or production incidents.  </a:t>
            </a:r>
          </a:p>
          <a:p>
            <a:r>
              <a:rPr lang="en-US" dirty="0"/>
              <a:t>2) *Test distrust*: You may have lots of automated tests, but they’re slow, flaky, or obscure. When CI goes red, people rerun jobs instead of learning from failures.</a:t>
            </a:r>
          </a:p>
          <a:p>
            <a:endParaRPr lang="en-US" dirty="0"/>
          </a:p>
          <a:p>
            <a:r>
              <a:rPr lang="en-US" dirty="0"/>
              <a:t>Then connect BDD’s purpose: BDD is about aligning on **observable behavior** *before* coding, using examples that become shared acceptance criteria.</a:t>
            </a:r>
          </a:p>
          <a:p>
            <a:endParaRPr lang="en-US" dirty="0"/>
          </a:p>
          <a:p>
            <a:r>
              <a:rPr lang="en-US" dirty="0"/>
              <a:t>**How to engage the room**</a:t>
            </a:r>
          </a:p>
          <a:p>
            <a:r>
              <a:rPr lang="en-US" dirty="0"/>
              <a:t>Ask a quick rhetorical question (or an actual show of hands if live):</a:t>
            </a:r>
          </a:p>
          <a:p>
            <a:r>
              <a:rPr lang="en-US" dirty="0"/>
              <a:t>- “Who has seen ‘works on my machine’ become ‘works in prod’… in the worst way?”</a:t>
            </a:r>
          </a:p>
          <a:p>
            <a:r>
              <a:rPr lang="en-US" dirty="0"/>
              <a:t>- “Who has had a bug because a requirement was interpreted two different ways?”</a:t>
            </a:r>
          </a:p>
          <a:p>
            <a:r>
              <a:rPr lang="en-US" dirty="0"/>
              <a:t>- “Who has a test suite you don’t fully trust?”</a:t>
            </a:r>
          </a:p>
          <a:p>
            <a:endParaRPr lang="en-US" dirty="0"/>
          </a:p>
          <a:p>
            <a:r>
              <a:rPr lang="en-US" dirty="0"/>
              <a:t>**Key messages**</a:t>
            </a:r>
          </a:p>
          <a:p>
            <a:r>
              <a:rPr lang="en-US" dirty="0"/>
              <a:t>- BDD reduces the cost of misunderstanding by moving clarification upstream.</a:t>
            </a:r>
          </a:p>
          <a:p>
            <a:r>
              <a:rPr lang="en-US" dirty="0"/>
              <a:t>- BDD reduces “testing as a guessing game” by anchoring checks to agreed examples.</a:t>
            </a:r>
          </a:p>
          <a:p>
            <a:r>
              <a:rPr lang="en-US" dirty="0"/>
              <a:t>- BDD is most powerful when it changes the *conversation*, not just the tooling.</a:t>
            </a:r>
          </a:p>
          <a:p>
            <a:endParaRPr lang="en-US" dirty="0"/>
          </a:p>
          <a:p>
            <a:r>
              <a:rPr lang="en-US" dirty="0"/>
              <a:t>**Bridge to next slide**</a:t>
            </a:r>
          </a:p>
          <a:p>
            <a:r>
              <a:rPr lang="en-US" dirty="0"/>
              <a:t>Close with: “So if the goal is fewer misunderstandings and more confidence, here’s how we’ll approach it today.” That sets up the agenda cleanly.</a:t>
            </a:r>
          </a:p>
        </p:txBody>
      </p:sp>
      <p:sp>
        <p:nvSpPr>
          <p:cNvPr id="4" name="Slide Number Placeholder 3"/>
          <p:cNvSpPr>
            <a:spLocks noGrp="1"/>
          </p:cNvSpPr>
          <p:nvPr>
            <p:ph type="sldNum" sz="quarter" idx="5"/>
          </p:nvPr>
        </p:nvSpPr>
        <p:spPr/>
        <p:txBody>
          <a:bodyPr/>
          <a:lstStyle/>
          <a:p>
            <a:fld id="{99153D06-F2F5-594F-8302-09F05D8AE5D3}" type="slidenum">
              <a:rPr lang="en-US" smtClean="0"/>
              <a:t>2</a:t>
            </a:fld>
            <a:endParaRPr lang="en-US"/>
          </a:p>
        </p:txBody>
      </p:sp>
    </p:spTree>
    <p:extLst>
      <p:ext uri="{BB962C8B-B14F-4D97-AF65-F5344CB8AC3E}">
        <p14:creationId xmlns:p14="http://schemas.microsoft.com/office/powerpoint/2010/main" val="518211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agenda slides as a contract about pacing and outcomes. Even if the slide is short, your notes should make the structure explicit so participants know where they are.</a:t>
            </a:r>
          </a:p>
          <a:p>
            <a:endParaRPr lang="en-US" dirty="0"/>
          </a:p>
          <a:p>
            <a:r>
              <a:rPr lang="en-US" dirty="0"/>
              <a:t>**Proposed agenda narrative (map to your deck)**</a:t>
            </a:r>
          </a:p>
          <a:p>
            <a:r>
              <a:rPr lang="en-US" dirty="0"/>
              <a:t>1) **Definition &amp; non-goals**: What BDD is (and is not), and the exact problem it solves.  </a:t>
            </a:r>
          </a:p>
          <a:p>
            <a:r>
              <a:rPr lang="en-US" dirty="0"/>
              <a:t>2) **Vocabulary &amp; shape of examples**: Behavior, examples, ubiquitous language, Three Amigos, and the Given/When/Then mental model.  </a:t>
            </a:r>
          </a:p>
          <a:p>
            <a:r>
              <a:rPr lang="en-US" dirty="0"/>
              <a:t>3) **Writing good scenarios**: Rules of thumb, readability, avoiding UI scripts, and making outcomes observable.  </a:t>
            </a:r>
          </a:p>
          <a:p>
            <a:r>
              <a:rPr lang="en-US" dirty="0"/>
              <a:t>4) **Case study**: Password reset story with security and edge cases.  </a:t>
            </a:r>
          </a:p>
          <a:p>
            <a:r>
              <a:rPr lang="en-US" dirty="0"/>
              <a:t>5) **Automation strategy**: When to automate, where to automate (test pyramid), and how to avoid step-definition pitfalls.  </a:t>
            </a:r>
          </a:p>
          <a:p>
            <a:r>
              <a:rPr lang="en-US" dirty="0"/>
              <a:t>6) **Workflow &amp; quality gates**: How BDD fits into Definition of Done, CI/CD, and “living documentation”.  </a:t>
            </a:r>
          </a:p>
          <a:p>
            <a:r>
              <a:rPr lang="en-US" dirty="0"/>
              <a:t>7) **Pitfalls &amp; stability tips**: What usually goes wrong and how to fix it.  </a:t>
            </a:r>
          </a:p>
          <a:p>
            <a:r>
              <a:rPr lang="en-US" dirty="0"/>
              <a:t>8) **Wrap-up &amp; Q&amp;A**: Apply it to your current projects.</a:t>
            </a:r>
          </a:p>
          <a:p>
            <a:endParaRPr lang="en-US" dirty="0"/>
          </a:p>
          <a:p>
            <a:r>
              <a:rPr lang="en-US" dirty="0"/>
              <a:t>**How to present it**</a:t>
            </a:r>
          </a:p>
          <a:p>
            <a:r>
              <a:rPr lang="en-US" dirty="0"/>
              <a:t>- Mention that the deck alternates between “concept” and “practice” on purpose.</a:t>
            </a:r>
          </a:p>
          <a:p>
            <a:r>
              <a:rPr lang="en-US" dirty="0"/>
              <a:t>- Encourage people to interrupt *only* for clarification; capture bigger discussions as parking-lot items for Q&amp;A, so you keep momentum.</a:t>
            </a:r>
          </a:p>
          <a:p>
            <a:endParaRPr lang="en-US" dirty="0"/>
          </a:p>
          <a:p>
            <a:r>
              <a:rPr lang="en-US" dirty="0"/>
              <a:t>**Adult-learning move**</a:t>
            </a:r>
          </a:p>
          <a:p>
            <a:r>
              <a:rPr lang="en-US" dirty="0"/>
              <a:t>Explain what “success” looks like for attendees: at minimum they should be able to write 3–5 strong scenarios for a feature and decide the right automation level for each. That frames the rest of the talk in actionable terms.</a:t>
            </a:r>
          </a:p>
        </p:txBody>
      </p:sp>
      <p:sp>
        <p:nvSpPr>
          <p:cNvPr id="4" name="Slide Number Placeholder 3"/>
          <p:cNvSpPr>
            <a:spLocks noGrp="1"/>
          </p:cNvSpPr>
          <p:nvPr>
            <p:ph type="sldNum" sz="quarter" idx="5"/>
          </p:nvPr>
        </p:nvSpPr>
        <p:spPr/>
        <p:txBody>
          <a:bodyPr/>
          <a:lstStyle/>
          <a:p>
            <a:fld id="{99153D06-F2F5-594F-8302-09F05D8AE5D3}" type="slidenum">
              <a:rPr lang="en-US" smtClean="0"/>
              <a:t>3</a:t>
            </a:fld>
            <a:endParaRPr lang="en-US"/>
          </a:p>
        </p:txBody>
      </p:sp>
    </p:spTree>
    <p:extLst>
      <p:ext uri="{BB962C8B-B14F-4D97-AF65-F5344CB8AC3E}">
        <p14:creationId xmlns:p14="http://schemas.microsoft.com/office/powerpoint/2010/main" val="447117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deck’s simplest definition—repeat it and unpack each clause carefully. The slide has two sentences; each deserves real emphasis.</a:t>
            </a:r>
          </a:p>
          <a:p>
            <a:endParaRPr lang="en-US" dirty="0"/>
          </a:p>
          <a:p>
            <a:r>
              <a:rPr lang="en-US" dirty="0"/>
              <a:t>**Sentence 1: “BDD builds shared understanding…”**</a:t>
            </a:r>
          </a:p>
          <a:p>
            <a:r>
              <a:rPr lang="en-US" dirty="0"/>
              <a:t>- *Shared understanding* means Product, QA, and Dev agree on what “done” means in behavior terms.  </a:t>
            </a:r>
          </a:p>
          <a:p>
            <a:r>
              <a:rPr lang="en-US" dirty="0"/>
              <a:t>- The mechanism is not a document—it's a conversation supported by examples.  </a:t>
            </a:r>
          </a:p>
          <a:p>
            <a:r>
              <a:rPr lang="en-US" dirty="0"/>
              <a:t>- The output is a set of scenarios that any role can read and critique.</a:t>
            </a:r>
          </a:p>
          <a:p>
            <a:endParaRPr lang="en-US" dirty="0"/>
          </a:p>
          <a:p>
            <a:r>
              <a:rPr lang="en-US" dirty="0"/>
              <a:t>**“…of behavior…”**</a:t>
            </a:r>
          </a:p>
          <a:p>
            <a:r>
              <a:rPr lang="en-US" dirty="0"/>
              <a:t>“Behavior” is not implementation, not UI steps, not database shape. It is the externally visible response of the system given some context. In other words: “If we do X in situation Y, then Z must be true.”</a:t>
            </a:r>
          </a:p>
          <a:p>
            <a:endParaRPr lang="en-US" dirty="0"/>
          </a:p>
          <a:p>
            <a:r>
              <a:rPr lang="en-US" dirty="0"/>
              <a:t>**“…using concrete examples.”**</a:t>
            </a:r>
          </a:p>
          <a:p>
            <a:r>
              <a:rPr lang="en-US" dirty="0"/>
              <a:t>Explain why examples beat abstract statements:</a:t>
            </a:r>
          </a:p>
          <a:p>
            <a:r>
              <a:rPr lang="en-US" dirty="0"/>
              <a:t>- Abstract: “Validate password complexity.”  </a:t>
            </a:r>
          </a:p>
          <a:p>
            <a:r>
              <a:rPr lang="en-US" dirty="0"/>
              <a:t>- Example: “Given an 8-character password with no symbol, when the member saves it, then show ‘must include a symbol’ and do not update the password.”  </a:t>
            </a:r>
          </a:p>
          <a:p>
            <a:r>
              <a:rPr lang="en-US" dirty="0"/>
              <a:t>Examples force decisions: error messages, edge cases, security rules, and outcomes.</a:t>
            </a:r>
          </a:p>
          <a:p>
            <a:endParaRPr lang="en-US" dirty="0"/>
          </a:p>
          <a:p>
            <a:r>
              <a:rPr lang="en-US" dirty="0"/>
              <a:t>**Sentence 2: “Those examples can be automated…”**</a:t>
            </a:r>
          </a:p>
          <a:p>
            <a:r>
              <a:rPr lang="en-US" dirty="0"/>
              <a:t>Automation is optional, but powerful when done well:</a:t>
            </a:r>
          </a:p>
          <a:p>
            <a:r>
              <a:rPr lang="en-US" dirty="0"/>
              <a:t>- It prevents regressions by turning agreements into repeatable checks.</a:t>
            </a:r>
          </a:p>
          <a:p>
            <a:r>
              <a:rPr lang="en-US" dirty="0"/>
              <a:t>- It keeps documentation “alive”, because failing scenarios demand attention.</a:t>
            </a:r>
          </a:p>
          <a:p>
            <a:r>
              <a:rPr lang="en-US" dirty="0"/>
              <a:t>- It creates confidence only if the checks are fast, stable, and meaningful.</a:t>
            </a:r>
          </a:p>
          <a:p>
            <a:endParaRPr lang="en-US" dirty="0"/>
          </a:p>
          <a:p>
            <a:r>
              <a:rPr lang="en-US" dirty="0"/>
              <a:t>**Important nuance**</a:t>
            </a:r>
          </a:p>
          <a:p>
            <a:r>
              <a:rPr lang="en-US" dirty="0"/>
              <a:t>BDD is communication first, automation second. If you automate poorly (at the wrong level, with brittle UI scripts), you can undo the gains.</a:t>
            </a:r>
          </a:p>
          <a:p>
            <a:endParaRPr lang="en-US" dirty="0"/>
          </a:p>
          <a:p>
            <a:r>
              <a:rPr lang="en-US" dirty="0"/>
              <a:t>**Mini exercise**</a:t>
            </a:r>
          </a:p>
          <a:p>
            <a:r>
              <a:rPr lang="en-US" dirty="0"/>
              <a:t>Invite participants to rewrite one vague requirement into one given/when/then example. Even a 60‑second practice helps the concept land.</a:t>
            </a:r>
          </a:p>
          <a:p>
            <a:endParaRPr lang="en-US" dirty="0"/>
          </a:p>
          <a:p>
            <a:r>
              <a:rPr lang="en-US" dirty="0"/>
              <a:t>**Bridge**</a:t>
            </a:r>
          </a:p>
          <a:p>
            <a:r>
              <a:rPr lang="en-US" dirty="0"/>
              <a:t>End with: “Now that we have the one-sentence definition, let’s clear up what BDD is *not*, because most teams get stuck there.”</a:t>
            </a:r>
          </a:p>
        </p:txBody>
      </p:sp>
      <p:sp>
        <p:nvSpPr>
          <p:cNvPr id="4" name="Slide Number Placeholder 3"/>
          <p:cNvSpPr>
            <a:spLocks noGrp="1"/>
          </p:cNvSpPr>
          <p:nvPr>
            <p:ph type="sldNum" sz="quarter" idx="5"/>
          </p:nvPr>
        </p:nvSpPr>
        <p:spPr/>
        <p:txBody>
          <a:bodyPr/>
          <a:lstStyle/>
          <a:p>
            <a:fld id="{99153D06-F2F5-594F-8302-09F05D8AE5D3}" type="slidenum">
              <a:rPr lang="en-US" smtClean="0"/>
              <a:t>4</a:t>
            </a:fld>
            <a:endParaRPr lang="en-US"/>
          </a:p>
        </p:txBody>
      </p:sp>
    </p:spTree>
    <p:extLst>
      <p:ext uri="{BB962C8B-B14F-4D97-AF65-F5344CB8AC3E}">
        <p14:creationId xmlns:p14="http://schemas.microsoft.com/office/powerpoint/2010/main" val="2466556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disarming misconceptions. Use it to prevent the classic BDD failure mode: “We adopted Cucumber and now we have more brittle tests.”</a:t>
            </a:r>
          </a:p>
          <a:p>
            <a:endParaRPr lang="en-US" dirty="0"/>
          </a:p>
          <a:p>
            <a:r>
              <a:rPr lang="en-US" dirty="0"/>
              <a:t>**Not just a testing tool**</a:t>
            </a:r>
          </a:p>
          <a:p>
            <a:r>
              <a:rPr lang="en-US" dirty="0"/>
              <a:t>BDD includes testing, but it starts earlier—during discovery. It’s a requirement/behavior alignment technique that *may* produce automated checks.</a:t>
            </a:r>
          </a:p>
          <a:p>
            <a:endParaRPr lang="en-US" dirty="0"/>
          </a:p>
          <a:p>
            <a:r>
              <a:rPr lang="en-US" dirty="0"/>
              <a:t>Explain the danger: if you start with “write tests in Gherkin”, you’ll often end with scenarios that are just test scripts, owned by QA, detached from product language.</a:t>
            </a:r>
          </a:p>
          <a:p>
            <a:endParaRPr lang="en-US" dirty="0"/>
          </a:p>
          <a:p>
            <a:r>
              <a:rPr lang="en-US" dirty="0"/>
              <a:t>**Not “UI click automation with nicer syntax”**</a:t>
            </a:r>
          </a:p>
          <a:p>
            <a:r>
              <a:rPr lang="en-US" dirty="0"/>
              <a:t>Gherkin is not a magic wrapper around Selenium. UI-only automation tends to be:</a:t>
            </a:r>
          </a:p>
          <a:p>
            <a:r>
              <a:rPr lang="en-US" dirty="0"/>
              <a:t>- slow (end-to-end runtime),</a:t>
            </a:r>
          </a:p>
          <a:p>
            <a:r>
              <a:rPr lang="en-US" dirty="0"/>
              <a:t>- flaky (timing, selectors, async),</a:t>
            </a:r>
          </a:p>
          <a:p>
            <a:r>
              <a:rPr lang="en-US" dirty="0"/>
              <a:t>- expensive to maintain (DOM changes break steps).</a:t>
            </a:r>
          </a:p>
          <a:p>
            <a:endParaRPr lang="en-US" dirty="0"/>
          </a:p>
          <a:p>
            <a:r>
              <a:rPr lang="en-US" dirty="0"/>
              <a:t>BDD scenarios can run at unit or service levels where they’re cheaper and more deterministic. The scenario describes intent; the execution level is a strategic choice.</a:t>
            </a:r>
          </a:p>
          <a:p>
            <a:endParaRPr lang="en-US" dirty="0"/>
          </a:p>
          <a:p>
            <a:r>
              <a:rPr lang="en-US" dirty="0"/>
              <a:t>**Not “tests after coding”**</a:t>
            </a:r>
          </a:p>
          <a:p>
            <a:r>
              <a:rPr lang="en-US" dirty="0"/>
              <a:t>If scenarios appear only after implementation, you’ve missed the learning loop. BDD aims to reveal misunderstandings early. The best time to write examples is *before* large design decisions are locked in.</a:t>
            </a:r>
          </a:p>
          <a:p>
            <a:endParaRPr lang="en-US" dirty="0"/>
          </a:p>
          <a:p>
            <a:r>
              <a:rPr lang="en-US" dirty="0"/>
              <a:t>**Not a replacement for unit tests**</a:t>
            </a:r>
          </a:p>
          <a:p>
            <a:r>
              <a:rPr lang="en-US" dirty="0"/>
              <a:t>Unit tests still cover fine-grained logic, boundaries, and internal rules. BDD scenarios are acceptance-level examples that describe outcomes in business language. In mature teams, BDD complements unit tests; it doesn’t compete with them.</a:t>
            </a:r>
          </a:p>
          <a:p>
            <a:endParaRPr lang="en-US" dirty="0"/>
          </a:p>
          <a:p>
            <a:r>
              <a:rPr lang="en-US" dirty="0"/>
              <a:t>**Presenter hook**</a:t>
            </a:r>
          </a:p>
          <a:p>
            <a:r>
              <a:rPr lang="en-US" dirty="0"/>
              <a:t>If the audience already has a UI automation suite, acknowledge it: “We’re not throwing it away; we’re right-sizing it.” That keeps people from getting defensive and opens the door to the test pyramid later.</a:t>
            </a:r>
          </a:p>
        </p:txBody>
      </p:sp>
      <p:sp>
        <p:nvSpPr>
          <p:cNvPr id="4" name="Slide Number Placeholder 3"/>
          <p:cNvSpPr>
            <a:spLocks noGrp="1"/>
          </p:cNvSpPr>
          <p:nvPr>
            <p:ph type="sldNum" sz="quarter" idx="5"/>
          </p:nvPr>
        </p:nvSpPr>
        <p:spPr/>
        <p:txBody>
          <a:bodyPr/>
          <a:lstStyle/>
          <a:p>
            <a:fld id="{99153D06-F2F5-594F-8302-09F05D8AE5D3}" type="slidenum">
              <a:rPr lang="en-US" smtClean="0"/>
              <a:t>5</a:t>
            </a:fld>
            <a:endParaRPr lang="en-US"/>
          </a:p>
        </p:txBody>
      </p:sp>
    </p:spTree>
    <p:extLst>
      <p:ext uri="{BB962C8B-B14F-4D97-AF65-F5344CB8AC3E}">
        <p14:creationId xmlns:p14="http://schemas.microsoft.com/office/powerpoint/2010/main" val="3821439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name the “source of truth” problem in product development: when requirements live in multiple places (tickets, chats, emails, tribal knowledge), the team loses alignment.</a:t>
            </a:r>
          </a:p>
          <a:p>
            <a:endParaRPr lang="en-US" dirty="0"/>
          </a:p>
          <a:p>
            <a:r>
              <a:rPr lang="en-US" dirty="0"/>
              <a:t>**The core problem**</a:t>
            </a:r>
          </a:p>
          <a:p>
            <a:r>
              <a:rPr lang="en-US" dirty="0"/>
              <a:t>- Requirements are often written in *abstract terms* (secure, fast, validated, compliant).</a:t>
            </a:r>
          </a:p>
          <a:p>
            <a:r>
              <a:rPr lang="en-US" dirty="0"/>
              <a:t>- Different roles interpret those words differently because they carry different experiences and incentives.</a:t>
            </a:r>
          </a:p>
          <a:p>
            <a:r>
              <a:rPr lang="en-US" dirty="0"/>
              <a:t>- Ambiguity is only resolved when someone tries to implement or test—and by then, change is costly.</a:t>
            </a:r>
          </a:p>
          <a:p>
            <a:endParaRPr lang="en-US" dirty="0"/>
          </a:p>
          <a:p>
            <a:r>
              <a:rPr lang="en-US" dirty="0"/>
              <a:t>BDD addresses this by turning abstract requirements into a set of **examples that constrain interpretation**. Examples act like a lens: they reveal what matters, what doesn't, and what must never happen.</a:t>
            </a:r>
          </a:p>
          <a:p>
            <a:endParaRPr lang="en-US" dirty="0"/>
          </a:p>
          <a:p>
            <a:r>
              <a:rPr lang="en-US" dirty="0"/>
              <a:t>**What BDD replaces**</a:t>
            </a:r>
          </a:p>
          <a:p>
            <a:r>
              <a:rPr lang="en-US" dirty="0"/>
              <a:t>Not documentation entirely, but “handoff documentation” that tries to do too much. With </a:t>
            </a:r>
            <a:r>
              <a:rPr lang="en-US" dirty="0" err="1"/>
              <a:t>BDD,documentation</a:t>
            </a:r>
            <a:r>
              <a:rPr lang="en-US" dirty="0"/>
              <a:t> becomes a reflection of agreed behaviors, not a speculative essay.</a:t>
            </a:r>
          </a:p>
          <a:p>
            <a:endParaRPr lang="en-US" dirty="0"/>
          </a:p>
          <a:p>
            <a:r>
              <a:rPr lang="en-US" dirty="0"/>
              <a:t>**What BDD reduces**</a:t>
            </a:r>
          </a:p>
          <a:p>
            <a:r>
              <a:rPr lang="en-US" dirty="0"/>
              <a:t>- long feedback loops (discovering misunderstanding late),</a:t>
            </a:r>
          </a:p>
          <a:p>
            <a:r>
              <a:rPr lang="en-US" dirty="0"/>
              <a:t>- “ticket ping-pong” between roles,</a:t>
            </a:r>
          </a:p>
          <a:p>
            <a:r>
              <a:rPr lang="en-US" dirty="0"/>
              <a:t>- rework from edge cases discovered too late,</a:t>
            </a:r>
          </a:p>
          <a:p>
            <a:r>
              <a:rPr lang="en-US" dirty="0"/>
              <a:t>- wasted automation (tests that check the wrong thing).</a:t>
            </a:r>
          </a:p>
          <a:p>
            <a:endParaRPr lang="en-US" dirty="0"/>
          </a:p>
          <a:p>
            <a:r>
              <a:rPr lang="en-US" dirty="0"/>
              <a:t>**Make it real**</a:t>
            </a:r>
          </a:p>
          <a:p>
            <a:r>
              <a:rPr lang="en-US" dirty="0"/>
              <a:t>Offer quick, relatable domain examples:</a:t>
            </a:r>
          </a:p>
          <a:p>
            <a:r>
              <a:rPr lang="en-US" dirty="0"/>
              <a:t>- An account lockout rule that is interpreted as per-user vs. per-device.</a:t>
            </a:r>
          </a:p>
          <a:p>
            <a:r>
              <a:rPr lang="en-US" dirty="0"/>
              <a:t>- “Reset password” that reveals whether an email exists (security rule).</a:t>
            </a:r>
          </a:p>
          <a:p>
            <a:r>
              <a:rPr lang="en-US" dirty="0"/>
              <a:t>- “Approval required” but unclear whether it’s per transaction or per day.</a:t>
            </a:r>
          </a:p>
          <a:p>
            <a:endParaRPr lang="en-US" dirty="0"/>
          </a:p>
          <a:p>
            <a:r>
              <a:rPr lang="en-US" dirty="0"/>
              <a:t>**Bridge**</a:t>
            </a:r>
          </a:p>
          <a:p>
            <a:r>
              <a:rPr lang="en-US" dirty="0"/>
              <a:t>Lead into “what success looks like”: “If BDD solves ambiguity and trust issues, then we should be able to describe what ‘good’ looks like in a team practicing it.”</a:t>
            </a:r>
          </a:p>
        </p:txBody>
      </p:sp>
      <p:sp>
        <p:nvSpPr>
          <p:cNvPr id="4" name="Slide Number Placeholder 3"/>
          <p:cNvSpPr>
            <a:spLocks noGrp="1"/>
          </p:cNvSpPr>
          <p:nvPr>
            <p:ph type="sldNum" sz="quarter" idx="5"/>
          </p:nvPr>
        </p:nvSpPr>
        <p:spPr/>
        <p:txBody>
          <a:bodyPr/>
          <a:lstStyle/>
          <a:p>
            <a:fld id="{99153D06-F2F5-594F-8302-09F05D8AE5D3}" type="slidenum">
              <a:rPr lang="en-US" smtClean="0"/>
              <a:t>6</a:t>
            </a:fld>
            <a:endParaRPr lang="en-US"/>
          </a:p>
        </p:txBody>
      </p:sp>
    </p:spTree>
    <p:extLst>
      <p:ext uri="{BB962C8B-B14F-4D97-AF65-F5344CB8AC3E}">
        <p14:creationId xmlns:p14="http://schemas.microsoft.com/office/powerpoint/2010/main" val="508712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where you paint the “north star”. People adopt BDD when they can imagine the day-to-day improvement.</a:t>
            </a:r>
          </a:p>
          <a:p>
            <a:endParaRPr lang="en-US" dirty="0"/>
          </a:p>
          <a:p>
            <a:r>
              <a:rPr lang="en-US" dirty="0"/>
              <a:t>Go through each success indicator and translate it into observable behavior in a team.</a:t>
            </a:r>
          </a:p>
          <a:p>
            <a:endParaRPr lang="en-US" dirty="0"/>
          </a:p>
          <a:p>
            <a:r>
              <a:rPr lang="en-US" dirty="0"/>
              <a:t>**1) Product, QA, and </a:t>
            </a:r>
            <a:r>
              <a:rPr lang="en-US" dirty="0" err="1"/>
              <a:t>devs</a:t>
            </a:r>
            <a:r>
              <a:rPr lang="en-US" dirty="0"/>
              <a:t> agree on examples before coding**</a:t>
            </a:r>
          </a:p>
          <a:p>
            <a:r>
              <a:rPr lang="en-US" dirty="0"/>
              <a:t>Explain what this looks like in practice:</a:t>
            </a:r>
          </a:p>
          <a:p>
            <a:r>
              <a:rPr lang="en-US" dirty="0"/>
              <a:t>- A short Three Amigos session (15–45 minutes) for a story.</a:t>
            </a:r>
          </a:p>
          <a:p>
            <a:r>
              <a:rPr lang="en-US" dirty="0"/>
              <a:t>- The group produces 3–8 scenarios that capture happy path, key rules, and important negatives.</a:t>
            </a:r>
          </a:p>
          <a:p>
            <a:r>
              <a:rPr lang="en-US" dirty="0"/>
              <a:t>- People leave with fewer open questions, and the ticket becomes clearer without becoming longer.</a:t>
            </a:r>
          </a:p>
          <a:p>
            <a:endParaRPr lang="en-US" dirty="0"/>
          </a:p>
          <a:p>
            <a:r>
              <a:rPr lang="en-US" dirty="0"/>
              <a:t>**2) Scenarios read like real behavior (not test scripts)**</a:t>
            </a:r>
          </a:p>
          <a:p>
            <a:r>
              <a:rPr lang="en-US" dirty="0"/>
              <a:t>A scenario should be comprehensible without knowing the UI:</a:t>
            </a:r>
          </a:p>
          <a:p>
            <a:r>
              <a:rPr lang="en-US" dirty="0"/>
              <a:t>- It describes intent (“member signs in”, “visitor requests reset”), not gestures (“click”, “scroll”).</a:t>
            </a:r>
          </a:p>
          <a:p>
            <a:r>
              <a:rPr lang="en-US" dirty="0"/>
              <a:t>- It avoids incidental details (CSS selectors, button labels that change often).</a:t>
            </a:r>
          </a:p>
          <a:p>
            <a:r>
              <a:rPr lang="en-US" dirty="0"/>
              <a:t>- It focuses on outcomes users and systems can observe.</a:t>
            </a:r>
          </a:p>
          <a:p>
            <a:endParaRPr lang="en-US" dirty="0"/>
          </a:p>
          <a:p>
            <a:r>
              <a:rPr lang="en-US" dirty="0"/>
              <a:t>**3) Automated checks are fast, stable, and trusted**</a:t>
            </a:r>
          </a:p>
          <a:p>
            <a:r>
              <a:rPr lang="en-US" dirty="0"/>
              <a:t>Introduce the “trust bar”: if tests are noisy, teams ignore them. Trust comes from:</a:t>
            </a:r>
          </a:p>
          <a:p>
            <a:r>
              <a:rPr lang="en-US" dirty="0"/>
              <a:t>- running checks at the lowest reasonable level (unit/service),</a:t>
            </a:r>
          </a:p>
          <a:p>
            <a:r>
              <a:rPr lang="en-US" dirty="0"/>
              <a:t>- deterministic setup and clean state,</a:t>
            </a:r>
          </a:p>
          <a:p>
            <a:r>
              <a:rPr lang="en-US" dirty="0"/>
              <a:t>- meaningful failure messages tied to behavior.</a:t>
            </a:r>
          </a:p>
          <a:p>
            <a:endParaRPr lang="en-US" dirty="0"/>
          </a:p>
          <a:p>
            <a:r>
              <a:rPr lang="en-US" dirty="0"/>
              <a:t>**4) Docs and checks stay connected (“living documentation”)**</a:t>
            </a:r>
          </a:p>
          <a:p>
            <a:r>
              <a:rPr lang="en-US" dirty="0"/>
              <a:t>Explain living docs: the same scenarios that guided discovery are executable and discoverable. When behavior changes, scenarios are updated; when scenarios fail, they reveal drift.</a:t>
            </a:r>
          </a:p>
          <a:p>
            <a:endParaRPr lang="en-US" dirty="0"/>
          </a:p>
          <a:p>
            <a:r>
              <a:rPr lang="en-US" dirty="0"/>
              <a:t>**Advice for managers/leads**</a:t>
            </a:r>
          </a:p>
          <a:p>
            <a:r>
              <a:rPr lang="en-US" dirty="0"/>
              <a:t>Success isn’t “we wrote 200 scenarios”. It’s “we reduced unclear work and stabilized quality signals.” Encourage measuring:</a:t>
            </a:r>
          </a:p>
          <a:p>
            <a:r>
              <a:rPr lang="en-US" dirty="0"/>
              <a:t>- fewer reopens due to misunderstanding,</a:t>
            </a:r>
          </a:p>
          <a:p>
            <a:r>
              <a:rPr lang="en-US" dirty="0"/>
              <a:t>- shorter cycle time,</a:t>
            </a:r>
          </a:p>
          <a:p>
            <a:r>
              <a:rPr lang="en-US" dirty="0"/>
              <a:t>- fewer regressions on critical flows,</a:t>
            </a:r>
          </a:p>
          <a:p>
            <a:r>
              <a:rPr lang="en-US" dirty="0"/>
              <a:t>- reduced flaky test rate.</a:t>
            </a:r>
          </a:p>
          <a:p>
            <a:endParaRPr lang="en-US" dirty="0"/>
          </a:p>
          <a:p>
            <a:r>
              <a:rPr lang="en-US" dirty="0"/>
              <a:t>**Bridge**</a:t>
            </a:r>
          </a:p>
          <a:p>
            <a:r>
              <a:rPr lang="en-US" dirty="0"/>
              <a:t>“This success relies on shared vocabulary—so let’s define a few terms we’ll use all day.”</a:t>
            </a:r>
          </a:p>
        </p:txBody>
      </p:sp>
      <p:sp>
        <p:nvSpPr>
          <p:cNvPr id="4" name="Slide Number Placeholder 3"/>
          <p:cNvSpPr>
            <a:spLocks noGrp="1"/>
          </p:cNvSpPr>
          <p:nvPr>
            <p:ph type="sldNum" sz="quarter" idx="5"/>
          </p:nvPr>
        </p:nvSpPr>
        <p:spPr/>
        <p:txBody>
          <a:bodyPr/>
          <a:lstStyle/>
          <a:p>
            <a:fld id="{99153D06-F2F5-594F-8302-09F05D8AE5D3}" type="slidenum">
              <a:rPr lang="en-US" smtClean="0"/>
              <a:t>7</a:t>
            </a:fld>
            <a:endParaRPr lang="en-US"/>
          </a:p>
        </p:txBody>
      </p:sp>
    </p:spTree>
    <p:extLst>
      <p:ext uri="{BB962C8B-B14F-4D97-AF65-F5344CB8AC3E}">
        <p14:creationId xmlns:p14="http://schemas.microsoft.com/office/powerpoint/2010/main" val="713190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vocabulary slide is crucial—glossary alignment is the seed of ubiquitous language. Don’t rush it.</a:t>
            </a:r>
          </a:p>
          <a:p>
            <a:endParaRPr lang="en-US" dirty="0"/>
          </a:p>
          <a:p>
            <a:r>
              <a:rPr lang="en-US" dirty="0"/>
              <a:t>**Behavior**</a:t>
            </a:r>
          </a:p>
          <a:p>
            <a:r>
              <a:rPr lang="en-US" dirty="0"/>
              <a:t>Define behavior as the system’s response *as experienced by a user or consuming system*. Emphasize context: the same action can lead to different outcomes depending on state, permissions, risk flags, etc.</a:t>
            </a:r>
          </a:p>
          <a:p>
            <a:endParaRPr lang="en-US" dirty="0"/>
          </a:p>
          <a:p>
            <a:r>
              <a:rPr lang="en-US" dirty="0"/>
              <a:t>**Example**</a:t>
            </a:r>
          </a:p>
          <a:p>
            <a:r>
              <a:rPr lang="en-US" dirty="0"/>
              <a:t>An example is a mini-specification in the form context → action → outcome. It’s intentionally small and testable. Highlight: examples are *not* edge-case exhaustiveness; they are representative and decision-forcing.</a:t>
            </a:r>
          </a:p>
          <a:p>
            <a:endParaRPr lang="en-US" dirty="0"/>
          </a:p>
          <a:p>
            <a:r>
              <a:rPr lang="en-US" dirty="0"/>
              <a:t>**Ubiquitous language**</a:t>
            </a:r>
          </a:p>
          <a:p>
            <a:r>
              <a:rPr lang="en-US" dirty="0"/>
              <a:t>Explain the DDD concept in practical terms:</a:t>
            </a:r>
          </a:p>
          <a:p>
            <a:r>
              <a:rPr lang="en-US" dirty="0"/>
              <a:t>- Use the same nouns/verbs in tickets, conversations, scenarios, and code.</a:t>
            </a:r>
          </a:p>
          <a:p>
            <a:r>
              <a:rPr lang="en-US" dirty="0"/>
              <a:t>- Avoid synonyms that hide disagreement (customer vs. member vs. user).</a:t>
            </a:r>
          </a:p>
          <a:p>
            <a:r>
              <a:rPr lang="en-US" dirty="0"/>
              <a:t>- Treat the vocabulary as a product artifact. When it changes, update scenarios and code terms.</a:t>
            </a:r>
          </a:p>
          <a:p>
            <a:endParaRPr lang="en-US" dirty="0"/>
          </a:p>
          <a:p>
            <a:r>
              <a:rPr lang="en-US" dirty="0"/>
              <a:t>Give a quick “before/after”:</a:t>
            </a:r>
          </a:p>
          <a:p>
            <a:r>
              <a:rPr lang="en-US" dirty="0"/>
              <a:t>- Before: “user”, “client”, “customer” used interchangeably; “lock” means different things.  </a:t>
            </a:r>
          </a:p>
          <a:p>
            <a:r>
              <a:rPr lang="en-US" dirty="0"/>
              <a:t>- After: “member” is the term; “account locked” means “authentication disabled after 5 failed attempts for 15 minutes.”</a:t>
            </a:r>
          </a:p>
          <a:p>
            <a:endParaRPr lang="en-US" dirty="0"/>
          </a:p>
          <a:p>
            <a:r>
              <a:rPr lang="en-US" dirty="0"/>
              <a:t>**Three Amigos**</a:t>
            </a:r>
          </a:p>
          <a:p>
            <a:r>
              <a:rPr lang="en-US" dirty="0"/>
              <a:t>Explain roles and purpose:</a:t>
            </a:r>
          </a:p>
          <a:p>
            <a:r>
              <a:rPr lang="en-US" dirty="0"/>
              <a:t>- Product clarifies intent and value.</a:t>
            </a:r>
          </a:p>
          <a:p>
            <a:r>
              <a:rPr lang="en-US" dirty="0"/>
              <a:t>- QA brings risk thinking and edge cases.</a:t>
            </a:r>
          </a:p>
          <a:p>
            <a:r>
              <a:rPr lang="en-US" dirty="0"/>
              <a:t>- Dev brings feasibility and design constraints.</a:t>
            </a:r>
          </a:p>
          <a:p>
            <a:r>
              <a:rPr lang="en-US" dirty="0"/>
              <a:t>The goal is not to negotiate scope; it’s to clarify behavior with examples.</a:t>
            </a:r>
          </a:p>
          <a:p>
            <a:endParaRPr lang="en-US" dirty="0"/>
          </a:p>
          <a:p>
            <a:r>
              <a:rPr lang="en-US" dirty="0"/>
              <a:t>**Practical instruction**</a:t>
            </a:r>
          </a:p>
          <a:p>
            <a:r>
              <a:rPr lang="en-US" dirty="0"/>
              <a:t>Encourage writing a tiny glossary at the top of a feature file or ticket comment when terms are new or overloaded. That single action can prevent weeks of drift.</a:t>
            </a:r>
          </a:p>
          <a:p>
            <a:endParaRPr lang="en-US" dirty="0"/>
          </a:p>
          <a:p>
            <a:r>
              <a:rPr lang="en-US" dirty="0"/>
              <a:t>**Bridge**</a:t>
            </a:r>
          </a:p>
          <a:p>
            <a:r>
              <a:rPr lang="en-US" dirty="0"/>
              <a:t>Now show the canonical structure: context + action + outcome.</a:t>
            </a:r>
          </a:p>
        </p:txBody>
      </p:sp>
      <p:sp>
        <p:nvSpPr>
          <p:cNvPr id="4" name="Slide Number Placeholder 3"/>
          <p:cNvSpPr>
            <a:spLocks noGrp="1"/>
          </p:cNvSpPr>
          <p:nvPr>
            <p:ph type="sldNum" sz="quarter" idx="5"/>
          </p:nvPr>
        </p:nvSpPr>
        <p:spPr/>
        <p:txBody>
          <a:bodyPr/>
          <a:lstStyle/>
          <a:p>
            <a:fld id="{99153D06-F2F5-594F-8302-09F05D8AE5D3}" type="slidenum">
              <a:rPr lang="en-US" smtClean="0"/>
              <a:t>8</a:t>
            </a:fld>
            <a:endParaRPr lang="en-US"/>
          </a:p>
        </p:txBody>
      </p:sp>
    </p:spTree>
    <p:extLst>
      <p:ext uri="{BB962C8B-B14F-4D97-AF65-F5344CB8AC3E}">
        <p14:creationId xmlns:p14="http://schemas.microsoft.com/office/powerpoint/2010/main" val="20718646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“equation” of behavior. If people remember only one structural idea, it should be this.</a:t>
            </a:r>
          </a:p>
          <a:p>
            <a:endParaRPr lang="en-US" dirty="0"/>
          </a:p>
          <a:p>
            <a:r>
              <a:rPr lang="en-US" dirty="0"/>
              <a:t>**Behavior = context + action + outcome**</a:t>
            </a:r>
          </a:p>
          <a:p>
            <a:r>
              <a:rPr lang="en-US" dirty="0"/>
              <a:t>- *Context* (Given): prerequisites, state, or relevant conditions.</a:t>
            </a:r>
          </a:p>
          <a:p>
            <a:r>
              <a:rPr lang="en-US" dirty="0"/>
              <a:t>- *Action* (When): the trigger—what the user/system does.</a:t>
            </a:r>
          </a:p>
          <a:p>
            <a:r>
              <a:rPr lang="en-US" dirty="0"/>
              <a:t>- *Outcome* (Then): the observable result—what must now be true.</a:t>
            </a:r>
          </a:p>
          <a:p>
            <a:endParaRPr lang="en-US" dirty="0"/>
          </a:p>
          <a:p>
            <a:r>
              <a:rPr lang="en-US" dirty="0"/>
              <a:t>Explain that most misunderstandings come from missing context (e.g., permission level, account state) or unclear outcomes (what message, what status, what side effects).</a:t>
            </a:r>
          </a:p>
          <a:p>
            <a:endParaRPr lang="en-US" dirty="0"/>
          </a:p>
          <a:p>
            <a:r>
              <a:rPr lang="en-US" dirty="0"/>
              <a:t>**Walk through the example on the slide**</a:t>
            </a:r>
          </a:p>
          <a:p>
            <a:r>
              <a:rPr lang="en-US" dirty="0"/>
              <a:t>“Given the account is locked / When the user tries to sign in / Then access is denied with a clear message.”</a:t>
            </a:r>
          </a:p>
          <a:p>
            <a:r>
              <a:rPr lang="en-US" dirty="0"/>
              <a:t>Unpack it:</a:t>
            </a:r>
          </a:p>
          <a:p>
            <a:r>
              <a:rPr lang="en-US" dirty="0"/>
              <a:t>- What does “locked” mean (time-based lockout, admin lock, fraud lock)?</a:t>
            </a:r>
          </a:p>
          <a:p>
            <a:r>
              <a:rPr lang="en-US" dirty="0"/>
              <a:t>- What counts as “tries to sign in” (API call, UI submit)?</a:t>
            </a:r>
          </a:p>
          <a:p>
            <a:r>
              <a:rPr lang="en-US" dirty="0"/>
              <a:t>- What is “denied” (HTTP 401, UI error banner, audit log entry)?</a:t>
            </a:r>
          </a:p>
          <a:p>
            <a:r>
              <a:rPr lang="en-US" dirty="0"/>
              <a:t>- What is a “clear message” (don’t leak security info, but be actionable)?</a:t>
            </a:r>
          </a:p>
          <a:p>
            <a:endParaRPr lang="en-US" dirty="0"/>
          </a:p>
          <a:p>
            <a:r>
              <a:rPr lang="en-US" dirty="0"/>
              <a:t>**Teach ‘observable outcome’**</a:t>
            </a:r>
          </a:p>
          <a:p>
            <a:r>
              <a:rPr lang="en-US" dirty="0"/>
              <a:t>Stress that a good Then step is measurable:</a:t>
            </a:r>
          </a:p>
          <a:p>
            <a:r>
              <a:rPr lang="en-US" dirty="0"/>
              <a:t>- A response code, a displayed message, an event published, a state change, an email sent/not sent.</a:t>
            </a:r>
          </a:p>
          <a:p>
            <a:r>
              <a:rPr lang="en-US" dirty="0"/>
              <a:t>Avoid outcomes like “it works” or “it’s validated”.</a:t>
            </a:r>
          </a:p>
          <a:p>
            <a:endParaRPr lang="en-US" dirty="0"/>
          </a:p>
          <a:p>
            <a:r>
              <a:rPr lang="en-US" dirty="0"/>
              <a:t>**Facilitation tip**</a:t>
            </a:r>
          </a:p>
          <a:p>
            <a:r>
              <a:rPr lang="en-US" dirty="0"/>
              <a:t>During discovery, if you get stuck, ask: “What would we *see* that proves this worked?” That question often reveals missing requirements (copy, emails, audit logs, rate limits).</a:t>
            </a:r>
          </a:p>
          <a:p>
            <a:endParaRPr lang="en-US" dirty="0"/>
          </a:p>
          <a:p>
            <a:r>
              <a:rPr lang="en-US" dirty="0"/>
              <a:t>**Bridge**</a:t>
            </a:r>
          </a:p>
          <a:p>
            <a:r>
              <a:rPr lang="en-US" dirty="0"/>
              <a:t>Once people buy the equation, show why examples remove ambiguity in a way prose cannot.</a:t>
            </a:r>
          </a:p>
        </p:txBody>
      </p:sp>
      <p:sp>
        <p:nvSpPr>
          <p:cNvPr id="4" name="Slide Number Placeholder 3"/>
          <p:cNvSpPr>
            <a:spLocks noGrp="1"/>
          </p:cNvSpPr>
          <p:nvPr>
            <p:ph type="sldNum" sz="quarter" idx="5"/>
          </p:nvPr>
        </p:nvSpPr>
        <p:spPr/>
        <p:txBody>
          <a:bodyPr/>
          <a:lstStyle/>
          <a:p>
            <a:fld id="{99153D06-F2F5-594F-8302-09F05D8AE5D3}" type="slidenum">
              <a:rPr lang="en-US" smtClean="0"/>
              <a:t>9</a:t>
            </a:fld>
            <a:endParaRPr lang="en-US"/>
          </a:p>
        </p:txBody>
      </p:sp>
    </p:spTree>
    <p:extLst>
      <p:ext uri="{BB962C8B-B14F-4D97-AF65-F5344CB8AC3E}">
        <p14:creationId xmlns:p14="http://schemas.microsoft.com/office/powerpoint/2010/main" val="672423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turning hand-wavy requirements into decision-making artifacts.</a:t>
            </a:r>
          </a:p>
          <a:p>
            <a:endParaRPr lang="en-US" dirty="0"/>
          </a:p>
          <a:p>
            <a:r>
              <a:rPr lang="en-US" dirty="0"/>
              <a:t>**The ambiguity problem**</a:t>
            </a:r>
          </a:p>
          <a:p>
            <a:r>
              <a:rPr lang="en-US" dirty="0"/>
              <a:t>Take the example “validate password complexity.” That could mean:</a:t>
            </a:r>
          </a:p>
          <a:p>
            <a:r>
              <a:rPr lang="en-US" dirty="0"/>
              <a:t>- minimum length only,</a:t>
            </a:r>
          </a:p>
          <a:p>
            <a:r>
              <a:rPr lang="en-US" dirty="0"/>
              <a:t>- length + character diversity,</a:t>
            </a:r>
          </a:p>
          <a:p>
            <a:r>
              <a:rPr lang="en-US" dirty="0"/>
              <a:t>- no common passwords,</a:t>
            </a:r>
          </a:p>
          <a:p>
            <a:r>
              <a:rPr lang="en-US" dirty="0"/>
              <a:t>- no keyboard patterns,</a:t>
            </a:r>
          </a:p>
          <a:p>
            <a:r>
              <a:rPr lang="en-US" dirty="0"/>
              <a:t>- no reuse of last N passwords,</a:t>
            </a:r>
          </a:p>
          <a:p>
            <a:r>
              <a:rPr lang="en-US" dirty="0"/>
              <a:t>- different rules for different roles,</a:t>
            </a:r>
          </a:p>
          <a:p>
            <a:r>
              <a:rPr lang="en-US" dirty="0"/>
              <a:t>- localized error messages,</a:t>
            </a:r>
          </a:p>
          <a:p>
            <a:r>
              <a:rPr lang="en-US" dirty="0"/>
              <a:t>- strictness for regulated environments.</a:t>
            </a:r>
          </a:p>
          <a:p>
            <a:endParaRPr lang="en-US" dirty="0"/>
          </a:p>
          <a:p>
            <a:r>
              <a:rPr lang="en-US" dirty="0"/>
              <a:t>Without examples, you can’t tell which interpretation is intended. With examples, you can.</a:t>
            </a:r>
          </a:p>
          <a:p>
            <a:endParaRPr lang="en-US" dirty="0"/>
          </a:p>
          <a:p>
            <a:r>
              <a:rPr lang="en-US" dirty="0"/>
              <a:t>**How to use examples**</a:t>
            </a:r>
          </a:p>
          <a:p>
            <a:r>
              <a:rPr lang="en-US" dirty="0"/>
              <a:t>Teach an approach:</a:t>
            </a:r>
          </a:p>
          <a:p>
            <a:r>
              <a:rPr lang="en-US" dirty="0"/>
              <a:t>1) Start from the most common acceptable case.</a:t>
            </a:r>
          </a:p>
          <a:p>
            <a:r>
              <a:rPr lang="en-US" dirty="0"/>
              <a:t>2) Add the most common rejection.</a:t>
            </a:r>
          </a:p>
          <a:p>
            <a:r>
              <a:rPr lang="en-US" dirty="0"/>
              <a:t>3) Add a boundary case (just below/above the rule).</a:t>
            </a:r>
          </a:p>
          <a:p>
            <a:r>
              <a:rPr lang="en-US" dirty="0"/>
              <a:t>4) Add a risky edge case (security, compliance, abuse).</a:t>
            </a:r>
          </a:p>
          <a:p>
            <a:r>
              <a:rPr lang="en-US" dirty="0"/>
              <a:t>This yields 3–6 examples that force clarity.</a:t>
            </a:r>
          </a:p>
          <a:p>
            <a:endParaRPr lang="en-US" dirty="0"/>
          </a:p>
          <a:p>
            <a:r>
              <a:rPr lang="en-US" dirty="0"/>
              <a:t>**Explain “examples become acceptance criteria”**</a:t>
            </a:r>
          </a:p>
          <a:p>
            <a:r>
              <a:rPr lang="en-US" dirty="0"/>
              <a:t>Acceptance criteria in BDD are not bullet lists; they are scenarios that:</a:t>
            </a:r>
          </a:p>
          <a:p>
            <a:r>
              <a:rPr lang="en-US" dirty="0"/>
              <a:t>- constrain behavior,</a:t>
            </a:r>
          </a:p>
          <a:p>
            <a:r>
              <a:rPr lang="en-US" dirty="0"/>
              <a:t>- can be reviewed by non-technical stakeholders,</a:t>
            </a:r>
          </a:p>
          <a:p>
            <a:r>
              <a:rPr lang="en-US" dirty="0"/>
              <a:t>- can be automated later (if chosen).</a:t>
            </a:r>
          </a:p>
          <a:p>
            <a:endParaRPr lang="en-US" dirty="0"/>
          </a:p>
          <a:p>
            <a:r>
              <a:rPr lang="en-US" dirty="0"/>
              <a:t>**Make it interactive**</a:t>
            </a:r>
          </a:p>
          <a:p>
            <a:r>
              <a:rPr lang="en-US" dirty="0"/>
              <a:t>If presenting live, ask the group to propose three passwords and decide accepted/rejected. You’ll quickly surface:</a:t>
            </a:r>
          </a:p>
          <a:p>
            <a:r>
              <a:rPr lang="en-US" dirty="0"/>
              <a:t>- whether spaces are allowed,</a:t>
            </a:r>
          </a:p>
          <a:p>
            <a:r>
              <a:rPr lang="en-US" dirty="0"/>
              <a:t>- whether Unicode characters count,</a:t>
            </a:r>
          </a:p>
          <a:p>
            <a:r>
              <a:rPr lang="en-US" dirty="0"/>
              <a:t>- whether “password1!” should be blocked as common,</a:t>
            </a:r>
          </a:p>
          <a:p>
            <a:r>
              <a:rPr lang="en-US" dirty="0"/>
              <a:t>- how to phrase the outcome in a user-friendly message.</a:t>
            </a:r>
          </a:p>
          <a:p>
            <a:endParaRPr lang="en-US" dirty="0"/>
          </a:p>
          <a:p>
            <a:r>
              <a:rPr lang="en-US" dirty="0"/>
              <a:t>**Bridge**</a:t>
            </a:r>
          </a:p>
          <a:p>
            <a:r>
              <a:rPr lang="en-US" dirty="0"/>
              <a:t>The mechanics of producing those examples often happen in discovery sessions—introduce Three Amigos discovery next.</a:t>
            </a:r>
          </a:p>
        </p:txBody>
      </p:sp>
      <p:sp>
        <p:nvSpPr>
          <p:cNvPr id="4" name="Slide Number Placeholder 3"/>
          <p:cNvSpPr>
            <a:spLocks noGrp="1"/>
          </p:cNvSpPr>
          <p:nvPr>
            <p:ph type="sldNum" sz="quarter" idx="5"/>
          </p:nvPr>
        </p:nvSpPr>
        <p:spPr/>
        <p:txBody>
          <a:bodyPr/>
          <a:lstStyle/>
          <a:p>
            <a:fld id="{99153D06-F2F5-594F-8302-09F05D8AE5D3}" type="slidenum">
              <a:rPr lang="en-US" smtClean="0"/>
              <a:t>10</a:t>
            </a:fld>
            <a:endParaRPr lang="en-US"/>
          </a:p>
        </p:txBody>
      </p:sp>
    </p:spTree>
    <p:extLst>
      <p:ext uri="{BB962C8B-B14F-4D97-AF65-F5344CB8AC3E}">
        <p14:creationId xmlns:p14="http://schemas.microsoft.com/office/powerpoint/2010/main" val="4139283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structured collaboration ritual: **Discovery with Three Amigos**.</a:t>
            </a:r>
          </a:p>
          <a:p>
            <a:endParaRPr lang="en-US" dirty="0"/>
          </a:p>
          <a:p>
            <a:r>
              <a:rPr lang="en-US" dirty="0"/>
              <a:t>**Clarify what “Discovery” means**</a:t>
            </a:r>
          </a:p>
          <a:p>
            <a:r>
              <a:rPr lang="en-US" dirty="0"/>
              <a:t>Discovery isn’t big up-front analysis. It’s a short, focused alignment activity per story/feature:</a:t>
            </a:r>
          </a:p>
          <a:p>
            <a:r>
              <a:rPr lang="en-US" dirty="0"/>
              <a:t>- clarify behavior,</a:t>
            </a:r>
          </a:p>
          <a:p>
            <a:r>
              <a:rPr lang="en-US" dirty="0"/>
              <a:t>- identify risks,</a:t>
            </a:r>
          </a:p>
          <a:p>
            <a:r>
              <a:rPr lang="en-US" dirty="0"/>
              <a:t>- define examples.</a:t>
            </a:r>
          </a:p>
          <a:p>
            <a:endParaRPr lang="en-US" dirty="0"/>
          </a:p>
          <a:p>
            <a:r>
              <a:rPr lang="en-US" dirty="0"/>
              <a:t>**Who are the Three Amigos?**</a:t>
            </a:r>
          </a:p>
          <a:p>
            <a:r>
              <a:rPr lang="en-US" dirty="0"/>
              <a:t>Product/Business, Dev, QA. Emphasize that the “amigos” are roles, not job titles. Sometimes a designer, support, security, or data person joins if they hold critical context.</a:t>
            </a:r>
          </a:p>
          <a:p>
            <a:endParaRPr lang="en-US" dirty="0"/>
          </a:p>
          <a:p>
            <a:r>
              <a:rPr lang="en-US" dirty="0"/>
              <a:t>**Why it works**</a:t>
            </a:r>
          </a:p>
          <a:p>
            <a:r>
              <a:rPr lang="en-US" dirty="0"/>
              <a:t>- Product brings intent and value (what outcome matters).</a:t>
            </a:r>
          </a:p>
          <a:p>
            <a:r>
              <a:rPr lang="en-US" dirty="0"/>
              <a:t>- QA brings “how can this fail” thinking.</a:t>
            </a:r>
          </a:p>
          <a:p>
            <a:r>
              <a:rPr lang="en-US" dirty="0"/>
              <a:t>- Dev brings constraints and design alternatives.</a:t>
            </a:r>
          </a:p>
          <a:p>
            <a:r>
              <a:rPr lang="en-US" dirty="0"/>
              <a:t>When all three are present, you reduce the “telephone game.”</a:t>
            </a:r>
          </a:p>
          <a:p>
            <a:endParaRPr lang="en-US" dirty="0"/>
          </a:p>
          <a:p>
            <a:r>
              <a:rPr lang="en-US" dirty="0"/>
              <a:t>**How to run it**</a:t>
            </a:r>
          </a:p>
          <a:p>
            <a:r>
              <a:rPr lang="en-US" dirty="0"/>
              <a:t>Give a practical script:</a:t>
            </a:r>
          </a:p>
          <a:p>
            <a:r>
              <a:rPr lang="en-US" dirty="0"/>
              <a:t>1) Read the story and the user goal aloud.</a:t>
            </a:r>
          </a:p>
          <a:p>
            <a:r>
              <a:rPr lang="en-US" dirty="0"/>
              <a:t>2) Ask what’s unclear or risky.</a:t>
            </a:r>
          </a:p>
          <a:p>
            <a:r>
              <a:rPr lang="en-US" dirty="0"/>
              <a:t>3) Draft 3–8 scenarios, including at least one negative.</a:t>
            </a:r>
          </a:p>
          <a:p>
            <a:r>
              <a:rPr lang="en-US" dirty="0"/>
              <a:t>4) Capture vocabulary decisions.</a:t>
            </a:r>
          </a:p>
          <a:p>
            <a:r>
              <a:rPr lang="en-US" dirty="0"/>
              <a:t>5) Decide the likely automation level for each scenario.</a:t>
            </a:r>
          </a:p>
          <a:p>
            <a:endParaRPr lang="en-US" dirty="0"/>
          </a:p>
          <a:p>
            <a:r>
              <a:rPr lang="en-US" dirty="0"/>
              <a:t>**Outputs**</a:t>
            </a:r>
          </a:p>
          <a:p>
            <a:r>
              <a:rPr lang="en-US" dirty="0"/>
              <a:t>- A set of scenarios (often in Gherkin, but not required).</a:t>
            </a:r>
          </a:p>
          <a:p>
            <a:r>
              <a:rPr lang="en-US" dirty="0"/>
              <a:t>- A short glossary/notes.</a:t>
            </a:r>
          </a:p>
          <a:p>
            <a:r>
              <a:rPr lang="en-US" dirty="0"/>
              <a:t>- A list of follow-up questions or assumptions.</a:t>
            </a:r>
          </a:p>
          <a:p>
            <a:endParaRPr lang="en-US" dirty="0"/>
          </a:p>
          <a:p>
            <a:r>
              <a:rPr lang="en-US" dirty="0"/>
              <a:t>**Bridge**</a:t>
            </a:r>
          </a:p>
          <a:p>
            <a:r>
              <a:rPr lang="en-US" dirty="0"/>
              <a:t>To make discovery productive, we use a specific set of questions. Next slide: the question set.</a:t>
            </a:r>
          </a:p>
        </p:txBody>
      </p:sp>
      <p:sp>
        <p:nvSpPr>
          <p:cNvPr id="4" name="Slide Number Placeholder 3"/>
          <p:cNvSpPr>
            <a:spLocks noGrp="1"/>
          </p:cNvSpPr>
          <p:nvPr>
            <p:ph type="sldNum" sz="quarter" idx="5"/>
          </p:nvPr>
        </p:nvSpPr>
        <p:spPr/>
        <p:txBody>
          <a:bodyPr/>
          <a:lstStyle/>
          <a:p>
            <a:fld id="{99153D06-F2F5-594F-8302-09F05D8AE5D3}" type="slidenum">
              <a:rPr lang="en-US" smtClean="0"/>
              <a:t>11</a:t>
            </a:fld>
            <a:endParaRPr lang="en-US"/>
          </a:p>
        </p:txBody>
      </p:sp>
    </p:spTree>
    <p:extLst>
      <p:ext uri="{BB962C8B-B14F-4D97-AF65-F5344CB8AC3E}">
        <p14:creationId xmlns:p14="http://schemas.microsoft.com/office/powerpoint/2010/main" val="4246568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facilitation cheat-sheet. Treat it as a toolkit the audience can use tomorrow.</a:t>
            </a:r>
          </a:p>
          <a:p>
            <a:endParaRPr lang="en-US" dirty="0"/>
          </a:p>
          <a:p>
            <a:r>
              <a:rPr lang="en-US" dirty="0"/>
              <a:t>**Questions that uncover behavior**</a:t>
            </a:r>
          </a:p>
          <a:p>
            <a:r>
              <a:rPr lang="en-US" dirty="0"/>
              <a:t>Work through each question and explain what it unlocks:</a:t>
            </a:r>
          </a:p>
          <a:p>
            <a:endParaRPr lang="en-US" dirty="0"/>
          </a:p>
          <a:p>
            <a:r>
              <a:rPr lang="en-US" dirty="0"/>
              <a:t>1) **What triggers this behavior?**  </a:t>
            </a:r>
          </a:p>
          <a:p>
            <a:r>
              <a:rPr lang="en-US" dirty="0"/>
              <a:t>   Helps distinguish user actions, scheduled jobs, integrations, and system events. Prevents hidden triggers from being missed (e.g., auto-lockout, rule changes).</a:t>
            </a:r>
          </a:p>
          <a:p>
            <a:endParaRPr lang="en-US" dirty="0"/>
          </a:p>
          <a:p>
            <a:r>
              <a:rPr lang="en-US" dirty="0"/>
              <a:t>2) **What must be true before it happens?**  </a:t>
            </a:r>
          </a:p>
          <a:p>
            <a:r>
              <a:rPr lang="en-US" dirty="0"/>
              <a:t>   Exposes prerequisites: authentication, permissions, account state, configuration, feature flags.</a:t>
            </a:r>
          </a:p>
          <a:p>
            <a:endParaRPr lang="en-US" dirty="0"/>
          </a:p>
          <a:p>
            <a:r>
              <a:rPr lang="en-US" dirty="0"/>
              <a:t>3) **What should users see/experience?**  </a:t>
            </a:r>
          </a:p>
          <a:p>
            <a:r>
              <a:rPr lang="en-US" dirty="0"/>
              <a:t>   Forces design of user-facing outcomes: messages, emails, notifications, UI states, accessibility.</a:t>
            </a:r>
          </a:p>
          <a:p>
            <a:endParaRPr lang="en-US" dirty="0"/>
          </a:p>
          <a:p>
            <a:r>
              <a:rPr lang="en-US" dirty="0"/>
              <a:t>4) **What should NEVER happen?**  </a:t>
            </a:r>
          </a:p>
          <a:p>
            <a:r>
              <a:rPr lang="en-US" dirty="0"/>
              <a:t>   Pulls in security and correctness invariants (e.g., don’t reveal whether email exists; don’t allow reset without valid token; don’t double-charge).</a:t>
            </a:r>
          </a:p>
          <a:p>
            <a:endParaRPr lang="en-US" dirty="0"/>
          </a:p>
          <a:p>
            <a:r>
              <a:rPr lang="en-US" dirty="0"/>
              <a:t>5) **What edge cases are risky?**  </a:t>
            </a:r>
          </a:p>
          <a:p>
            <a:r>
              <a:rPr lang="en-US" dirty="0"/>
              <a:t>   Encourages risk-based coverage: abuse scenarios, boundary conditions, concurrency, time, retries, rate limits.</a:t>
            </a:r>
          </a:p>
          <a:p>
            <a:endParaRPr lang="en-US" dirty="0"/>
          </a:p>
          <a:p>
            <a:r>
              <a:rPr lang="en-US" dirty="0"/>
              <a:t>**How to convert answers into scenarios**</a:t>
            </a:r>
          </a:p>
          <a:p>
            <a:r>
              <a:rPr lang="en-US" dirty="0"/>
              <a:t>Show the mapping:</a:t>
            </a:r>
          </a:p>
          <a:p>
            <a:r>
              <a:rPr lang="en-US" dirty="0"/>
              <a:t>- trigger + prerequisites → Given/When</a:t>
            </a:r>
          </a:p>
          <a:p>
            <a:r>
              <a:rPr lang="en-US" dirty="0"/>
              <a:t>- visible experience + invariants → Then</a:t>
            </a:r>
          </a:p>
          <a:p>
            <a:r>
              <a:rPr lang="en-US" dirty="0"/>
              <a:t>- risky edges → additional scenarios or scenario outlines</a:t>
            </a:r>
          </a:p>
          <a:p>
            <a:endParaRPr lang="en-US" dirty="0"/>
          </a:p>
          <a:p>
            <a:r>
              <a:rPr lang="en-US" dirty="0"/>
              <a:t>**Facilitation pattern**</a:t>
            </a:r>
          </a:p>
          <a:p>
            <a:r>
              <a:rPr lang="en-US" dirty="0"/>
              <a:t>When someone says “it depends,” respond with: “Great—let’s capture two examples that show each branch.” This turns uncertainty into productive scenario drafting.</a:t>
            </a:r>
          </a:p>
          <a:p>
            <a:endParaRPr lang="en-US" dirty="0"/>
          </a:p>
          <a:p>
            <a:r>
              <a:rPr lang="en-US" dirty="0"/>
              <a:t>**Bridge**</a:t>
            </a:r>
          </a:p>
          <a:p>
            <a:r>
              <a:rPr lang="en-US" dirty="0"/>
              <a:t>Once you have good examples, you need a format that is readable and consistent. Enter Gherkin (as a communication format).</a:t>
            </a:r>
          </a:p>
        </p:txBody>
      </p:sp>
      <p:sp>
        <p:nvSpPr>
          <p:cNvPr id="4" name="Slide Number Placeholder 3"/>
          <p:cNvSpPr>
            <a:spLocks noGrp="1"/>
          </p:cNvSpPr>
          <p:nvPr>
            <p:ph type="sldNum" sz="quarter" idx="5"/>
          </p:nvPr>
        </p:nvSpPr>
        <p:spPr/>
        <p:txBody>
          <a:bodyPr/>
          <a:lstStyle/>
          <a:p>
            <a:fld id="{99153D06-F2F5-594F-8302-09F05D8AE5D3}" type="slidenum">
              <a:rPr lang="en-US" smtClean="0"/>
              <a:t>12</a:t>
            </a:fld>
            <a:endParaRPr lang="en-US"/>
          </a:p>
        </p:txBody>
      </p:sp>
    </p:spTree>
    <p:extLst>
      <p:ext uri="{BB962C8B-B14F-4D97-AF65-F5344CB8AC3E}">
        <p14:creationId xmlns:p14="http://schemas.microsoft.com/office/powerpoint/2010/main" val="2657692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positions Gherkin correctly: a *format* that supports communication, not a goal in itself.</a:t>
            </a:r>
          </a:p>
          <a:p>
            <a:endParaRPr lang="en-US" dirty="0"/>
          </a:p>
          <a:p>
            <a:r>
              <a:rPr lang="en-US" dirty="0"/>
              <a:t>**What Gherkin is for**</a:t>
            </a:r>
          </a:p>
          <a:p>
            <a:r>
              <a:rPr lang="en-US" dirty="0"/>
              <a:t>- provides a consistent structure (Feature/Scenario/Given/When/Then),</a:t>
            </a:r>
          </a:p>
          <a:p>
            <a:r>
              <a:rPr lang="en-US" dirty="0"/>
              <a:t>- makes examples readable across roles,</a:t>
            </a:r>
          </a:p>
          <a:p>
            <a:r>
              <a:rPr lang="en-US" dirty="0"/>
              <a:t>- supports automation through tooling (Cucumber-family frameworks).</a:t>
            </a:r>
          </a:p>
          <a:p>
            <a:endParaRPr lang="en-US" dirty="0"/>
          </a:p>
          <a:p>
            <a:r>
              <a:rPr lang="en-US" dirty="0"/>
              <a:t>**Communication first, automation second**</a:t>
            </a:r>
          </a:p>
          <a:p>
            <a:r>
              <a:rPr lang="en-US" dirty="0"/>
              <a:t>Reinforce: if a scenario isn’t readable by a non-dev, it’s probably not good. Automation should not distort language. If the tool pressures you into awkward phrasing, prefer clarity and refactor your automation approach (e.g., thin steps, helper DSL).</a:t>
            </a:r>
          </a:p>
          <a:p>
            <a:endParaRPr lang="en-US" dirty="0"/>
          </a:p>
          <a:p>
            <a:r>
              <a:rPr lang="en-US" dirty="0"/>
              <a:t>**Why a readable format matters**</a:t>
            </a:r>
          </a:p>
          <a:p>
            <a:r>
              <a:rPr lang="en-US" dirty="0"/>
              <a:t>Readable scenarios act like:</a:t>
            </a:r>
          </a:p>
          <a:p>
            <a:r>
              <a:rPr lang="en-US" dirty="0"/>
              <a:t>- acceptance criteria,</a:t>
            </a:r>
          </a:p>
          <a:p>
            <a:r>
              <a:rPr lang="en-US" dirty="0"/>
              <a:t>- executable specs (if automated),</a:t>
            </a:r>
          </a:p>
          <a:p>
            <a:r>
              <a:rPr lang="en-US" dirty="0"/>
              <a:t>- onboarding documentation.</a:t>
            </a:r>
          </a:p>
          <a:p>
            <a:endParaRPr lang="en-US" dirty="0"/>
          </a:p>
          <a:p>
            <a:r>
              <a:rPr lang="en-US" dirty="0"/>
              <a:t>They also enable better review: Product can comment on behavior and edge cases directly, not just on </a:t>
            </a:r>
            <a:r>
              <a:rPr lang="en-US" dirty="0" err="1"/>
              <a:t>UIness</a:t>
            </a:r>
            <a:r>
              <a:rPr lang="en-US" dirty="0"/>
              <a:t> or test details.</a:t>
            </a:r>
          </a:p>
          <a:p>
            <a:endParaRPr lang="en-US" dirty="0"/>
          </a:p>
          <a:p>
            <a:r>
              <a:rPr lang="en-US" dirty="0"/>
              <a:t>**When you might not use Gherkin**</a:t>
            </a:r>
          </a:p>
          <a:p>
            <a:r>
              <a:rPr lang="en-US" dirty="0"/>
              <a:t>Mention briefly (to avoid dogma):</a:t>
            </a:r>
          </a:p>
          <a:p>
            <a:r>
              <a:rPr lang="en-US" dirty="0"/>
              <a:t>- You can practice BDD with other formats: example tables, plain language specs, user story mapping + examples.</a:t>
            </a:r>
          </a:p>
          <a:p>
            <a:r>
              <a:rPr lang="en-US" dirty="0"/>
              <a:t>- The key is the example-driven conversation and ubiquitous language.</a:t>
            </a:r>
          </a:p>
          <a:p>
            <a:endParaRPr lang="en-US" dirty="0"/>
          </a:p>
          <a:p>
            <a:r>
              <a:rPr lang="en-US" dirty="0"/>
              <a:t>**Bridge**</a:t>
            </a:r>
          </a:p>
          <a:p>
            <a:r>
              <a:rPr lang="en-US" dirty="0"/>
              <a:t>Now that we know what Gherkin is for, show its structure and how to keep it tidy.</a:t>
            </a:r>
          </a:p>
        </p:txBody>
      </p:sp>
      <p:sp>
        <p:nvSpPr>
          <p:cNvPr id="4" name="Slide Number Placeholder 3"/>
          <p:cNvSpPr>
            <a:spLocks noGrp="1"/>
          </p:cNvSpPr>
          <p:nvPr>
            <p:ph type="sldNum" sz="quarter" idx="5"/>
          </p:nvPr>
        </p:nvSpPr>
        <p:spPr/>
        <p:txBody>
          <a:bodyPr/>
          <a:lstStyle/>
          <a:p>
            <a:fld id="{99153D06-F2F5-594F-8302-09F05D8AE5D3}" type="slidenum">
              <a:rPr lang="en-US" smtClean="0"/>
              <a:t>13</a:t>
            </a:fld>
            <a:endParaRPr lang="en-US"/>
          </a:p>
        </p:txBody>
      </p:sp>
    </p:spTree>
    <p:extLst>
      <p:ext uri="{BB962C8B-B14F-4D97-AF65-F5344CB8AC3E}">
        <p14:creationId xmlns:p14="http://schemas.microsoft.com/office/powerpoint/2010/main" val="37376228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structure. Walk through it like teaching a small grammar: what each “part of speech” means.</a:t>
            </a:r>
          </a:p>
          <a:p>
            <a:endParaRPr lang="en-US" dirty="0"/>
          </a:p>
          <a:p>
            <a:r>
              <a:rPr lang="en-US" dirty="0"/>
              <a:t>**Feature**</a:t>
            </a:r>
          </a:p>
          <a:p>
            <a:r>
              <a:rPr lang="en-US" dirty="0"/>
              <a:t>A Feature is a capability described in terms of value. Encourage writing it as: “As a [role], I want [capability], so that [value].” Even if you don’t put the full sentence in the file, keep the value visible.</a:t>
            </a:r>
          </a:p>
          <a:p>
            <a:endParaRPr lang="en-US" dirty="0"/>
          </a:p>
          <a:p>
            <a:r>
              <a:rPr lang="en-US" dirty="0"/>
              <a:t>**Scenario**</a:t>
            </a:r>
          </a:p>
          <a:p>
            <a:r>
              <a:rPr lang="en-US" dirty="0"/>
              <a:t>A Scenario is *one example* of behavior. Emphasize “one point”: it explains one rule or outcome clearly. If a scenario reads like a test plan, it’s usually too broad.</a:t>
            </a:r>
          </a:p>
          <a:p>
            <a:endParaRPr lang="en-US" dirty="0"/>
          </a:p>
          <a:p>
            <a:r>
              <a:rPr lang="en-US" dirty="0"/>
              <a:t>**Given**</a:t>
            </a:r>
          </a:p>
          <a:p>
            <a:r>
              <a:rPr lang="en-US" dirty="0"/>
              <a:t>Context/preconditions. Teach minimalism: include only what matters for the behavior. Avoid loading the world with irrelevant setup.</a:t>
            </a:r>
          </a:p>
          <a:p>
            <a:endParaRPr lang="en-US" dirty="0"/>
          </a:p>
          <a:p>
            <a:r>
              <a:rPr lang="en-US" dirty="0"/>
              <a:t>**When**</a:t>
            </a:r>
          </a:p>
          <a:p>
            <a:r>
              <a:rPr lang="en-US" dirty="0"/>
              <a:t>The action or trigger. Prefer verbs that match the business domain (“request reset”, “sign in”, “place order”) rather than UI gestures (“click”).</a:t>
            </a:r>
          </a:p>
          <a:p>
            <a:endParaRPr lang="en-US" dirty="0"/>
          </a:p>
          <a:p>
            <a:r>
              <a:rPr lang="en-US" dirty="0"/>
              <a:t>**Then**</a:t>
            </a:r>
          </a:p>
          <a:p>
            <a:r>
              <a:rPr lang="en-US" dirty="0"/>
              <a:t>Expected result. Must be observable. Teach making it specific: status codes, messages, state changes, events.</a:t>
            </a:r>
          </a:p>
          <a:p>
            <a:endParaRPr lang="en-US" dirty="0"/>
          </a:p>
          <a:p>
            <a:r>
              <a:rPr lang="en-US" dirty="0"/>
              <a:t>**And/But**</a:t>
            </a:r>
          </a:p>
          <a:p>
            <a:r>
              <a:rPr lang="en-US" dirty="0"/>
              <a:t>Use sparingly; they are conjunctions, not new steps. Too many Ands is a smell that the scenario contains multiple points or too much setup.</a:t>
            </a:r>
          </a:p>
          <a:p>
            <a:endParaRPr lang="en-US" dirty="0"/>
          </a:p>
          <a:p>
            <a:r>
              <a:rPr lang="en-US" dirty="0"/>
              <a:t>**Quality heuristics**</a:t>
            </a:r>
          </a:p>
          <a:p>
            <a:r>
              <a:rPr lang="en-US" dirty="0"/>
              <a:t>- A good scenario title can stand alone (“Wrong password is rejected”).</a:t>
            </a:r>
          </a:p>
          <a:p>
            <a:r>
              <a:rPr lang="en-US" dirty="0"/>
              <a:t>- A good scenario can be read aloud and still make sense.</a:t>
            </a:r>
          </a:p>
          <a:p>
            <a:r>
              <a:rPr lang="en-US" dirty="0"/>
              <a:t>- A good scenario avoids implementation details (database, buttons) unless they are truly part of behavior.</a:t>
            </a:r>
          </a:p>
          <a:p>
            <a:endParaRPr lang="en-US" dirty="0"/>
          </a:p>
          <a:p>
            <a:r>
              <a:rPr lang="en-US" dirty="0"/>
              <a:t>**Bridge**</a:t>
            </a:r>
          </a:p>
          <a:p>
            <a:r>
              <a:rPr lang="en-US" dirty="0"/>
              <a:t>Introduce the mental model next: Given is “world state”, When is “event”, Then is “new truth”.</a:t>
            </a:r>
          </a:p>
        </p:txBody>
      </p:sp>
      <p:sp>
        <p:nvSpPr>
          <p:cNvPr id="4" name="Slide Number Placeholder 3"/>
          <p:cNvSpPr>
            <a:spLocks noGrp="1"/>
          </p:cNvSpPr>
          <p:nvPr>
            <p:ph type="sldNum" sz="quarter" idx="5"/>
          </p:nvPr>
        </p:nvSpPr>
        <p:spPr/>
        <p:txBody>
          <a:bodyPr/>
          <a:lstStyle/>
          <a:p>
            <a:fld id="{99153D06-F2F5-594F-8302-09F05D8AE5D3}" type="slidenum">
              <a:rPr lang="en-US" smtClean="0"/>
              <a:t>14</a:t>
            </a:fld>
            <a:endParaRPr lang="en-US"/>
          </a:p>
        </p:txBody>
      </p:sp>
    </p:spTree>
    <p:extLst>
      <p:ext uri="{BB962C8B-B14F-4D97-AF65-F5344CB8AC3E}">
        <p14:creationId xmlns:p14="http://schemas.microsoft.com/office/powerpoint/2010/main" val="435501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building intuition. People often memorize Given/When/Then without understanding why it works. Use the “state transition” framing.</a:t>
            </a:r>
          </a:p>
          <a:p>
            <a:endParaRPr lang="en-US" dirty="0"/>
          </a:p>
          <a:p>
            <a:r>
              <a:rPr lang="en-US" dirty="0"/>
              <a:t>**Given = the world looks like this**</a:t>
            </a:r>
          </a:p>
          <a:p>
            <a:r>
              <a:rPr lang="en-US" dirty="0"/>
              <a:t>Explain that Given is about relevant state: system state, user state, configuration. It is not “do steps to get to the page.” If you find yourself navigating, you are mixing UI automation concerns into behavior description.</a:t>
            </a:r>
          </a:p>
          <a:p>
            <a:endParaRPr lang="en-US" dirty="0"/>
          </a:p>
          <a:p>
            <a:r>
              <a:rPr lang="en-US" dirty="0"/>
              <a:t>**When = something happens**</a:t>
            </a:r>
          </a:p>
          <a:p>
            <a:r>
              <a:rPr lang="en-US" dirty="0"/>
              <a:t>It’s the trigger that should cause the behavior. Encourage naming actions in domain terms: “member signs in”, “visitor requests password reset”, “system receives payment confirmation”.</a:t>
            </a:r>
          </a:p>
          <a:p>
            <a:endParaRPr lang="en-US" dirty="0"/>
          </a:p>
          <a:p>
            <a:r>
              <a:rPr lang="en-US" dirty="0"/>
              <a:t>**Then = this must now be true**</a:t>
            </a:r>
          </a:p>
          <a:p>
            <a:r>
              <a:rPr lang="en-US" dirty="0"/>
              <a:t>“Now be true” is key: it implies verification. Teach selecting Then outcomes that matter:</a:t>
            </a:r>
          </a:p>
          <a:p>
            <a:r>
              <a:rPr lang="en-US" dirty="0"/>
              <a:t>- user-visible feedback,</a:t>
            </a:r>
          </a:p>
          <a:p>
            <a:r>
              <a:rPr lang="en-US" dirty="0"/>
              <a:t>- security invariants,</a:t>
            </a:r>
          </a:p>
          <a:p>
            <a:r>
              <a:rPr lang="en-US" dirty="0"/>
              <a:t>- state changes,</a:t>
            </a:r>
          </a:p>
          <a:p>
            <a:r>
              <a:rPr lang="en-US" dirty="0"/>
              <a:t>- side effects such as emails, logs, events.</a:t>
            </a:r>
          </a:p>
          <a:p>
            <a:endParaRPr lang="en-US" dirty="0"/>
          </a:p>
          <a:p>
            <a:r>
              <a:rPr lang="en-US" dirty="0"/>
              <a:t>**Why this mental model helps**</a:t>
            </a:r>
          </a:p>
          <a:p>
            <a:r>
              <a:rPr lang="en-US" dirty="0"/>
              <a:t>It supports better automation design:</a:t>
            </a:r>
          </a:p>
          <a:p>
            <a:r>
              <a:rPr lang="en-US" dirty="0"/>
              <a:t>- Given can map to factories/fixtures or API setup.</a:t>
            </a:r>
          </a:p>
          <a:p>
            <a:r>
              <a:rPr lang="en-US" dirty="0"/>
              <a:t>- When maps to one action in the application/service layer.</a:t>
            </a:r>
          </a:p>
          <a:p>
            <a:r>
              <a:rPr lang="en-US" dirty="0"/>
              <a:t>- Then maps to assertions at the appropriate boundary.</a:t>
            </a:r>
          </a:p>
          <a:p>
            <a:endParaRPr lang="en-US" dirty="0"/>
          </a:p>
          <a:p>
            <a:r>
              <a:rPr lang="en-US" dirty="0"/>
              <a:t>**Common errors to call out**</a:t>
            </a:r>
          </a:p>
          <a:p>
            <a:r>
              <a:rPr lang="en-US" dirty="0"/>
              <a:t>- Given/When/Then as “setup/action/check” in UI steps (e.g., Given I open Chrome…).</a:t>
            </a:r>
          </a:p>
          <a:p>
            <a:r>
              <a:rPr lang="en-US" dirty="0"/>
              <a:t>- Then statements that are not verifiable (“Then the user is happy”).</a:t>
            </a:r>
          </a:p>
          <a:p>
            <a:r>
              <a:rPr lang="en-US" dirty="0"/>
              <a:t>- Multiple When statements (often indicates multiple behaviors in one scenario).</a:t>
            </a:r>
          </a:p>
          <a:p>
            <a:endParaRPr lang="en-US" dirty="0"/>
          </a:p>
          <a:p>
            <a:r>
              <a:rPr lang="en-US" dirty="0"/>
              <a:t>**Bridge**</a:t>
            </a:r>
          </a:p>
          <a:p>
            <a:r>
              <a:rPr lang="en-US" dirty="0"/>
              <a:t>Show a simple scenario next, and read it aloud to demonstrate how natural it can sound.</a:t>
            </a:r>
          </a:p>
        </p:txBody>
      </p:sp>
      <p:sp>
        <p:nvSpPr>
          <p:cNvPr id="4" name="Slide Number Placeholder 3"/>
          <p:cNvSpPr>
            <a:spLocks noGrp="1"/>
          </p:cNvSpPr>
          <p:nvPr>
            <p:ph type="sldNum" sz="quarter" idx="5"/>
          </p:nvPr>
        </p:nvSpPr>
        <p:spPr/>
        <p:txBody>
          <a:bodyPr/>
          <a:lstStyle/>
          <a:p>
            <a:fld id="{99153D06-F2F5-594F-8302-09F05D8AE5D3}" type="slidenum">
              <a:rPr lang="en-US" smtClean="0"/>
              <a:t>15</a:t>
            </a:fld>
            <a:endParaRPr lang="en-US"/>
          </a:p>
        </p:txBody>
      </p:sp>
    </p:spTree>
    <p:extLst>
      <p:ext uri="{BB962C8B-B14F-4D97-AF65-F5344CB8AC3E}">
        <p14:creationId xmlns:p14="http://schemas.microsoft.com/office/powerpoint/2010/main" val="22931282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“read aloud” demo. The goal is to show that scenarios can be simple, human-readable, and still precise.</a:t>
            </a:r>
          </a:p>
          <a:p>
            <a:endParaRPr lang="en-US" dirty="0"/>
          </a:p>
          <a:p>
            <a:r>
              <a:rPr lang="en-US" dirty="0"/>
              <a:t>**Read the scenario like a short story**</a:t>
            </a:r>
          </a:p>
          <a:p>
            <a:r>
              <a:rPr lang="en-US" dirty="0"/>
              <a:t>Feature: Login  </a:t>
            </a:r>
          </a:p>
          <a:p>
            <a:r>
              <a:rPr lang="en-US" dirty="0"/>
              <a:t>Scenario: Wrong password is rejected  </a:t>
            </a:r>
          </a:p>
          <a:p>
            <a:r>
              <a:rPr lang="en-US" dirty="0"/>
              <a:t>Given a member exists with email “</a:t>
            </a:r>
            <a:r>
              <a:rPr lang="en-US" dirty="0" err="1"/>
              <a:t>ana@example.com</a:t>
            </a:r>
            <a:r>
              <a:rPr lang="en-US" dirty="0"/>
              <a:t>”  </a:t>
            </a:r>
          </a:p>
          <a:p>
            <a:r>
              <a:rPr lang="en-US" dirty="0"/>
              <a:t>When the member signs in with password “wrong”  </a:t>
            </a:r>
          </a:p>
          <a:p>
            <a:r>
              <a:rPr lang="en-US" dirty="0"/>
              <a:t>Then the sign-in is rejected</a:t>
            </a:r>
          </a:p>
          <a:p>
            <a:endParaRPr lang="en-US" dirty="0"/>
          </a:p>
          <a:p>
            <a:r>
              <a:rPr lang="en-US" dirty="0"/>
              <a:t>After reading, pause and ask: “Do we all agree what should happen?” This invites discussion of subtle details.</a:t>
            </a:r>
          </a:p>
          <a:p>
            <a:endParaRPr lang="en-US" dirty="0"/>
          </a:p>
          <a:p>
            <a:r>
              <a:rPr lang="en-US" dirty="0"/>
              <a:t>**Unpack hidden decisions**</a:t>
            </a:r>
          </a:p>
          <a:p>
            <a:r>
              <a:rPr lang="en-US" dirty="0"/>
              <a:t>Even this simple scenario contains decisions:</a:t>
            </a:r>
          </a:p>
          <a:p>
            <a:r>
              <a:rPr lang="en-US" dirty="0"/>
              <a:t>- What counts as “rejected” (error message? status code? both?)</a:t>
            </a:r>
          </a:p>
          <a:p>
            <a:r>
              <a:rPr lang="en-US" dirty="0"/>
              <a:t>- Is the rejection message generic (security) or specific (usability)?</a:t>
            </a:r>
          </a:p>
          <a:p>
            <a:r>
              <a:rPr lang="en-US" dirty="0"/>
              <a:t>- Do we record a failed attempt? Does it contribute to lockout?</a:t>
            </a:r>
          </a:p>
          <a:p>
            <a:r>
              <a:rPr lang="en-US" dirty="0"/>
              <a:t>- Is there rate limiting? Captcha after N attempts?</a:t>
            </a:r>
          </a:p>
          <a:p>
            <a:r>
              <a:rPr lang="en-US" dirty="0"/>
              <a:t>- How does localization affect the message?</a:t>
            </a:r>
          </a:p>
          <a:p>
            <a:endParaRPr lang="en-US" dirty="0"/>
          </a:p>
          <a:p>
            <a:r>
              <a:rPr lang="en-US" dirty="0"/>
              <a:t>**Demonstrate refinement without adding UI scripts**</a:t>
            </a:r>
          </a:p>
          <a:p>
            <a:r>
              <a:rPr lang="en-US" dirty="0"/>
              <a:t>Show how you might refine “Then” without naming UI steps:</a:t>
            </a:r>
          </a:p>
          <a:p>
            <a:r>
              <a:rPr lang="en-US" dirty="0"/>
              <a:t>- Then the response is “invalid credentials”</a:t>
            </a:r>
          </a:p>
          <a:p>
            <a:r>
              <a:rPr lang="en-US" dirty="0"/>
              <a:t>- And the failed-attempt counter increases by 1</a:t>
            </a:r>
          </a:p>
          <a:p>
            <a:r>
              <a:rPr lang="en-US" dirty="0"/>
              <a:t>- And no session is created</a:t>
            </a:r>
          </a:p>
          <a:p>
            <a:endParaRPr lang="en-US" dirty="0"/>
          </a:p>
          <a:p>
            <a:r>
              <a:rPr lang="en-US" dirty="0"/>
              <a:t>**Use it to teach scenario scope**</a:t>
            </a:r>
          </a:p>
          <a:p>
            <a:r>
              <a:rPr lang="en-US" dirty="0"/>
              <a:t>This scenario’s main point is rejection on wrong password. If you pile on lockout rules, audit events, and rate limiting in the same scenario, it becomes hard to diagnose. Capture those as separate scenarios.</a:t>
            </a:r>
          </a:p>
          <a:p>
            <a:endParaRPr lang="en-US" dirty="0"/>
          </a:p>
          <a:p>
            <a:r>
              <a:rPr lang="en-US" dirty="0"/>
              <a:t>**Bridge**</a:t>
            </a:r>
          </a:p>
          <a:p>
            <a:r>
              <a:rPr lang="en-US" dirty="0"/>
              <a:t>Now that people have seen the shape, we move to “writing good scenarios”—a set of practical targets that prevent most BDD pain.</a:t>
            </a:r>
          </a:p>
        </p:txBody>
      </p:sp>
      <p:sp>
        <p:nvSpPr>
          <p:cNvPr id="4" name="Slide Number Placeholder 3"/>
          <p:cNvSpPr>
            <a:spLocks noGrp="1"/>
          </p:cNvSpPr>
          <p:nvPr>
            <p:ph type="sldNum" sz="quarter" idx="5"/>
          </p:nvPr>
        </p:nvSpPr>
        <p:spPr/>
        <p:txBody>
          <a:bodyPr/>
          <a:lstStyle/>
          <a:p>
            <a:fld id="{99153D06-F2F5-594F-8302-09F05D8AE5D3}" type="slidenum">
              <a:rPr lang="en-US" smtClean="0"/>
              <a:t>16</a:t>
            </a:fld>
            <a:endParaRPr lang="en-US"/>
          </a:p>
        </p:txBody>
      </p:sp>
    </p:spTree>
    <p:extLst>
      <p:ext uri="{BB962C8B-B14F-4D97-AF65-F5344CB8AC3E}">
        <p14:creationId xmlns:p14="http://schemas.microsoft.com/office/powerpoint/2010/main" val="19867796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starts a multi-slide “how to write scenarios” section. Position it as a checklist of targets, not rigid laws.</a:t>
            </a:r>
          </a:p>
          <a:p>
            <a:endParaRPr lang="en-US" dirty="0"/>
          </a:p>
          <a:p>
            <a:r>
              <a:rPr lang="en-US" dirty="0"/>
              <a:t>**Why scenario quality matters**</a:t>
            </a:r>
          </a:p>
          <a:p>
            <a:r>
              <a:rPr lang="en-US" dirty="0"/>
              <a:t>If scenarios are poorly written, they become:</a:t>
            </a:r>
          </a:p>
          <a:p>
            <a:r>
              <a:rPr lang="en-US" dirty="0"/>
              <a:t>- unreadable to non-</a:t>
            </a:r>
            <a:r>
              <a:rPr lang="en-US" dirty="0" err="1"/>
              <a:t>devs</a:t>
            </a:r>
            <a:r>
              <a:rPr lang="en-US" dirty="0"/>
              <a:t>,</a:t>
            </a:r>
          </a:p>
          <a:p>
            <a:r>
              <a:rPr lang="en-US" dirty="0"/>
              <a:t>- tightly coupled to UI,</a:t>
            </a:r>
          </a:p>
          <a:p>
            <a:r>
              <a:rPr lang="en-US" dirty="0"/>
              <a:t>- difficult to automate,</a:t>
            </a:r>
          </a:p>
          <a:p>
            <a:r>
              <a:rPr lang="en-US" dirty="0"/>
              <a:t>- expensive to maintain.</a:t>
            </a:r>
          </a:p>
          <a:p>
            <a:endParaRPr lang="en-US" dirty="0"/>
          </a:p>
          <a:p>
            <a:r>
              <a:rPr lang="en-US" dirty="0"/>
              <a:t>Good scenarios, by contrast, become reusable “behavior contracts”.</a:t>
            </a:r>
          </a:p>
          <a:p>
            <a:endParaRPr lang="en-US" dirty="0"/>
          </a:p>
          <a:p>
            <a:r>
              <a:rPr lang="en-US" dirty="0"/>
              <a:t>**Introduce the five steps**</a:t>
            </a:r>
          </a:p>
          <a:p>
            <a:r>
              <a:rPr lang="en-US" dirty="0"/>
              <a:t>Explain you’ll go through:</a:t>
            </a:r>
          </a:p>
          <a:p>
            <a:r>
              <a:rPr lang="en-US" dirty="0"/>
              <a:t>1) Start with a user goal  </a:t>
            </a:r>
          </a:p>
          <a:p>
            <a:r>
              <a:rPr lang="en-US" dirty="0"/>
              <a:t>2) Keep Given minimal  </a:t>
            </a:r>
          </a:p>
          <a:p>
            <a:r>
              <a:rPr lang="en-US" dirty="0"/>
              <a:t>3) Avoid UI scripts  </a:t>
            </a:r>
          </a:p>
          <a:p>
            <a:r>
              <a:rPr lang="en-US" dirty="0"/>
              <a:t>4) Make outcomes observable  </a:t>
            </a:r>
          </a:p>
          <a:p>
            <a:r>
              <a:rPr lang="en-US" dirty="0"/>
              <a:t>5) One scenario = one main point</a:t>
            </a:r>
          </a:p>
          <a:p>
            <a:endParaRPr lang="en-US" dirty="0"/>
          </a:p>
          <a:p>
            <a:r>
              <a:rPr lang="en-US" dirty="0"/>
              <a:t>Describe these as the “highest-leverage” practices. Most teams improve dramatically by fixing just these.</a:t>
            </a:r>
          </a:p>
          <a:p>
            <a:endParaRPr lang="en-US" dirty="0"/>
          </a:p>
          <a:p>
            <a:r>
              <a:rPr lang="en-US" dirty="0"/>
              <a:t>**How to teach it**</a:t>
            </a:r>
          </a:p>
          <a:p>
            <a:r>
              <a:rPr lang="en-US" dirty="0"/>
              <a:t>Encourage participants to think in pairs:</a:t>
            </a:r>
          </a:p>
          <a:p>
            <a:r>
              <a:rPr lang="en-US" dirty="0"/>
              <a:t>- Pick one feature in your product.</a:t>
            </a:r>
          </a:p>
          <a:p>
            <a:r>
              <a:rPr lang="en-US" dirty="0"/>
              <a:t>- For each step, identify how your current work matches or violates the principle.</a:t>
            </a:r>
          </a:p>
          <a:p>
            <a:r>
              <a:rPr lang="en-US" dirty="0"/>
              <a:t>This sets up the next slides as both instruction and self-assessment.</a:t>
            </a:r>
          </a:p>
          <a:p>
            <a:endParaRPr lang="en-US" dirty="0"/>
          </a:p>
          <a:p>
            <a:r>
              <a:rPr lang="en-US" dirty="0"/>
              <a:t>**Bridge**</a:t>
            </a:r>
          </a:p>
          <a:p>
            <a:r>
              <a:rPr lang="en-US" dirty="0"/>
              <a:t>Slide 18 starts with user goals—because behavior is meaningful only relative to user value.</a:t>
            </a:r>
          </a:p>
        </p:txBody>
      </p:sp>
      <p:sp>
        <p:nvSpPr>
          <p:cNvPr id="4" name="Slide Number Placeholder 3"/>
          <p:cNvSpPr>
            <a:spLocks noGrp="1"/>
          </p:cNvSpPr>
          <p:nvPr>
            <p:ph type="sldNum" sz="quarter" idx="5"/>
          </p:nvPr>
        </p:nvSpPr>
        <p:spPr/>
        <p:txBody>
          <a:bodyPr/>
          <a:lstStyle/>
          <a:p>
            <a:fld id="{99153D06-F2F5-594F-8302-09F05D8AE5D3}" type="slidenum">
              <a:rPr lang="en-US" smtClean="0"/>
              <a:t>17</a:t>
            </a:fld>
            <a:endParaRPr lang="en-US"/>
          </a:p>
        </p:txBody>
      </p:sp>
    </p:spTree>
    <p:extLst>
      <p:ext uri="{BB962C8B-B14F-4D97-AF65-F5344CB8AC3E}">
        <p14:creationId xmlns:p14="http://schemas.microsoft.com/office/powerpoint/2010/main" val="15620937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Start with a user goal** is the antidote to scenario-writing that starts from implementation.</a:t>
            </a:r>
          </a:p>
          <a:p>
            <a:endParaRPr lang="en-US" dirty="0"/>
          </a:p>
          <a:p>
            <a:r>
              <a:rPr lang="en-US" dirty="0"/>
              <a:t>**What “user goal” means**</a:t>
            </a:r>
          </a:p>
          <a:p>
            <a:r>
              <a:rPr lang="en-US" dirty="0"/>
              <a:t>It can be a person or a system acting as a user. The goal should answer: “What is the user trying to achieve, and why does it matter?” Keep it outcome-oriented.</a:t>
            </a:r>
          </a:p>
          <a:p>
            <a:endParaRPr lang="en-US" dirty="0"/>
          </a:p>
          <a:p>
            <a:r>
              <a:rPr lang="en-US" dirty="0"/>
              <a:t>**Why it matters**</a:t>
            </a:r>
          </a:p>
          <a:p>
            <a:r>
              <a:rPr lang="en-US" dirty="0"/>
              <a:t>- Goals prevent you from writing scenarios that test tiny UI details.</a:t>
            </a:r>
          </a:p>
          <a:p>
            <a:r>
              <a:rPr lang="en-US" dirty="0"/>
              <a:t>- Goals help you pick the right examples (happy path + high-risk negatives).</a:t>
            </a:r>
          </a:p>
          <a:p>
            <a:r>
              <a:rPr lang="en-US" dirty="0"/>
              <a:t>- Goals keep your language grounded in domain terms.</a:t>
            </a:r>
          </a:p>
          <a:p>
            <a:endParaRPr lang="en-US" dirty="0"/>
          </a:p>
          <a:p>
            <a:r>
              <a:rPr lang="en-US" dirty="0"/>
              <a:t>**How to apply it**</a:t>
            </a:r>
          </a:p>
          <a:p>
            <a:r>
              <a:rPr lang="en-US" dirty="0"/>
              <a:t>Before writing Given/When/Then, write one sentence:</a:t>
            </a:r>
          </a:p>
          <a:p>
            <a:r>
              <a:rPr lang="en-US" dirty="0"/>
              <a:t>- “A member wants to regain access to their account when they forgot their password.”  </a:t>
            </a:r>
          </a:p>
          <a:p>
            <a:r>
              <a:rPr lang="en-US" dirty="0"/>
              <a:t>Then draft scenarios that support that goal.</a:t>
            </a:r>
          </a:p>
          <a:p>
            <a:endParaRPr lang="en-US" dirty="0"/>
          </a:p>
          <a:p>
            <a:r>
              <a:rPr lang="en-US" dirty="0"/>
              <a:t>**Common anti-patterns**</a:t>
            </a:r>
          </a:p>
          <a:p>
            <a:r>
              <a:rPr lang="en-US" dirty="0"/>
              <a:t>- Starting with a screen: “On the reset password page…”</a:t>
            </a:r>
          </a:p>
          <a:p>
            <a:r>
              <a:rPr lang="en-US" dirty="0"/>
              <a:t>- Starting with an internal component: “Given the password validator…”</a:t>
            </a:r>
          </a:p>
          <a:p>
            <a:r>
              <a:rPr lang="en-US" dirty="0"/>
              <a:t>Those are implementation frames. The goal frame is: “Member resets password.”</a:t>
            </a:r>
          </a:p>
          <a:p>
            <a:endParaRPr lang="en-US" dirty="0"/>
          </a:p>
          <a:p>
            <a:r>
              <a:rPr lang="en-US" dirty="0"/>
              <a:t>**Practical technique: “Goal-first scenario titles”**</a:t>
            </a:r>
          </a:p>
          <a:p>
            <a:r>
              <a:rPr lang="en-US" dirty="0"/>
              <a:t>Scenario titles should quote the goal:</a:t>
            </a:r>
          </a:p>
          <a:p>
            <a:r>
              <a:rPr lang="en-US" dirty="0"/>
              <a:t>- “Member successfully resets password with a valid link”</a:t>
            </a:r>
          </a:p>
          <a:p>
            <a:r>
              <a:rPr lang="en-US" dirty="0"/>
              <a:t>- “Unknown email reset request does not reveal account existence”</a:t>
            </a:r>
          </a:p>
          <a:p>
            <a:r>
              <a:rPr lang="en-US" dirty="0"/>
              <a:t>These titles help reviewers quickly see whether the feature covers the right behaviors.</a:t>
            </a:r>
          </a:p>
          <a:p>
            <a:endParaRPr lang="en-US" dirty="0"/>
          </a:p>
          <a:p>
            <a:r>
              <a:rPr lang="en-US" dirty="0"/>
              <a:t>**Bridge**</a:t>
            </a:r>
          </a:p>
          <a:p>
            <a:r>
              <a:rPr lang="en-US" dirty="0"/>
              <a:t>Once the goal is clear, we keep context minimal—otherwise scenarios become setup-heavy and fragile.</a:t>
            </a:r>
          </a:p>
        </p:txBody>
      </p:sp>
      <p:sp>
        <p:nvSpPr>
          <p:cNvPr id="4" name="Slide Number Placeholder 3"/>
          <p:cNvSpPr>
            <a:spLocks noGrp="1"/>
          </p:cNvSpPr>
          <p:nvPr>
            <p:ph type="sldNum" sz="quarter" idx="5"/>
          </p:nvPr>
        </p:nvSpPr>
        <p:spPr/>
        <p:txBody>
          <a:bodyPr/>
          <a:lstStyle/>
          <a:p>
            <a:fld id="{99153D06-F2F5-594F-8302-09F05D8AE5D3}" type="slidenum">
              <a:rPr lang="en-US" smtClean="0"/>
              <a:t>18</a:t>
            </a:fld>
            <a:endParaRPr lang="en-US"/>
          </a:p>
        </p:txBody>
      </p:sp>
    </p:spTree>
    <p:extLst>
      <p:ext uri="{BB962C8B-B14F-4D97-AF65-F5344CB8AC3E}">
        <p14:creationId xmlns:p14="http://schemas.microsoft.com/office/powerpoint/2010/main" val="24996478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Keep Given minimal** tackles a major source of brittleness and unreadability.</a:t>
            </a:r>
          </a:p>
          <a:p>
            <a:endParaRPr lang="en-US" dirty="0"/>
          </a:p>
          <a:p>
            <a:r>
              <a:rPr lang="en-US" dirty="0"/>
              <a:t>**The purpose of Given**</a:t>
            </a:r>
          </a:p>
          <a:p>
            <a:r>
              <a:rPr lang="en-US" dirty="0"/>
              <a:t>Given establishes only *relevant* conditions. Think: “What must be true for the behavior to make sense?” Not “how do I navigate there”.</a:t>
            </a:r>
          </a:p>
          <a:p>
            <a:endParaRPr lang="en-US" dirty="0"/>
          </a:p>
          <a:p>
            <a:r>
              <a:rPr lang="en-US" dirty="0"/>
              <a:t>**Why minimal Given is powerful**</a:t>
            </a:r>
          </a:p>
          <a:p>
            <a:r>
              <a:rPr lang="en-US" dirty="0"/>
              <a:t>- It keeps scenarios readable and focused.</a:t>
            </a:r>
          </a:p>
          <a:p>
            <a:r>
              <a:rPr lang="en-US" dirty="0"/>
              <a:t>- It reduces test setup complexity.</a:t>
            </a:r>
          </a:p>
          <a:p>
            <a:r>
              <a:rPr lang="en-US" dirty="0"/>
              <a:t>- It pushes teams toward better fixtures/factories and clean APIs for setup.</a:t>
            </a:r>
          </a:p>
          <a:p>
            <a:r>
              <a:rPr lang="en-US" dirty="0"/>
              <a:t>- It prevents scenarios from baking in assumptions that will change (UI flows, data models).</a:t>
            </a:r>
          </a:p>
          <a:p>
            <a:endParaRPr lang="en-US" dirty="0"/>
          </a:p>
          <a:p>
            <a:r>
              <a:rPr lang="en-US" dirty="0"/>
              <a:t>**How to minimize Given**</a:t>
            </a:r>
          </a:p>
          <a:p>
            <a:r>
              <a:rPr lang="en-US" dirty="0"/>
              <a:t>Teach three tactics:</a:t>
            </a:r>
          </a:p>
          <a:p>
            <a:r>
              <a:rPr lang="en-US" dirty="0"/>
              <a:t>1) Use domain-level setup statements (“a member exists”, “the account is locked”).  </a:t>
            </a:r>
          </a:p>
          <a:p>
            <a:r>
              <a:rPr lang="en-US" dirty="0"/>
              <a:t>2) Avoid repeating setup that belongs to background (use Background sparingly).  </a:t>
            </a:r>
          </a:p>
          <a:p>
            <a:r>
              <a:rPr lang="en-US" dirty="0"/>
              <a:t>3) Move deep setup into helper code or fixtures while keeping the scenario statement simple.</a:t>
            </a:r>
          </a:p>
          <a:p>
            <a:endParaRPr lang="en-US" dirty="0"/>
          </a:p>
          <a:p>
            <a:r>
              <a:rPr lang="en-US" dirty="0"/>
              <a:t>**Smell checks**</a:t>
            </a:r>
          </a:p>
          <a:p>
            <a:r>
              <a:rPr lang="en-US" dirty="0"/>
              <a:t>- If your Given section is longer than When + Then combined, you probably have too much setup.</a:t>
            </a:r>
          </a:p>
          <a:p>
            <a:r>
              <a:rPr lang="en-US" dirty="0"/>
              <a:t>- If Given contains navigation (“Given I am on the login page”), you may be writing UI scripts.</a:t>
            </a:r>
          </a:p>
          <a:p>
            <a:r>
              <a:rPr lang="en-US" dirty="0"/>
              <a:t>- If Given includes multiple unrelated entities, you might be testing multiple behaviors at once.</a:t>
            </a:r>
          </a:p>
          <a:p>
            <a:endParaRPr lang="en-US" dirty="0"/>
          </a:p>
          <a:p>
            <a:r>
              <a:rPr lang="en-US" dirty="0"/>
              <a:t>**Example rewrite**</a:t>
            </a:r>
          </a:p>
          <a:p>
            <a:r>
              <a:rPr lang="en-US" dirty="0"/>
              <a:t>Bad: “Given I open the browser, go to /login, type email, type password…”  </a:t>
            </a:r>
          </a:p>
          <a:p>
            <a:r>
              <a:rPr lang="en-US" dirty="0"/>
              <a:t>Better: “Given a member exists with email …”</a:t>
            </a:r>
          </a:p>
          <a:p>
            <a:endParaRPr lang="en-US" dirty="0"/>
          </a:p>
          <a:p>
            <a:r>
              <a:rPr lang="en-US" dirty="0"/>
              <a:t>**Bridge**</a:t>
            </a:r>
          </a:p>
          <a:p>
            <a:r>
              <a:rPr lang="en-US" dirty="0"/>
              <a:t>Once Given is clean, the next trap is scripting: writing “click-by-click”. The next slide teaches how to avoid UI scripts in Gherkin.</a:t>
            </a:r>
          </a:p>
        </p:txBody>
      </p:sp>
      <p:sp>
        <p:nvSpPr>
          <p:cNvPr id="4" name="Slide Number Placeholder 3"/>
          <p:cNvSpPr>
            <a:spLocks noGrp="1"/>
          </p:cNvSpPr>
          <p:nvPr>
            <p:ph type="sldNum" sz="quarter" idx="5"/>
          </p:nvPr>
        </p:nvSpPr>
        <p:spPr/>
        <p:txBody>
          <a:bodyPr/>
          <a:lstStyle/>
          <a:p>
            <a:fld id="{99153D06-F2F5-594F-8302-09F05D8AE5D3}" type="slidenum">
              <a:rPr lang="en-US" smtClean="0"/>
              <a:t>19</a:t>
            </a:fld>
            <a:endParaRPr lang="en-US"/>
          </a:p>
        </p:txBody>
      </p:sp>
    </p:spTree>
    <p:extLst>
      <p:ext uri="{BB962C8B-B14F-4D97-AF65-F5344CB8AC3E}">
        <p14:creationId xmlns:p14="http://schemas.microsoft.com/office/powerpoint/2010/main" val="2837604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Avoid UI scripts in Gherkin** is where many BDD efforts succeed or fail.</a:t>
            </a:r>
          </a:p>
          <a:p>
            <a:endParaRPr lang="en-US" dirty="0"/>
          </a:p>
          <a:p>
            <a:r>
              <a:rPr lang="en-US" dirty="0"/>
              <a:t>**Why UI scripting is harmful**</a:t>
            </a:r>
          </a:p>
          <a:p>
            <a:r>
              <a:rPr lang="en-US" dirty="0"/>
              <a:t>UI scripts couple scenarios to:</a:t>
            </a:r>
          </a:p>
          <a:p>
            <a:r>
              <a:rPr lang="en-US" dirty="0"/>
              <a:t>- layout changes,</a:t>
            </a:r>
          </a:p>
          <a:p>
            <a:r>
              <a:rPr lang="en-US" dirty="0"/>
              <a:t>- selector changes,</a:t>
            </a:r>
          </a:p>
          <a:p>
            <a:r>
              <a:rPr lang="en-US" dirty="0"/>
              <a:t>- timing issues (async rendering),</a:t>
            </a:r>
          </a:p>
          <a:p>
            <a:r>
              <a:rPr lang="en-US" dirty="0"/>
              <a:t>- minor copy changes,</a:t>
            </a:r>
          </a:p>
          <a:p>
            <a:r>
              <a:rPr lang="en-US" dirty="0"/>
              <a:t>making tests flaky and scenarios unreadable to non-</a:t>
            </a:r>
            <a:r>
              <a:rPr lang="en-US" dirty="0" err="1"/>
              <a:t>devs</a:t>
            </a:r>
            <a:r>
              <a:rPr lang="en-US" dirty="0"/>
              <a:t>.</a:t>
            </a:r>
          </a:p>
          <a:p>
            <a:endParaRPr lang="en-US" dirty="0"/>
          </a:p>
          <a:p>
            <a:r>
              <a:rPr lang="en-US" dirty="0"/>
              <a:t>Also, UI scripts rarely communicate *business intent*. A product person doesn’t care that you clicked button X; they care that “the member requests a reset” and “a reset email is sent (or not sent).”</a:t>
            </a:r>
          </a:p>
          <a:p>
            <a:endParaRPr lang="en-US" dirty="0"/>
          </a:p>
          <a:p>
            <a:r>
              <a:rPr lang="en-US" dirty="0"/>
              <a:t>**What to do instead**</a:t>
            </a:r>
          </a:p>
          <a:p>
            <a:r>
              <a:rPr lang="en-US" dirty="0"/>
              <a:t>Write steps in domain language that expresses user intent:</a:t>
            </a:r>
          </a:p>
          <a:p>
            <a:r>
              <a:rPr lang="en-US" dirty="0"/>
              <a:t>- “When the member signs in…”</a:t>
            </a:r>
          </a:p>
          <a:p>
            <a:r>
              <a:rPr lang="en-US" dirty="0"/>
              <a:t>- “When the visitor requests a password reset…”</a:t>
            </a:r>
          </a:p>
          <a:p>
            <a:r>
              <a:rPr lang="en-US" dirty="0"/>
              <a:t>- “When the member sets a new password…”</a:t>
            </a:r>
          </a:p>
          <a:p>
            <a:endParaRPr lang="en-US" dirty="0"/>
          </a:p>
          <a:p>
            <a:r>
              <a:rPr lang="en-US" dirty="0"/>
              <a:t>You can still implement those steps at the UI layer if needed, but keep the scenario describing *behavior*, not *mechanics*.</a:t>
            </a:r>
          </a:p>
          <a:p>
            <a:endParaRPr lang="en-US" dirty="0"/>
          </a:p>
          <a:p>
            <a:r>
              <a:rPr lang="en-US" dirty="0"/>
              <a:t>**When UI detail is acceptable**</a:t>
            </a:r>
          </a:p>
          <a:p>
            <a:r>
              <a:rPr lang="en-US" dirty="0"/>
              <a:t>Sometimes UI detail really *is* behavior:</a:t>
            </a:r>
          </a:p>
          <a:p>
            <a:r>
              <a:rPr lang="en-US" dirty="0"/>
              <a:t>- accessibility requirements (“focus moves to the error summary”),</a:t>
            </a:r>
          </a:p>
          <a:p>
            <a:r>
              <a:rPr lang="en-US" dirty="0"/>
              <a:t>- critical labels for compliance,</a:t>
            </a:r>
          </a:p>
          <a:p>
            <a:r>
              <a:rPr lang="en-US" dirty="0"/>
              <a:t>- highly visual interaction patterns.</a:t>
            </a:r>
          </a:p>
          <a:p>
            <a:r>
              <a:rPr lang="en-US" dirty="0"/>
              <a:t>In those cases, be explicit that you’re testing UI behavior and keep it in a small, intentional set of UI scenarios.</a:t>
            </a:r>
          </a:p>
          <a:p>
            <a:endParaRPr lang="en-US" dirty="0"/>
          </a:p>
          <a:p>
            <a:r>
              <a:rPr lang="en-US" dirty="0"/>
              <a:t>**Presenter tip**</a:t>
            </a:r>
          </a:p>
          <a:p>
            <a:r>
              <a:rPr lang="en-US" dirty="0"/>
              <a:t>Use a simple litmus test: “Could we run this scenario via an API and still have it make sense?” If yes, it’s not a UI script. If no, it may be UI-driven.</a:t>
            </a:r>
          </a:p>
          <a:p>
            <a:endParaRPr lang="en-US" dirty="0"/>
          </a:p>
          <a:p>
            <a:r>
              <a:rPr lang="en-US" dirty="0"/>
              <a:t>**Bridge**</a:t>
            </a:r>
          </a:p>
          <a:p>
            <a:r>
              <a:rPr lang="en-US" dirty="0"/>
              <a:t>After avoiding scripts, the next step is ensuring outcomes are observable and specific—so scenarios are testable and unambiguous.</a:t>
            </a:r>
          </a:p>
        </p:txBody>
      </p:sp>
      <p:sp>
        <p:nvSpPr>
          <p:cNvPr id="4" name="Slide Number Placeholder 3"/>
          <p:cNvSpPr>
            <a:spLocks noGrp="1"/>
          </p:cNvSpPr>
          <p:nvPr>
            <p:ph type="sldNum" sz="quarter" idx="5"/>
          </p:nvPr>
        </p:nvSpPr>
        <p:spPr/>
        <p:txBody>
          <a:bodyPr/>
          <a:lstStyle/>
          <a:p>
            <a:fld id="{99153D06-F2F5-594F-8302-09F05D8AE5D3}" type="slidenum">
              <a:rPr lang="en-US" smtClean="0"/>
              <a:t>20</a:t>
            </a:fld>
            <a:endParaRPr lang="en-US"/>
          </a:p>
        </p:txBody>
      </p:sp>
    </p:spTree>
    <p:extLst>
      <p:ext uri="{BB962C8B-B14F-4D97-AF65-F5344CB8AC3E}">
        <p14:creationId xmlns:p14="http://schemas.microsoft.com/office/powerpoint/2010/main" val="37708148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Make outcomes observable** turns scenarios from wishful statements into concrete acceptance criteria.</a:t>
            </a:r>
          </a:p>
          <a:p>
            <a:endParaRPr lang="en-US" dirty="0"/>
          </a:p>
          <a:p>
            <a:r>
              <a:rPr lang="en-US" dirty="0"/>
              <a:t>**Explain “observable”**</a:t>
            </a:r>
          </a:p>
          <a:p>
            <a:r>
              <a:rPr lang="en-US" dirty="0"/>
              <a:t>An observable outcome is something you can verify without reading source code:</a:t>
            </a:r>
          </a:p>
          <a:p>
            <a:r>
              <a:rPr lang="en-US" dirty="0"/>
              <a:t>- a message displayed,</a:t>
            </a:r>
          </a:p>
          <a:p>
            <a:r>
              <a:rPr lang="en-US" dirty="0"/>
              <a:t>- a response code and payload,</a:t>
            </a:r>
          </a:p>
          <a:p>
            <a:r>
              <a:rPr lang="en-US" dirty="0"/>
              <a:t>- an email sent or not sent,</a:t>
            </a:r>
          </a:p>
          <a:p>
            <a:r>
              <a:rPr lang="en-US" dirty="0"/>
              <a:t>- a state change in a record,</a:t>
            </a:r>
          </a:p>
          <a:p>
            <a:r>
              <a:rPr lang="en-US" dirty="0"/>
              <a:t>- an event published,</a:t>
            </a:r>
          </a:p>
          <a:p>
            <a:r>
              <a:rPr lang="en-US" dirty="0"/>
              <a:t>- an audit log entry.</a:t>
            </a:r>
          </a:p>
          <a:p>
            <a:endParaRPr lang="en-US" dirty="0"/>
          </a:p>
          <a:p>
            <a:r>
              <a:rPr lang="en-US" dirty="0"/>
              <a:t>**Why it matters**</a:t>
            </a:r>
          </a:p>
          <a:p>
            <a:r>
              <a:rPr lang="en-US" dirty="0"/>
              <a:t>- It eliminates vague “works correctly” statements.</a:t>
            </a:r>
          </a:p>
          <a:p>
            <a:r>
              <a:rPr lang="en-US" dirty="0"/>
              <a:t>- It makes automation straightforward (assertion targets are clear).</a:t>
            </a:r>
          </a:p>
          <a:p>
            <a:r>
              <a:rPr lang="en-US" dirty="0"/>
              <a:t>- It improves product clarity (e.g., exact user messaging).</a:t>
            </a:r>
          </a:p>
          <a:p>
            <a:endParaRPr lang="en-US" dirty="0"/>
          </a:p>
          <a:p>
            <a:r>
              <a:rPr lang="en-US" dirty="0"/>
              <a:t>**How to write better Then statements**</a:t>
            </a:r>
          </a:p>
          <a:p>
            <a:r>
              <a:rPr lang="en-US" dirty="0"/>
              <a:t>Teach patterns:</a:t>
            </a:r>
          </a:p>
          <a:p>
            <a:r>
              <a:rPr lang="en-US" dirty="0"/>
              <a:t>- “Then the sign-in is rejected with message ‘Invalid credentials’”</a:t>
            </a:r>
          </a:p>
          <a:p>
            <a:r>
              <a:rPr lang="en-US" dirty="0"/>
              <a:t>- “Then the system responds with a generic message”</a:t>
            </a:r>
          </a:p>
          <a:p>
            <a:r>
              <a:rPr lang="en-US" dirty="0"/>
              <a:t>- “Then no reset email is sent”</a:t>
            </a:r>
          </a:p>
          <a:p>
            <a:r>
              <a:rPr lang="en-US" dirty="0"/>
              <a:t>- “Then the account remains locked”</a:t>
            </a:r>
          </a:p>
          <a:p>
            <a:endParaRPr lang="en-US" dirty="0"/>
          </a:p>
          <a:p>
            <a:r>
              <a:rPr lang="en-US" dirty="0"/>
              <a:t>Encourage phrasing that describes *what*, not *how*.</a:t>
            </a:r>
          </a:p>
          <a:p>
            <a:endParaRPr lang="en-US" dirty="0"/>
          </a:p>
          <a:p>
            <a:r>
              <a:rPr lang="en-US" dirty="0"/>
              <a:t>**Common anti-patterns**</a:t>
            </a:r>
          </a:p>
          <a:p>
            <a:r>
              <a:rPr lang="en-US" dirty="0"/>
              <a:t>- “Then it is validated” (validate what, how, and what happens on failure?)</a:t>
            </a:r>
          </a:p>
          <a:p>
            <a:r>
              <a:rPr lang="en-US" dirty="0"/>
              <a:t>- “Then the user sees an error” (which error, where, and does it disclose info?)</a:t>
            </a:r>
          </a:p>
          <a:p>
            <a:r>
              <a:rPr lang="en-US" dirty="0"/>
              <a:t>- “Then data is saved” (which fields, under what conditions?)</a:t>
            </a:r>
          </a:p>
          <a:p>
            <a:endParaRPr lang="en-US" dirty="0"/>
          </a:p>
          <a:p>
            <a:r>
              <a:rPr lang="en-US" dirty="0"/>
              <a:t>**Pro move: outcomes at multiple layers**</a:t>
            </a:r>
          </a:p>
          <a:p>
            <a:r>
              <a:rPr lang="en-US" dirty="0"/>
              <a:t>Sometimes you want both:</a:t>
            </a:r>
          </a:p>
          <a:p>
            <a:r>
              <a:rPr lang="en-US" dirty="0"/>
              <a:t>- a user-visible outcome (message),</a:t>
            </a:r>
          </a:p>
          <a:p>
            <a:r>
              <a:rPr lang="en-US" dirty="0"/>
              <a:t>- and a system outcome (audit event).</a:t>
            </a:r>
          </a:p>
          <a:p>
            <a:r>
              <a:rPr lang="en-US" dirty="0"/>
              <a:t>If they’re essential to behavior, include them, but beware of mixing too many behaviors in one scenario.</a:t>
            </a:r>
          </a:p>
          <a:p>
            <a:endParaRPr lang="en-US" dirty="0"/>
          </a:p>
          <a:p>
            <a:r>
              <a:rPr lang="en-US" dirty="0"/>
              <a:t>**Bridge**</a:t>
            </a:r>
          </a:p>
          <a:p>
            <a:r>
              <a:rPr lang="en-US" dirty="0"/>
              <a:t>Now that outcomes are observable, we must keep each scenario focused—one main point—so failures are diagnostic and maintenance is cheap.</a:t>
            </a:r>
          </a:p>
        </p:txBody>
      </p:sp>
      <p:sp>
        <p:nvSpPr>
          <p:cNvPr id="4" name="Slide Number Placeholder 3"/>
          <p:cNvSpPr>
            <a:spLocks noGrp="1"/>
          </p:cNvSpPr>
          <p:nvPr>
            <p:ph type="sldNum" sz="quarter" idx="5"/>
          </p:nvPr>
        </p:nvSpPr>
        <p:spPr/>
        <p:txBody>
          <a:bodyPr/>
          <a:lstStyle/>
          <a:p>
            <a:fld id="{99153D06-F2F5-594F-8302-09F05D8AE5D3}" type="slidenum">
              <a:rPr lang="en-US" smtClean="0"/>
              <a:t>21</a:t>
            </a:fld>
            <a:endParaRPr lang="en-US"/>
          </a:p>
        </p:txBody>
      </p:sp>
    </p:spTree>
    <p:extLst>
      <p:ext uri="{BB962C8B-B14F-4D97-AF65-F5344CB8AC3E}">
        <p14:creationId xmlns:p14="http://schemas.microsoft.com/office/powerpoint/2010/main" val="2288771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One scenario = one main point** is about test design *and* communication clarity.</a:t>
            </a:r>
          </a:p>
          <a:p>
            <a:endParaRPr lang="en-US" dirty="0"/>
          </a:p>
          <a:p>
            <a:r>
              <a:rPr lang="en-US" dirty="0"/>
              <a:t>**Why single-point scenarios win**</a:t>
            </a:r>
          </a:p>
          <a:p>
            <a:r>
              <a:rPr lang="en-US" dirty="0"/>
              <a:t>- When a scenario fails, it should be obvious what rule broke.</a:t>
            </a:r>
          </a:p>
          <a:p>
            <a:r>
              <a:rPr lang="en-US" dirty="0"/>
              <a:t>- Reviewers should be able to say “yes/no” quickly.</a:t>
            </a:r>
          </a:p>
          <a:p>
            <a:r>
              <a:rPr lang="en-US" dirty="0"/>
              <a:t>- Automation becomes more stable because setup and assertions are narrower.</a:t>
            </a:r>
          </a:p>
          <a:p>
            <a:endParaRPr lang="en-US" dirty="0"/>
          </a:p>
          <a:p>
            <a:r>
              <a:rPr lang="en-US" dirty="0"/>
              <a:t>**Explain the slide’s warning**</a:t>
            </a:r>
          </a:p>
          <a:p>
            <a:r>
              <a:rPr lang="en-US" dirty="0"/>
              <a:t>If a scenario tests five unrelated rules, you’ll get:</a:t>
            </a:r>
          </a:p>
          <a:p>
            <a:r>
              <a:rPr lang="en-US" dirty="0"/>
              <a:t>- long Given blocks,</a:t>
            </a:r>
          </a:p>
          <a:p>
            <a:r>
              <a:rPr lang="en-US" dirty="0"/>
              <a:t>- many Then assertions,</a:t>
            </a:r>
          </a:p>
          <a:p>
            <a:r>
              <a:rPr lang="en-US" dirty="0"/>
              <a:t>- unclear failure diagnostics (“something in the middle broke”),</a:t>
            </a:r>
          </a:p>
          <a:p>
            <a:r>
              <a:rPr lang="en-US" dirty="0"/>
              <a:t>- reluctance to update scenarios when behavior changes.</a:t>
            </a:r>
          </a:p>
          <a:p>
            <a:endParaRPr lang="en-US" dirty="0"/>
          </a:p>
          <a:p>
            <a:r>
              <a:rPr lang="en-US" dirty="0"/>
              <a:t>**How to split**</a:t>
            </a:r>
          </a:p>
          <a:p>
            <a:r>
              <a:rPr lang="en-US" dirty="0"/>
              <a:t>Teach a simple splitting method:</a:t>
            </a:r>
          </a:p>
          <a:p>
            <a:r>
              <a:rPr lang="en-US" dirty="0"/>
              <a:t>- Identify each rule/invariant or decision.  </a:t>
            </a:r>
          </a:p>
          <a:p>
            <a:r>
              <a:rPr lang="en-US" dirty="0"/>
              <a:t>- Make each decision the title of its own scenario.  </a:t>
            </a:r>
          </a:p>
          <a:p>
            <a:r>
              <a:rPr lang="en-US" dirty="0"/>
              <a:t>Example in login:</a:t>
            </a:r>
          </a:p>
          <a:p>
            <a:r>
              <a:rPr lang="en-US" dirty="0"/>
              <a:t>1) Wrong password is rejected.  </a:t>
            </a:r>
          </a:p>
          <a:p>
            <a:r>
              <a:rPr lang="en-US" dirty="0"/>
              <a:t>2) Locked account is denied.  </a:t>
            </a:r>
          </a:p>
          <a:p>
            <a:r>
              <a:rPr lang="en-US" dirty="0"/>
              <a:t>3) After N failures, account locks.  </a:t>
            </a:r>
          </a:p>
          <a:p>
            <a:r>
              <a:rPr lang="en-US" dirty="0"/>
              <a:t>4) Error message does not reveal whether email exists.</a:t>
            </a:r>
          </a:p>
          <a:p>
            <a:endParaRPr lang="en-US" dirty="0"/>
          </a:p>
          <a:p>
            <a:r>
              <a:rPr lang="en-US" dirty="0"/>
              <a:t>**Smell tests**</a:t>
            </a:r>
          </a:p>
          <a:p>
            <a:r>
              <a:rPr lang="en-US" dirty="0"/>
              <a:t>- Multiple When lines (often means multiple behaviors).</a:t>
            </a:r>
          </a:p>
          <a:p>
            <a:r>
              <a:rPr lang="en-US" dirty="0"/>
              <a:t>- Many Ands/But in Given and Then (often means too broad).</a:t>
            </a:r>
          </a:p>
          <a:p>
            <a:r>
              <a:rPr lang="en-US" dirty="0"/>
              <a:t>- Scenario titles with “and” (“does X and Y and Z”)—split it.</a:t>
            </a:r>
          </a:p>
          <a:p>
            <a:endParaRPr lang="en-US" dirty="0"/>
          </a:p>
          <a:p>
            <a:r>
              <a:rPr lang="en-US" dirty="0"/>
              <a:t>**Bridge**</a:t>
            </a:r>
          </a:p>
          <a:p>
            <a:r>
              <a:rPr lang="en-US" dirty="0"/>
              <a:t>Now apply these principles to a concrete story: password reset. This will show how happy paths and security rules become scenarios.</a:t>
            </a:r>
          </a:p>
        </p:txBody>
      </p:sp>
      <p:sp>
        <p:nvSpPr>
          <p:cNvPr id="4" name="Slide Number Placeholder 3"/>
          <p:cNvSpPr>
            <a:spLocks noGrp="1"/>
          </p:cNvSpPr>
          <p:nvPr>
            <p:ph type="sldNum" sz="quarter" idx="5"/>
          </p:nvPr>
        </p:nvSpPr>
        <p:spPr/>
        <p:txBody>
          <a:bodyPr/>
          <a:lstStyle/>
          <a:p>
            <a:fld id="{99153D06-F2F5-594F-8302-09F05D8AE5D3}" type="slidenum">
              <a:rPr lang="en-US" smtClean="0"/>
              <a:t>22</a:t>
            </a:fld>
            <a:endParaRPr lang="en-US"/>
          </a:p>
        </p:txBody>
      </p:sp>
    </p:spTree>
    <p:extLst>
      <p:ext uri="{BB962C8B-B14F-4D97-AF65-F5344CB8AC3E}">
        <p14:creationId xmlns:p14="http://schemas.microsoft.com/office/powerpoint/2010/main" val="13674251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a mini case study: password reset. Use it to show that BDD is especially valuable for features with security and edge-case risk.</a:t>
            </a:r>
          </a:p>
          <a:p>
            <a:endParaRPr lang="en-US" dirty="0"/>
          </a:p>
          <a:p>
            <a:r>
              <a:rPr lang="en-US" dirty="0"/>
              <a:t>**Why password reset is a great example**</a:t>
            </a:r>
          </a:p>
          <a:p>
            <a:r>
              <a:rPr lang="en-US" dirty="0"/>
              <a:t>- Common user goal (high business impact).</a:t>
            </a:r>
          </a:p>
          <a:p>
            <a:r>
              <a:rPr lang="en-US" dirty="0"/>
              <a:t>- Multiple states (unknown email, locked account, expired links).</a:t>
            </a:r>
          </a:p>
          <a:p>
            <a:r>
              <a:rPr lang="en-US" dirty="0"/>
              <a:t>- Strong security requirements (avoid account enumeration).</a:t>
            </a:r>
          </a:p>
          <a:p>
            <a:r>
              <a:rPr lang="en-US" dirty="0"/>
              <a:t>- Multiple channels (email delivery, token links, rate limits).</a:t>
            </a:r>
          </a:p>
          <a:p>
            <a:endParaRPr lang="en-US" dirty="0"/>
          </a:p>
          <a:p>
            <a:r>
              <a:rPr lang="en-US" dirty="0"/>
              <a:t>**How to frame the story**</a:t>
            </a:r>
          </a:p>
          <a:p>
            <a:r>
              <a:rPr lang="en-US" dirty="0"/>
              <a:t>Start with the user journey:</a:t>
            </a:r>
          </a:p>
          <a:p>
            <a:r>
              <a:rPr lang="en-US" dirty="0"/>
              <a:t>1) Visitor requests a reset (enters email).</a:t>
            </a:r>
          </a:p>
          <a:p>
            <a:r>
              <a:rPr lang="en-US" dirty="0"/>
              <a:t>2) System responds immediately (generic or specific).</a:t>
            </a:r>
          </a:p>
          <a:p>
            <a:r>
              <a:rPr lang="en-US" dirty="0"/>
              <a:t>3) System sends email (or doesn’t) based on rules.</a:t>
            </a:r>
          </a:p>
          <a:p>
            <a:r>
              <a:rPr lang="en-US" dirty="0"/>
              <a:t>4) Visitor clicks link → becomes a member resetting password.</a:t>
            </a:r>
          </a:p>
          <a:p>
            <a:r>
              <a:rPr lang="en-US" dirty="0"/>
              <a:t>5) System validates token, password, and updates credentials.</a:t>
            </a:r>
          </a:p>
          <a:p>
            <a:endParaRPr lang="en-US" dirty="0"/>
          </a:p>
          <a:p>
            <a:r>
              <a:rPr lang="en-US" dirty="0"/>
              <a:t>Then ask: “Where can this go wrong?” Let the room name issues: expired token, reused token, brute force, email enumeration, throttling, weak passwords.</a:t>
            </a:r>
          </a:p>
          <a:p>
            <a:endParaRPr lang="en-US" dirty="0"/>
          </a:p>
          <a:p>
            <a:r>
              <a:rPr lang="en-US" dirty="0"/>
              <a:t>**BDD move**</a:t>
            </a:r>
          </a:p>
          <a:p>
            <a:r>
              <a:rPr lang="en-US" dirty="0"/>
              <a:t>Turn each risk into an example. The point is not to document everything; it’s to capture the most consequential decisions as scenarios.</a:t>
            </a:r>
          </a:p>
          <a:p>
            <a:endParaRPr lang="en-US" dirty="0"/>
          </a:p>
          <a:p>
            <a:r>
              <a:rPr lang="en-US" dirty="0"/>
              <a:t>**Bridge**</a:t>
            </a:r>
          </a:p>
          <a:p>
            <a:r>
              <a:rPr lang="en-US" dirty="0"/>
              <a:t>Next slides show two key scenarios: a successful reset, and an unknown-email request that must be handled securely.</a:t>
            </a:r>
          </a:p>
        </p:txBody>
      </p:sp>
      <p:sp>
        <p:nvSpPr>
          <p:cNvPr id="4" name="Slide Number Placeholder 3"/>
          <p:cNvSpPr>
            <a:spLocks noGrp="1"/>
          </p:cNvSpPr>
          <p:nvPr>
            <p:ph type="sldNum" sz="quarter" idx="5"/>
          </p:nvPr>
        </p:nvSpPr>
        <p:spPr/>
        <p:txBody>
          <a:bodyPr/>
          <a:lstStyle/>
          <a:p>
            <a:fld id="{99153D06-F2F5-594F-8302-09F05D8AE5D3}" type="slidenum">
              <a:rPr lang="en-US" smtClean="0"/>
              <a:t>23</a:t>
            </a:fld>
            <a:endParaRPr lang="en-US"/>
          </a:p>
        </p:txBody>
      </p:sp>
    </p:spTree>
    <p:extLst>
      <p:ext uri="{BB962C8B-B14F-4D97-AF65-F5344CB8AC3E}">
        <p14:creationId xmlns:p14="http://schemas.microsoft.com/office/powerpoint/2010/main" val="33221763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**happy path** scenario for password reset. Your job is to show how even the happy path clarifies important details.</a:t>
            </a:r>
          </a:p>
          <a:p>
            <a:endParaRPr lang="en-US" dirty="0"/>
          </a:p>
          <a:p>
            <a:r>
              <a:rPr lang="en-US" dirty="0"/>
              <a:t>**Walk through the scenario**</a:t>
            </a:r>
          </a:p>
          <a:p>
            <a:r>
              <a:rPr lang="en-US" dirty="0"/>
              <a:t>Given a member exists  </a:t>
            </a:r>
          </a:p>
          <a:p>
            <a:r>
              <a:rPr lang="en-US" dirty="0"/>
              <a:t>And the member requested a reset  </a:t>
            </a:r>
          </a:p>
          <a:p>
            <a:r>
              <a:rPr lang="en-US" dirty="0"/>
              <a:t>When they set a new password using a valid link  </a:t>
            </a:r>
          </a:p>
          <a:p>
            <a:r>
              <a:rPr lang="en-US" dirty="0"/>
              <a:t>Then they can sign in with the new password</a:t>
            </a:r>
          </a:p>
          <a:p>
            <a:endParaRPr lang="en-US" dirty="0"/>
          </a:p>
          <a:p>
            <a:r>
              <a:rPr lang="en-US" dirty="0"/>
              <a:t>**Unpack decisions hidden in “valid link”**</a:t>
            </a:r>
          </a:p>
          <a:p>
            <a:r>
              <a:rPr lang="en-US" dirty="0"/>
              <a:t>- What is the token lifetime (minutes/hours/days)?</a:t>
            </a:r>
          </a:p>
          <a:p>
            <a:r>
              <a:rPr lang="en-US" dirty="0"/>
              <a:t>- Is it single-use?</a:t>
            </a:r>
          </a:p>
          <a:p>
            <a:r>
              <a:rPr lang="en-US" dirty="0"/>
              <a:t>- Does it bind to an email address and/or device?</a:t>
            </a:r>
          </a:p>
          <a:p>
            <a:r>
              <a:rPr lang="en-US" dirty="0"/>
              <a:t>- What happens if the user requests multiple resets—are old links invalidated?</a:t>
            </a:r>
          </a:p>
          <a:p>
            <a:r>
              <a:rPr lang="en-US" dirty="0"/>
              <a:t>- Is the token stored hashed? (implementation detail, but impacts security posture)</a:t>
            </a:r>
          </a:p>
          <a:p>
            <a:endParaRPr lang="en-US" dirty="0"/>
          </a:p>
          <a:p>
            <a:r>
              <a:rPr lang="en-US" dirty="0"/>
              <a:t>**Unpack “sets a new password”**</a:t>
            </a:r>
          </a:p>
          <a:p>
            <a:r>
              <a:rPr lang="en-US" dirty="0"/>
              <a:t>- Complexity rules apply.</a:t>
            </a:r>
          </a:p>
          <a:p>
            <a:r>
              <a:rPr lang="en-US" dirty="0"/>
              <a:t>- Is it allowed to reuse the old password?</a:t>
            </a:r>
          </a:p>
          <a:p>
            <a:r>
              <a:rPr lang="en-US" dirty="0"/>
              <a:t>- Are there checks against breached-password lists?</a:t>
            </a:r>
          </a:p>
          <a:p>
            <a:r>
              <a:rPr lang="en-US" dirty="0"/>
              <a:t>- Is there confirmation entry and what happens on mismatch?</a:t>
            </a:r>
          </a:p>
          <a:p>
            <a:endParaRPr lang="en-US" dirty="0"/>
          </a:p>
          <a:p>
            <a:r>
              <a:rPr lang="en-US" dirty="0"/>
              <a:t>**Make the outcome observable**</a:t>
            </a:r>
          </a:p>
          <a:p>
            <a:r>
              <a:rPr lang="en-US" dirty="0"/>
              <a:t>Explain what “can sign in” might mean in tests:</a:t>
            </a:r>
          </a:p>
          <a:p>
            <a:r>
              <a:rPr lang="en-US" dirty="0"/>
              <a:t>- Attempt sign-in via service/API and expect success.</a:t>
            </a:r>
          </a:p>
          <a:p>
            <a:r>
              <a:rPr lang="en-US" dirty="0"/>
              <a:t>- Verify old password fails, new password succeeds.</a:t>
            </a:r>
          </a:p>
          <a:p>
            <a:r>
              <a:rPr lang="en-US" dirty="0"/>
              <a:t>- Verify sign-in creates a session and returns expected status.</a:t>
            </a:r>
          </a:p>
          <a:p>
            <a:endParaRPr lang="en-US" dirty="0"/>
          </a:p>
          <a:p>
            <a:r>
              <a:rPr lang="en-US" dirty="0"/>
              <a:t>**Add optional but important side effects**</a:t>
            </a:r>
          </a:p>
          <a:p>
            <a:r>
              <a:rPr lang="en-US" dirty="0"/>
              <a:t>If relevant, discuss audit/security signals:</a:t>
            </a:r>
          </a:p>
          <a:p>
            <a:r>
              <a:rPr lang="en-US" dirty="0"/>
              <a:t>- “</a:t>
            </a:r>
            <a:r>
              <a:rPr lang="en-US" dirty="0" err="1"/>
              <a:t>password_changed</a:t>
            </a:r>
            <a:r>
              <a:rPr lang="en-US" dirty="0"/>
              <a:t>” event or audit log entry.</a:t>
            </a:r>
          </a:p>
          <a:p>
            <a:r>
              <a:rPr lang="en-US" dirty="0"/>
              <a:t>- Invalidate existing sessions after reset.</a:t>
            </a:r>
          </a:p>
          <a:p>
            <a:r>
              <a:rPr lang="en-US" dirty="0"/>
              <a:t>These can be separate scenarios if they’re major behavior decisions.</a:t>
            </a:r>
          </a:p>
          <a:p>
            <a:endParaRPr lang="en-US" dirty="0"/>
          </a:p>
          <a:p>
            <a:r>
              <a:rPr lang="en-US" dirty="0"/>
              <a:t>**Bridge**</a:t>
            </a:r>
          </a:p>
          <a:p>
            <a:r>
              <a:rPr lang="en-US" dirty="0"/>
              <a:t>Now contrast with the security scenario: unknown email. This is where the most subtle bugs happen and where BDD examples are especially valuable.</a:t>
            </a:r>
          </a:p>
        </p:txBody>
      </p:sp>
      <p:sp>
        <p:nvSpPr>
          <p:cNvPr id="4" name="Slide Number Placeholder 3"/>
          <p:cNvSpPr>
            <a:spLocks noGrp="1"/>
          </p:cNvSpPr>
          <p:nvPr>
            <p:ph type="sldNum" sz="quarter" idx="5"/>
          </p:nvPr>
        </p:nvSpPr>
        <p:spPr/>
        <p:txBody>
          <a:bodyPr/>
          <a:lstStyle/>
          <a:p>
            <a:fld id="{99153D06-F2F5-594F-8302-09F05D8AE5D3}" type="slidenum">
              <a:rPr lang="en-US" smtClean="0"/>
              <a:t>24</a:t>
            </a:fld>
            <a:endParaRPr lang="en-US"/>
          </a:p>
        </p:txBody>
      </p:sp>
    </p:spTree>
    <p:extLst>
      <p:ext uri="{BB962C8B-B14F-4D97-AF65-F5344CB8AC3E}">
        <p14:creationId xmlns:p14="http://schemas.microsoft.com/office/powerpoint/2010/main" val="11480649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a classic security requirement: avoiding **account enumeration** during password reset.</a:t>
            </a:r>
          </a:p>
          <a:p>
            <a:endParaRPr lang="en-US" dirty="0"/>
          </a:p>
          <a:p>
            <a:r>
              <a:rPr lang="en-US" dirty="0"/>
              <a:t>**Scenario summary**</a:t>
            </a:r>
          </a:p>
          <a:p>
            <a:r>
              <a:rPr lang="en-US" dirty="0"/>
              <a:t>When a visitor requests reset for </a:t>
            </a:r>
            <a:r>
              <a:rPr lang="en-US" dirty="0" err="1"/>
              <a:t>unknown@example.com</a:t>
            </a:r>
            <a:r>
              <a:rPr lang="en-US" dirty="0"/>
              <a:t>  </a:t>
            </a:r>
          </a:p>
          <a:p>
            <a:r>
              <a:rPr lang="en-US" dirty="0"/>
              <a:t>Then respond with a generic message  </a:t>
            </a:r>
          </a:p>
          <a:p>
            <a:r>
              <a:rPr lang="en-US" dirty="0"/>
              <a:t>And no reset email is sent</a:t>
            </a:r>
          </a:p>
          <a:p>
            <a:endParaRPr lang="en-US" dirty="0"/>
          </a:p>
          <a:p>
            <a:r>
              <a:rPr lang="en-US" dirty="0"/>
              <a:t>**Explain why this matters**</a:t>
            </a:r>
          </a:p>
          <a:p>
            <a:r>
              <a:rPr lang="en-US" dirty="0"/>
              <a:t>If the system responds differently for known vs unknown emails, attackers can enumerate valid accounts by probing:</a:t>
            </a:r>
          </a:p>
          <a:p>
            <a:r>
              <a:rPr lang="en-US" dirty="0"/>
              <a:t>- response messages (“email not found”),</a:t>
            </a:r>
          </a:p>
          <a:p>
            <a:r>
              <a:rPr lang="en-US" dirty="0"/>
              <a:t>- response timing differences,</a:t>
            </a:r>
          </a:p>
          <a:p>
            <a:r>
              <a:rPr lang="en-US" dirty="0"/>
              <a:t>- email delivery side effects.</a:t>
            </a:r>
          </a:p>
          <a:p>
            <a:endParaRPr lang="en-US" dirty="0"/>
          </a:p>
          <a:p>
            <a:r>
              <a:rPr lang="en-US" dirty="0"/>
              <a:t>BDD is great here because it turns a subtle security constraint into an explicit example the team cannot “accidentally” violate.</a:t>
            </a:r>
          </a:p>
          <a:p>
            <a:endParaRPr lang="en-US" dirty="0"/>
          </a:p>
          <a:p>
            <a:r>
              <a:rPr lang="en-US" dirty="0"/>
              <a:t>**Discuss “generic message” carefully**</a:t>
            </a:r>
          </a:p>
          <a:p>
            <a:r>
              <a:rPr lang="en-US" dirty="0"/>
              <a:t>The message should not reveal existence. Examples:</a:t>
            </a:r>
          </a:p>
          <a:p>
            <a:r>
              <a:rPr lang="en-US" dirty="0"/>
              <a:t>- “If an account exists, you’ll receive an email shortly.”</a:t>
            </a:r>
          </a:p>
          <a:p>
            <a:r>
              <a:rPr lang="en-US" dirty="0"/>
              <a:t>Also consider localization and tone: user-friendly but neutral.</a:t>
            </a:r>
          </a:p>
          <a:p>
            <a:endParaRPr lang="en-US" dirty="0"/>
          </a:p>
          <a:p>
            <a:r>
              <a:rPr lang="en-US" dirty="0"/>
              <a:t>**Make “no reset email is sent” testable**</a:t>
            </a:r>
          </a:p>
          <a:p>
            <a:r>
              <a:rPr lang="en-US" dirty="0"/>
              <a:t>Automation strategies:</a:t>
            </a:r>
          </a:p>
          <a:p>
            <a:r>
              <a:rPr lang="en-US" dirty="0"/>
              <a:t>- At service-level: check that email sending service was not called.</a:t>
            </a:r>
          </a:p>
          <a:p>
            <a:r>
              <a:rPr lang="en-US" dirty="0"/>
              <a:t>- At domain level: check that no reset token was created.</a:t>
            </a:r>
          </a:p>
          <a:p>
            <a:r>
              <a:rPr lang="en-US" dirty="0"/>
              <a:t>- At integration level: verify no email record exists in a test outbox.</a:t>
            </a:r>
          </a:p>
          <a:p>
            <a:endParaRPr lang="en-US" dirty="0"/>
          </a:p>
          <a:p>
            <a:r>
              <a:rPr lang="en-US" dirty="0"/>
              <a:t>**Address timing considerations**</a:t>
            </a:r>
          </a:p>
          <a:p>
            <a:r>
              <a:rPr lang="en-US" dirty="0"/>
              <a:t>Even if you always show a generic message, you can leak info via timing. Mention mitigations:</a:t>
            </a:r>
          </a:p>
          <a:p>
            <a:r>
              <a:rPr lang="en-US" dirty="0"/>
              <a:t>- constant-time checks (where feasible),</a:t>
            </a:r>
          </a:p>
          <a:p>
            <a:r>
              <a:rPr lang="en-US" dirty="0"/>
              <a:t>- queued email sending,</a:t>
            </a:r>
          </a:p>
          <a:p>
            <a:r>
              <a:rPr lang="en-US" dirty="0"/>
              <a:t>- rate limits and per-IP throttling.</a:t>
            </a:r>
          </a:p>
          <a:p>
            <a:endParaRPr lang="en-US" dirty="0"/>
          </a:p>
          <a:p>
            <a:r>
              <a:rPr lang="en-US" dirty="0"/>
              <a:t>**Bridge**</a:t>
            </a:r>
          </a:p>
          <a:p>
            <a:r>
              <a:rPr lang="en-US" dirty="0"/>
              <a:t>Next slide explains why these scenarios work well—highlighting the qualities you want in every scenario.</a:t>
            </a:r>
          </a:p>
        </p:txBody>
      </p:sp>
      <p:sp>
        <p:nvSpPr>
          <p:cNvPr id="4" name="Slide Number Placeholder 3"/>
          <p:cNvSpPr>
            <a:spLocks noGrp="1"/>
          </p:cNvSpPr>
          <p:nvPr>
            <p:ph type="sldNum" sz="quarter" idx="5"/>
          </p:nvPr>
        </p:nvSpPr>
        <p:spPr/>
        <p:txBody>
          <a:bodyPr/>
          <a:lstStyle/>
          <a:p>
            <a:fld id="{99153D06-F2F5-594F-8302-09F05D8AE5D3}" type="slidenum">
              <a:rPr lang="en-US" smtClean="0"/>
              <a:t>25</a:t>
            </a:fld>
            <a:endParaRPr lang="en-US"/>
          </a:p>
        </p:txBody>
      </p:sp>
    </p:spTree>
    <p:extLst>
      <p:ext uri="{BB962C8B-B14F-4D97-AF65-F5344CB8AC3E}">
        <p14:creationId xmlns:p14="http://schemas.microsoft.com/office/powerpoint/2010/main" val="2163109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reinforce the scenario-writing principles by pointing to what the password reset examples did right.</a:t>
            </a:r>
          </a:p>
          <a:p>
            <a:endParaRPr lang="en-US" dirty="0"/>
          </a:p>
          <a:p>
            <a:r>
              <a:rPr lang="en-US" dirty="0"/>
              <a:t>**Concrete + checkable outcomes**</a:t>
            </a:r>
          </a:p>
          <a:p>
            <a:r>
              <a:rPr lang="en-US" dirty="0"/>
              <a:t>Explain that outcomes are specific:</a:t>
            </a:r>
          </a:p>
          <a:p>
            <a:r>
              <a:rPr lang="en-US" dirty="0"/>
              <a:t>- “generic message” (which message, not “error”)</a:t>
            </a:r>
          </a:p>
          <a:p>
            <a:r>
              <a:rPr lang="en-US" dirty="0"/>
              <a:t>- “no reset email is sent” (observable side effect)</a:t>
            </a:r>
          </a:p>
          <a:p>
            <a:r>
              <a:rPr lang="en-US" dirty="0"/>
              <a:t>- “member can sign in” (observable success)</a:t>
            </a:r>
          </a:p>
          <a:p>
            <a:endParaRPr lang="en-US" dirty="0"/>
          </a:p>
          <a:p>
            <a:r>
              <a:rPr lang="en-US" dirty="0"/>
              <a:t>Concrete outcomes reduce debate and enable automation.</a:t>
            </a:r>
          </a:p>
          <a:p>
            <a:endParaRPr lang="en-US" dirty="0"/>
          </a:p>
          <a:p>
            <a:r>
              <a:rPr lang="en-US" dirty="0"/>
              <a:t>**Captures an important security rule**</a:t>
            </a:r>
          </a:p>
          <a:p>
            <a:r>
              <a:rPr lang="en-US" dirty="0"/>
              <a:t>Call out that BDD isn’t only about happy paths; it’s a mechanism to encode critical *negative* behavior (“what must never happen”). That’s where regressions hurt most.</a:t>
            </a:r>
          </a:p>
          <a:p>
            <a:endParaRPr lang="en-US" dirty="0"/>
          </a:p>
          <a:p>
            <a:r>
              <a:rPr lang="en-US" dirty="0"/>
              <a:t>**Avoids UI detail**</a:t>
            </a:r>
          </a:p>
          <a:p>
            <a:r>
              <a:rPr lang="en-US" dirty="0"/>
              <a:t>The scenario does not mention clicking links, opening inboxes, or browser steps. This keeps it stable while preserving intent. Implementation can test at API/service level, with minimal UI smoke checks.</a:t>
            </a:r>
          </a:p>
          <a:p>
            <a:endParaRPr lang="en-US" dirty="0"/>
          </a:p>
          <a:p>
            <a:r>
              <a:rPr lang="en-US" dirty="0"/>
              <a:t>**Readable outside the dev team**</a:t>
            </a:r>
          </a:p>
          <a:p>
            <a:r>
              <a:rPr lang="en-US" dirty="0"/>
              <a:t>A business stakeholder can read and say “yes, that’s what we want.” This supports review and shared ownership.</a:t>
            </a:r>
          </a:p>
          <a:p>
            <a:endParaRPr lang="en-US" dirty="0"/>
          </a:p>
          <a:p>
            <a:r>
              <a:rPr lang="en-US" dirty="0"/>
              <a:t>**Teaching moment: balance of detail**</a:t>
            </a:r>
          </a:p>
          <a:p>
            <a:r>
              <a:rPr lang="en-US" dirty="0"/>
              <a:t>These scenarios include enough detail to be unambiguous, but not so much that they constrain implementation. That balance is the art of BDD.</a:t>
            </a:r>
          </a:p>
          <a:p>
            <a:endParaRPr lang="en-US" dirty="0"/>
          </a:p>
          <a:p>
            <a:r>
              <a:rPr lang="en-US" dirty="0"/>
              <a:t>**Bridge**</a:t>
            </a:r>
          </a:p>
          <a:p>
            <a:r>
              <a:rPr lang="en-US" dirty="0"/>
              <a:t>Now transition to automation: “Once we have good scenarios, the next question is: which of them should we automate, and at what level?”</a:t>
            </a:r>
          </a:p>
        </p:txBody>
      </p:sp>
      <p:sp>
        <p:nvSpPr>
          <p:cNvPr id="4" name="Slide Number Placeholder 3"/>
          <p:cNvSpPr>
            <a:spLocks noGrp="1"/>
          </p:cNvSpPr>
          <p:nvPr>
            <p:ph type="sldNum" sz="quarter" idx="5"/>
          </p:nvPr>
        </p:nvSpPr>
        <p:spPr/>
        <p:txBody>
          <a:bodyPr/>
          <a:lstStyle/>
          <a:p>
            <a:fld id="{99153D06-F2F5-594F-8302-09F05D8AE5D3}" type="slidenum">
              <a:rPr lang="en-US" smtClean="0"/>
              <a:t>26</a:t>
            </a:fld>
            <a:endParaRPr lang="en-US"/>
          </a:p>
        </p:txBody>
      </p:sp>
    </p:spTree>
    <p:extLst>
      <p:ext uri="{BB962C8B-B14F-4D97-AF65-F5344CB8AC3E}">
        <p14:creationId xmlns:p14="http://schemas.microsoft.com/office/powerpoint/2010/main" val="6996270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chapter heading: BDD and automation. Use it to reset expectations and address anxiety.</a:t>
            </a:r>
          </a:p>
          <a:p>
            <a:endParaRPr lang="en-US" dirty="0"/>
          </a:p>
          <a:p>
            <a:r>
              <a:rPr lang="en-US" dirty="0"/>
              <a:t>**Main message**</a:t>
            </a:r>
          </a:p>
          <a:p>
            <a:r>
              <a:rPr lang="en-US" dirty="0"/>
              <a:t>Automation is a tool to protect behavior from regression. But automation done at the wrong level or with the wrong design can destroy trust.</a:t>
            </a:r>
          </a:p>
          <a:p>
            <a:endParaRPr lang="en-US" dirty="0"/>
          </a:p>
          <a:p>
            <a:r>
              <a:rPr lang="en-US" dirty="0"/>
              <a:t>**Three points to emphasize**</a:t>
            </a:r>
          </a:p>
          <a:p>
            <a:r>
              <a:rPr lang="en-US" dirty="0"/>
              <a:t>1) BDD scenarios can be automated, but they don’t have to be.  </a:t>
            </a:r>
          </a:p>
          <a:p>
            <a:r>
              <a:rPr lang="en-US" dirty="0"/>
              <a:t>2) If automated, choose the execution level strategically (unit/service/UI).  </a:t>
            </a:r>
          </a:p>
          <a:p>
            <a:r>
              <a:rPr lang="en-US" dirty="0"/>
              <a:t>3) Keep scenarios as communication artifacts; do not contort them to satisfy automation convenience.</a:t>
            </a:r>
          </a:p>
          <a:p>
            <a:endParaRPr lang="en-US" dirty="0"/>
          </a:p>
          <a:p>
            <a:r>
              <a:rPr lang="en-US" dirty="0"/>
              <a:t>**Common fear to defuse**</a:t>
            </a:r>
          </a:p>
          <a:p>
            <a:r>
              <a:rPr lang="en-US" dirty="0"/>
              <a:t>Teams worry BDD means “write tons of end-to-end tests.” Explain that mature BDD usually shifts checks down the stack and keeps UI smoke tests small, precisely to avoid flakiness.</a:t>
            </a:r>
          </a:p>
          <a:p>
            <a:endParaRPr lang="en-US" dirty="0"/>
          </a:p>
          <a:p>
            <a:r>
              <a:rPr lang="en-US" dirty="0"/>
              <a:t>**Introduce the idea of “automation ROI”**</a:t>
            </a:r>
          </a:p>
          <a:p>
            <a:r>
              <a:rPr lang="en-US" dirty="0"/>
              <a:t>Encourage a cost/benefit lens:</a:t>
            </a:r>
          </a:p>
          <a:p>
            <a:r>
              <a:rPr lang="en-US" dirty="0"/>
              <a:t>- How likely is this behavior to regress?</a:t>
            </a:r>
          </a:p>
          <a:p>
            <a:r>
              <a:rPr lang="en-US" dirty="0"/>
              <a:t>- How expensive is the failure?</a:t>
            </a:r>
          </a:p>
          <a:p>
            <a:r>
              <a:rPr lang="en-US" dirty="0"/>
              <a:t>- How stable is the surface we’re automating against?</a:t>
            </a:r>
          </a:p>
          <a:p>
            <a:r>
              <a:rPr lang="en-US" dirty="0"/>
              <a:t>- How often will the feature change?</a:t>
            </a:r>
          </a:p>
          <a:p>
            <a:endParaRPr lang="en-US" dirty="0"/>
          </a:p>
          <a:p>
            <a:r>
              <a:rPr lang="en-US" dirty="0"/>
              <a:t>**Bridge**</a:t>
            </a:r>
          </a:p>
          <a:p>
            <a:r>
              <a:rPr lang="en-US" dirty="0"/>
              <a:t>Next slide: when not to automate—because saying “no” is part of good strategy.</a:t>
            </a:r>
          </a:p>
        </p:txBody>
      </p:sp>
      <p:sp>
        <p:nvSpPr>
          <p:cNvPr id="4" name="Slide Number Placeholder 3"/>
          <p:cNvSpPr>
            <a:spLocks noGrp="1"/>
          </p:cNvSpPr>
          <p:nvPr>
            <p:ph type="sldNum" sz="quarter" idx="5"/>
          </p:nvPr>
        </p:nvSpPr>
        <p:spPr/>
        <p:txBody>
          <a:bodyPr/>
          <a:lstStyle/>
          <a:p>
            <a:fld id="{99153D06-F2F5-594F-8302-09F05D8AE5D3}" type="slidenum">
              <a:rPr lang="en-US" smtClean="0"/>
              <a:t>27</a:t>
            </a:fld>
            <a:endParaRPr lang="en-US"/>
          </a:p>
        </p:txBody>
      </p:sp>
    </p:spTree>
    <p:extLst>
      <p:ext uri="{BB962C8B-B14F-4D97-AF65-F5344CB8AC3E}">
        <p14:creationId xmlns:p14="http://schemas.microsoft.com/office/powerpoint/2010/main" val="7385707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waste. Not everything should be automated, and BDD doesn’t require automating everything.</a:t>
            </a:r>
          </a:p>
          <a:p>
            <a:endParaRPr lang="en-US" dirty="0"/>
          </a:p>
          <a:p>
            <a:r>
              <a:rPr lang="en-US" dirty="0"/>
              <a:t>**Highly visual polish checks**</a:t>
            </a:r>
          </a:p>
          <a:p>
            <a:r>
              <a:rPr lang="en-US" dirty="0"/>
              <a:t>Explain that pixel-perfect design checks often change and require human judgment. Automation here tends to be brittle and low-value. Better options:</a:t>
            </a:r>
          </a:p>
          <a:p>
            <a:r>
              <a:rPr lang="en-US" dirty="0"/>
              <a:t>- design review,</a:t>
            </a:r>
          </a:p>
          <a:p>
            <a:r>
              <a:rPr lang="en-US" dirty="0"/>
              <a:t>- visual snapshots with careful governance,</a:t>
            </a:r>
          </a:p>
          <a:p>
            <a:r>
              <a:rPr lang="en-US" dirty="0"/>
              <a:t>- targeted accessibility checks.</a:t>
            </a:r>
          </a:p>
          <a:p>
            <a:endParaRPr lang="en-US" dirty="0"/>
          </a:p>
          <a:p>
            <a:r>
              <a:rPr lang="en-US" dirty="0"/>
              <a:t>**Fast-changing prototypes**</a:t>
            </a:r>
          </a:p>
          <a:p>
            <a:r>
              <a:rPr lang="en-US" dirty="0"/>
              <a:t>In early discovery/prototyping, behavior might not be stable. Automating too early creates churn. Instead:</a:t>
            </a:r>
          </a:p>
          <a:p>
            <a:r>
              <a:rPr lang="en-US" dirty="0"/>
              <a:t>- keep scenarios as discussion artifacts,</a:t>
            </a:r>
          </a:p>
          <a:p>
            <a:r>
              <a:rPr lang="en-US" dirty="0"/>
              <a:t>- delay automation until behavior stabilizes,</a:t>
            </a:r>
          </a:p>
          <a:p>
            <a:r>
              <a:rPr lang="en-US" dirty="0"/>
              <a:t>- focus on “critical invariants” only.</a:t>
            </a:r>
          </a:p>
          <a:p>
            <a:endParaRPr lang="en-US" dirty="0"/>
          </a:p>
          <a:p>
            <a:r>
              <a:rPr lang="en-US" dirty="0"/>
              <a:t>**Brittle flows that create noisy failures**</a:t>
            </a:r>
          </a:p>
          <a:p>
            <a:r>
              <a:rPr lang="en-US" dirty="0"/>
              <a:t>If a flow is unstable due to environment, external dependencies, or frequent UI change, automation can produce false failures. Noisy tests are worse than no tests because they erode trust.</a:t>
            </a:r>
          </a:p>
          <a:p>
            <a:endParaRPr lang="en-US" dirty="0"/>
          </a:p>
          <a:p>
            <a:r>
              <a:rPr lang="en-US" dirty="0"/>
              <a:t>**How to decide**</a:t>
            </a:r>
          </a:p>
          <a:p>
            <a:r>
              <a:rPr lang="en-US" dirty="0"/>
              <a:t>Use a simple rubric:</a:t>
            </a:r>
          </a:p>
          <a:p>
            <a:r>
              <a:rPr lang="en-US" dirty="0"/>
              <a:t>- automate if behavior is stable and important,</a:t>
            </a:r>
          </a:p>
          <a:p>
            <a:r>
              <a:rPr lang="en-US" dirty="0"/>
              <a:t>- automate if failure is costly and not easily caught,</a:t>
            </a:r>
          </a:p>
          <a:p>
            <a:r>
              <a:rPr lang="en-US" dirty="0"/>
              <a:t>- avoid automation if signals are noisy and maintenance is high.</a:t>
            </a:r>
          </a:p>
          <a:p>
            <a:endParaRPr lang="en-US" dirty="0"/>
          </a:p>
          <a:p>
            <a:r>
              <a:rPr lang="en-US" dirty="0"/>
              <a:t>**Bridge**</a:t>
            </a:r>
          </a:p>
          <a:p>
            <a:r>
              <a:rPr lang="en-US" dirty="0"/>
              <a:t>To show where automation typically lives, introduce the test pyramid next.</a:t>
            </a:r>
          </a:p>
        </p:txBody>
      </p:sp>
      <p:sp>
        <p:nvSpPr>
          <p:cNvPr id="4" name="Slide Number Placeholder 3"/>
          <p:cNvSpPr>
            <a:spLocks noGrp="1"/>
          </p:cNvSpPr>
          <p:nvPr>
            <p:ph type="sldNum" sz="quarter" idx="5"/>
          </p:nvPr>
        </p:nvSpPr>
        <p:spPr/>
        <p:txBody>
          <a:bodyPr/>
          <a:lstStyle/>
          <a:p>
            <a:fld id="{99153D06-F2F5-594F-8302-09F05D8AE5D3}" type="slidenum">
              <a:rPr lang="en-US" smtClean="0"/>
              <a:t>28</a:t>
            </a:fld>
            <a:endParaRPr lang="en-US"/>
          </a:p>
        </p:txBody>
      </p:sp>
    </p:spTree>
    <p:extLst>
      <p:ext uri="{BB962C8B-B14F-4D97-AF65-F5344CB8AC3E}">
        <p14:creationId xmlns:p14="http://schemas.microsoft.com/office/powerpoint/2010/main" val="8845092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**test pyramid** as a strategy for stable confidence.</a:t>
            </a:r>
          </a:p>
          <a:p>
            <a:endParaRPr lang="en-US" dirty="0"/>
          </a:p>
          <a:p>
            <a:r>
              <a:rPr lang="en-US" dirty="0"/>
              <a:t>**Explain the pyramid**</a:t>
            </a:r>
          </a:p>
          <a:p>
            <a:r>
              <a:rPr lang="en-US" dirty="0"/>
              <a:t>- **Many unit tests**: fast, isolated, cover rules and domain logic.  </a:t>
            </a:r>
          </a:p>
          <a:p>
            <a:r>
              <a:rPr lang="en-US" dirty="0"/>
              <a:t>- **Some service/API tests**: test workflows across components, still fast and deterministic.  </a:t>
            </a:r>
          </a:p>
          <a:p>
            <a:r>
              <a:rPr lang="en-US" dirty="0"/>
              <a:t>- **Few UI end-to-end tests**: cover only critical journeys as smoke/regression checks.</a:t>
            </a:r>
          </a:p>
          <a:p>
            <a:endParaRPr lang="en-US" dirty="0"/>
          </a:p>
          <a:p>
            <a:r>
              <a:rPr lang="en-US" dirty="0"/>
              <a:t>**Why most tests should live low**</a:t>
            </a:r>
          </a:p>
          <a:p>
            <a:r>
              <a:rPr lang="en-US" dirty="0"/>
              <a:t>- Speed: unit tests run in milliseconds; UI tests can take minutes.</a:t>
            </a:r>
          </a:p>
          <a:p>
            <a:r>
              <a:rPr lang="en-US" dirty="0"/>
              <a:t>- Flakiness: UI tests depend on timing and rendering; unit tests are deterministic.</a:t>
            </a:r>
          </a:p>
          <a:p>
            <a:r>
              <a:rPr lang="en-US" dirty="0"/>
              <a:t>- Diagnosis: unit tests pinpoint code; UI tests often fail with ambiguous symptoms.</a:t>
            </a:r>
          </a:p>
          <a:p>
            <a:endParaRPr lang="en-US" dirty="0"/>
          </a:p>
          <a:p>
            <a:r>
              <a:rPr lang="en-US" dirty="0"/>
              <a:t>**Connect to BDD**</a:t>
            </a:r>
          </a:p>
          <a:p>
            <a:r>
              <a:rPr lang="en-US" dirty="0"/>
              <a:t>BDD scenarios can map to any layer. The scenario describes the rule; the pyramid helps you choose where to automate it. Example:</a:t>
            </a:r>
          </a:p>
          <a:p>
            <a:r>
              <a:rPr lang="en-US" dirty="0"/>
              <a:t>- “Unknown email reset is generic” → service/API test.  </a:t>
            </a:r>
          </a:p>
          <a:p>
            <a:r>
              <a:rPr lang="en-US" dirty="0"/>
              <a:t>- “Password complexity rules” → unit-level domain test.  </a:t>
            </a:r>
          </a:p>
          <a:p>
            <a:r>
              <a:rPr lang="en-US" dirty="0"/>
              <a:t>- “Member can reset password end-to-end” → one UI smoke test.</a:t>
            </a:r>
          </a:p>
          <a:p>
            <a:endParaRPr lang="en-US" dirty="0"/>
          </a:p>
          <a:p>
            <a:r>
              <a:rPr lang="en-US" dirty="0"/>
              <a:t>**Caution**</a:t>
            </a:r>
          </a:p>
          <a:p>
            <a:r>
              <a:rPr lang="en-US" dirty="0"/>
              <a:t>The pyramid is a guideline, not dogma. Some architectures (microservices, heavy integration) adjust the shape. The principle remains: optimize for fast, reliable checks.</a:t>
            </a:r>
          </a:p>
          <a:p>
            <a:endParaRPr lang="en-US" dirty="0"/>
          </a:p>
          <a:p>
            <a:r>
              <a:rPr lang="en-US" dirty="0"/>
              <a:t>**Bridge**</a:t>
            </a:r>
          </a:p>
          <a:p>
            <a:r>
              <a:rPr lang="en-US" dirty="0"/>
              <a:t>Next, make explicit that the same scenario intent can be checked at different levels.</a:t>
            </a:r>
          </a:p>
        </p:txBody>
      </p:sp>
      <p:sp>
        <p:nvSpPr>
          <p:cNvPr id="4" name="Slide Number Placeholder 3"/>
          <p:cNvSpPr>
            <a:spLocks noGrp="1"/>
          </p:cNvSpPr>
          <p:nvPr>
            <p:ph type="sldNum" sz="quarter" idx="5"/>
          </p:nvPr>
        </p:nvSpPr>
        <p:spPr/>
        <p:txBody>
          <a:bodyPr/>
          <a:lstStyle/>
          <a:p>
            <a:fld id="{99153D06-F2F5-594F-8302-09F05D8AE5D3}" type="slidenum">
              <a:rPr lang="en-US" smtClean="0"/>
              <a:t>29</a:t>
            </a:fld>
            <a:endParaRPr lang="en-US"/>
          </a:p>
        </p:txBody>
      </p:sp>
    </p:spTree>
    <p:extLst>
      <p:ext uri="{BB962C8B-B14F-4D97-AF65-F5344CB8AC3E}">
        <p14:creationId xmlns:p14="http://schemas.microsoft.com/office/powerpoint/2010/main" val="16983958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says something subtle but important: BDD is not tied to a single testing layer.</a:t>
            </a:r>
          </a:p>
          <a:p>
            <a:endParaRPr lang="en-US" dirty="0"/>
          </a:p>
          <a:p>
            <a:r>
              <a:rPr lang="en-US" dirty="0"/>
              <a:t>**Same scenario intent, different execution level**</a:t>
            </a:r>
          </a:p>
          <a:p>
            <a:r>
              <a:rPr lang="en-US" dirty="0"/>
              <a:t>Teach the separation:</a:t>
            </a:r>
          </a:p>
          <a:p>
            <a:r>
              <a:rPr lang="en-US" dirty="0"/>
              <a:t>- *Intent* is captured in the scenario text (what must happen).</a:t>
            </a:r>
          </a:p>
          <a:p>
            <a:r>
              <a:rPr lang="en-US" dirty="0"/>
              <a:t>- *Execution* is a technical choice (how we verify), driven by ROI and stability.</a:t>
            </a:r>
          </a:p>
          <a:p>
            <a:endParaRPr lang="en-US" dirty="0"/>
          </a:p>
          <a:p>
            <a:r>
              <a:rPr lang="en-US" dirty="0"/>
              <a:t>**Examples per level**</a:t>
            </a:r>
          </a:p>
          <a:p>
            <a:r>
              <a:rPr lang="en-US" dirty="0"/>
              <a:t>- **Unit-level domain rules**: e.g., password complexity, token expiration logic, lockout counters. Fast and precise.  </a:t>
            </a:r>
          </a:p>
          <a:p>
            <a:r>
              <a:rPr lang="en-US" dirty="0"/>
              <a:t>- **Service/API workflows**: e.g., reset request returns generic message, token created, email send request queued.  </a:t>
            </a:r>
          </a:p>
          <a:p>
            <a:r>
              <a:rPr lang="en-US" dirty="0"/>
              <a:t>- **UI end-to-end smoke checks**: e.g., “member can reset password through the UI” for a single browser.</a:t>
            </a:r>
          </a:p>
          <a:p>
            <a:endParaRPr lang="en-US" dirty="0"/>
          </a:p>
          <a:p>
            <a:r>
              <a:rPr lang="en-US" dirty="0"/>
              <a:t>**Why this matters architecturally**</a:t>
            </a:r>
          </a:p>
          <a:p>
            <a:r>
              <a:rPr lang="en-US" dirty="0"/>
              <a:t>If your only automation surface is UI, you force all behavior checks into the slowest, flakiest layer. BDD encourages designing testable boundaries and application services that can be invoked without the UI.</a:t>
            </a:r>
          </a:p>
          <a:p>
            <a:endParaRPr lang="en-US" dirty="0"/>
          </a:p>
          <a:p>
            <a:r>
              <a:rPr lang="en-US" dirty="0"/>
              <a:t>**Practical advice**</a:t>
            </a:r>
          </a:p>
          <a:p>
            <a:r>
              <a:rPr lang="en-US" dirty="0"/>
              <a:t>When writing scenarios, avoid committing to a layer. Use language that remains true whether checked via API or UI. Then, in your test suite, decide the layer.</a:t>
            </a:r>
          </a:p>
          <a:p>
            <a:endParaRPr lang="en-US" dirty="0"/>
          </a:p>
          <a:p>
            <a:r>
              <a:rPr lang="en-US" dirty="0"/>
              <a:t>**Bridge**</a:t>
            </a:r>
          </a:p>
          <a:p>
            <a:r>
              <a:rPr lang="en-US" dirty="0"/>
              <a:t>To make this work, we need to talk about step definitions and a key principle: keep steps thin.</a:t>
            </a:r>
          </a:p>
        </p:txBody>
      </p:sp>
      <p:sp>
        <p:nvSpPr>
          <p:cNvPr id="4" name="Slide Number Placeholder 3"/>
          <p:cNvSpPr>
            <a:spLocks noGrp="1"/>
          </p:cNvSpPr>
          <p:nvPr>
            <p:ph type="sldNum" sz="quarter" idx="5"/>
          </p:nvPr>
        </p:nvSpPr>
        <p:spPr/>
        <p:txBody>
          <a:bodyPr/>
          <a:lstStyle/>
          <a:p>
            <a:fld id="{99153D06-F2F5-594F-8302-09F05D8AE5D3}" type="slidenum">
              <a:rPr lang="en-US" smtClean="0"/>
              <a:t>30</a:t>
            </a:fld>
            <a:endParaRPr lang="en-US"/>
          </a:p>
        </p:txBody>
      </p:sp>
    </p:spTree>
    <p:extLst>
      <p:ext uri="{BB962C8B-B14F-4D97-AF65-F5344CB8AC3E}">
        <p14:creationId xmlns:p14="http://schemas.microsoft.com/office/powerpoint/2010/main" val="3638683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a principle that prevents most Cucumber/test-suite disasters: **thin, intent-focused steps**.</a:t>
            </a:r>
          </a:p>
          <a:p>
            <a:endParaRPr lang="en-US" dirty="0"/>
          </a:p>
          <a:p>
            <a:r>
              <a:rPr lang="en-US" dirty="0"/>
              <a:t>**What step definitions are**</a:t>
            </a:r>
          </a:p>
          <a:p>
            <a:r>
              <a:rPr lang="en-US" dirty="0"/>
              <a:t>In Cucumber-style tools, step definitions map human-readable steps to executable code. The danger is making them too “smart” or too UI-coupled.</a:t>
            </a:r>
          </a:p>
          <a:p>
            <a:endParaRPr lang="en-US" dirty="0"/>
          </a:p>
          <a:p>
            <a:r>
              <a:rPr lang="en-US" dirty="0"/>
              <a:t>**Key principle**</a:t>
            </a:r>
          </a:p>
          <a:p>
            <a:r>
              <a:rPr lang="en-US" dirty="0"/>
              <a:t>Steps should express *business intent* and delegate the heavy lifting to reusable services/helpers. The scenario remains readable; the implementation remains maintainable.</a:t>
            </a:r>
          </a:p>
          <a:p>
            <a:endParaRPr lang="en-US" dirty="0"/>
          </a:p>
          <a:p>
            <a:r>
              <a:rPr lang="en-US" dirty="0"/>
              <a:t>**Why thin steps help**</a:t>
            </a:r>
          </a:p>
          <a:p>
            <a:r>
              <a:rPr lang="en-US" dirty="0"/>
              <a:t>- Scenarios remain stable when UI changes.</a:t>
            </a:r>
          </a:p>
          <a:p>
            <a:r>
              <a:rPr lang="en-US" dirty="0"/>
              <a:t>- Step implementations are shared across scenarios.</a:t>
            </a:r>
          </a:p>
          <a:p>
            <a:r>
              <a:rPr lang="en-US" dirty="0"/>
              <a:t>- You naturally build a “testing DSL” that mirrors your domain language.</a:t>
            </a:r>
          </a:p>
          <a:p>
            <a:r>
              <a:rPr lang="en-US" dirty="0"/>
              <a:t>- You avoid duplicating low-level actions.</a:t>
            </a:r>
          </a:p>
          <a:p>
            <a:endParaRPr lang="en-US" dirty="0"/>
          </a:p>
          <a:p>
            <a:r>
              <a:rPr lang="en-US" dirty="0"/>
              <a:t>**Good step shape**</a:t>
            </a:r>
          </a:p>
          <a:p>
            <a:r>
              <a:rPr lang="en-US" dirty="0"/>
              <a:t>- One step corresponds to one domain action (“sign in”, “request reset”).</a:t>
            </a:r>
          </a:p>
          <a:p>
            <a:r>
              <a:rPr lang="en-US" dirty="0"/>
              <a:t>- Assertions in Then correspond to observable outcomes (“rejected”, “generic message”, “email not sent”).</a:t>
            </a:r>
          </a:p>
          <a:p>
            <a:endParaRPr lang="en-US" dirty="0"/>
          </a:p>
          <a:p>
            <a:r>
              <a:rPr lang="en-US" dirty="0"/>
              <a:t>**Bridge**</a:t>
            </a:r>
          </a:p>
          <a:p>
            <a:r>
              <a:rPr lang="en-US" dirty="0"/>
              <a:t>Next slide gives a concrete “thin step” example so people can visualize the difference.</a:t>
            </a:r>
          </a:p>
        </p:txBody>
      </p:sp>
      <p:sp>
        <p:nvSpPr>
          <p:cNvPr id="4" name="Slide Number Placeholder 3"/>
          <p:cNvSpPr>
            <a:spLocks noGrp="1"/>
          </p:cNvSpPr>
          <p:nvPr>
            <p:ph type="sldNum" sz="quarter" idx="5"/>
          </p:nvPr>
        </p:nvSpPr>
        <p:spPr/>
        <p:txBody>
          <a:bodyPr/>
          <a:lstStyle/>
          <a:p>
            <a:fld id="{99153D06-F2F5-594F-8302-09F05D8AE5D3}" type="slidenum">
              <a:rPr lang="en-US" smtClean="0"/>
              <a:t>31</a:t>
            </a:fld>
            <a:endParaRPr lang="en-US"/>
          </a:p>
        </p:txBody>
      </p:sp>
    </p:spTree>
    <p:extLst>
      <p:ext uri="{BB962C8B-B14F-4D97-AF65-F5344CB8AC3E}">
        <p14:creationId xmlns:p14="http://schemas.microsoft.com/office/powerpoint/2010/main" val="13137592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contrast between intent and mechanics.</a:t>
            </a:r>
          </a:p>
          <a:p>
            <a:endParaRPr lang="en-US" dirty="0"/>
          </a:p>
          <a:p>
            <a:r>
              <a:rPr lang="en-US" dirty="0"/>
              <a:t>**Thin step example**</a:t>
            </a:r>
          </a:p>
          <a:p>
            <a:r>
              <a:rPr lang="en-US" dirty="0"/>
              <a:t>“When the member signs in with email … and password … / Then the sign-in is rejected.”</a:t>
            </a:r>
          </a:p>
          <a:p>
            <a:endParaRPr lang="en-US" dirty="0"/>
          </a:p>
          <a:p>
            <a:r>
              <a:rPr lang="en-US" dirty="0"/>
              <a:t>Explain what’s *not* shown:</a:t>
            </a:r>
          </a:p>
          <a:p>
            <a:r>
              <a:rPr lang="en-US" dirty="0"/>
              <a:t>- no mention of pages, inputs, selectors,</a:t>
            </a:r>
          </a:p>
          <a:p>
            <a:r>
              <a:rPr lang="en-US" dirty="0"/>
              <a:t>- no mention of waiting, retries, screenshots,</a:t>
            </a:r>
          </a:p>
          <a:p>
            <a:r>
              <a:rPr lang="en-US" dirty="0"/>
              <a:t>- no mention of internal DB checks.</a:t>
            </a:r>
          </a:p>
          <a:p>
            <a:endParaRPr lang="en-US" dirty="0"/>
          </a:p>
          <a:p>
            <a:r>
              <a:rPr lang="en-US" dirty="0"/>
              <a:t>**How you implement thin steps well**</a:t>
            </a:r>
          </a:p>
          <a:p>
            <a:r>
              <a:rPr lang="en-US" dirty="0"/>
              <a:t>- If running at API level: call an authentication endpoint and assert result.  </a:t>
            </a:r>
          </a:p>
          <a:p>
            <a:r>
              <a:rPr lang="en-US" dirty="0"/>
              <a:t>- If running at service level: call an application service and inspect result.  </a:t>
            </a:r>
          </a:p>
          <a:p>
            <a:r>
              <a:rPr lang="en-US" dirty="0"/>
              <a:t>- If running at UI level: have a page object or helper that performs the sign-in action, but keep that hidden below the step definition.</a:t>
            </a:r>
          </a:p>
          <a:p>
            <a:endParaRPr lang="en-US" dirty="0"/>
          </a:p>
          <a:p>
            <a:r>
              <a:rPr lang="en-US" dirty="0"/>
              <a:t>**Design benefit**</a:t>
            </a:r>
          </a:p>
          <a:p>
            <a:r>
              <a:rPr lang="en-US" dirty="0"/>
              <a:t>Thin steps encourage code organization:</a:t>
            </a:r>
          </a:p>
          <a:p>
            <a:r>
              <a:rPr lang="en-US" dirty="0"/>
              <a:t>- a clean application layer,</a:t>
            </a:r>
          </a:p>
          <a:p>
            <a:r>
              <a:rPr lang="en-US" dirty="0"/>
              <a:t>- explicit domain actions,</a:t>
            </a:r>
          </a:p>
          <a:p>
            <a:r>
              <a:rPr lang="en-US" dirty="0"/>
              <a:t>- stable interfaces for tests.</a:t>
            </a:r>
          </a:p>
          <a:p>
            <a:endParaRPr lang="en-US" dirty="0"/>
          </a:p>
          <a:p>
            <a:r>
              <a:rPr lang="en-US" dirty="0"/>
              <a:t>**Teaching technique**</a:t>
            </a:r>
          </a:p>
          <a:p>
            <a:r>
              <a:rPr lang="en-US" dirty="0"/>
              <a:t>Show a “fat step” anti-example verbally:</a:t>
            </a:r>
          </a:p>
          <a:p>
            <a:r>
              <a:rPr lang="en-US" dirty="0"/>
              <a:t>- “When I open Chrome, go to /login, type email, click the submit button…”  </a:t>
            </a:r>
          </a:p>
          <a:p>
            <a:r>
              <a:rPr lang="en-US" dirty="0"/>
              <a:t>Ask the audience: “Is this about behavior or about the UI’s current layout?” That makes the lesson memorable.</a:t>
            </a:r>
          </a:p>
          <a:p>
            <a:endParaRPr lang="en-US" dirty="0"/>
          </a:p>
          <a:p>
            <a:r>
              <a:rPr lang="en-US" dirty="0"/>
              <a:t>**Bridge**</a:t>
            </a:r>
          </a:p>
          <a:p>
            <a:r>
              <a:rPr lang="en-US" dirty="0"/>
              <a:t>Now warn about the step-definition trap: when each step clicks 30 things, your suite becomes slow and flaky.</a:t>
            </a:r>
          </a:p>
        </p:txBody>
      </p:sp>
      <p:sp>
        <p:nvSpPr>
          <p:cNvPr id="4" name="Slide Number Placeholder 3"/>
          <p:cNvSpPr>
            <a:spLocks noGrp="1"/>
          </p:cNvSpPr>
          <p:nvPr>
            <p:ph type="sldNum" sz="quarter" idx="5"/>
          </p:nvPr>
        </p:nvSpPr>
        <p:spPr/>
        <p:txBody>
          <a:bodyPr/>
          <a:lstStyle/>
          <a:p>
            <a:fld id="{99153D06-F2F5-594F-8302-09F05D8AE5D3}" type="slidenum">
              <a:rPr lang="en-US" smtClean="0"/>
              <a:t>32</a:t>
            </a:fld>
            <a:endParaRPr lang="en-US"/>
          </a:p>
        </p:txBody>
      </p:sp>
    </p:spTree>
    <p:extLst>
      <p:ext uri="{BB962C8B-B14F-4D97-AF65-F5344CB8AC3E}">
        <p14:creationId xmlns:p14="http://schemas.microsoft.com/office/powerpoint/2010/main" val="10307013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names a trap many teams fall into: step definitions that are secretly long scripts.</a:t>
            </a:r>
          </a:p>
          <a:p>
            <a:endParaRPr lang="en-US" dirty="0"/>
          </a:p>
          <a:p>
            <a:r>
              <a:rPr lang="en-US" dirty="0"/>
              <a:t>**The trap**</a:t>
            </a:r>
          </a:p>
          <a:p>
            <a:r>
              <a:rPr lang="en-US" dirty="0"/>
              <a:t>If each step:</a:t>
            </a:r>
          </a:p>
          <a:p>
            <a:r>
              <a:rPr lang="en-US" dirty="0"/>
              <a:t>- performs many UI actions,</a:t>
            </a:r>
          </a:p>
          <a:p>
            <a:r>
              <a:rPr lang="en-US" dirty="0"/>
              <a:t>- relies on timing waits,</a:t>
            </a:r>
          </a:p>
          <a:p>
            <a:r>
              <a:rPr lang="en-US" dirty="0"/>
              <a:t>- sets up lots of data,</a:t>
            </a:r>
          </a:p>
          <a:p>
            <a:r>
              <a:rPr lang="en-US" dirty="0"/>
              <a:t>then your scenarios become slow, flaky, and expensive. Failures become noise. Teams stop trusting CI.</a:t>
            </a:r>
          </a:p>
          <a:p>
            <a:endParaRPr lang="en-US" dirty="0"/>
          </a:p>
          <a:p>
            <a:r>
              <a:rPr lang="en-US" dirty="0"/>
              <a:t>**Why it happens**</a:t>
            </a:r>
          </a:p>
          <a:p>
            <a:r>
              <a:rPr lang="en-US" dirty="0"/>
              <a:t>- Teams treat Given/When/Then as a place to record test procedure.</a:t>
            </a:r>
          </a:p>
          <a:p>
            <a:r>
              <a:rPr lang="en-US" dirty="0"/>
              <a:t>- Missing service/API testability pushes everything into the UI.</a:t>
            </a:r>
          </a:p>
          <a:p>
            <a:r>
              <a:rPr lang="en-US" dirty="0"/>
              <a:t>- Pressure to “automate acceptance criteria” leads to automating the easiest surface (UI), not the best one.</a:t>
            </a:r>
          </a:p>
          <a:p>
            <a:endParaRPr lang="en-US" dirty="0"/>
          </a:p>
          <a:p>
            <a:r>
              <a:rPr lang="en-US" dirty="0"/>
              <a:t>**The fix**</a:t>
            </a:r>
          </a:p>
          <a:p>
            <a:r>
              <a:rPr lang="en-US" dirty="0"/>
              <a:t>Push checks down:</a:t>
            </a:r>
          </a:p>
          <a:p>
            <a:r>
              <a:rPr lang="en-US" dirty="0"/>
              <a:t>- Put most rules in unit tests.</a:t>
            </a:r>
          </a:p>
          <a:p>
            <a:r>
              <a:rPr lang="en-US" dirty="0"/>
              <a:t>- Put workflows in service/API tests.</a:t>
            </a:r>
          </a:p>
          <a:p>
            <a:r>
              <a:rPr lang="en-US" dirty="0"/>
              <a:t>- Keep UI tests as a thin smoke layer.</a:t>
            </a:r>
          </a:p>
          <a:p>
            <a:endParaRPr lang="en-US" dirty="0"/>
          </a:p>
          <a:p>
            <a:r>
              <a:rPr lang="en-US" dirty="0"/>
              <a:t>Emphasize: we’re not anti-UI testing; we are anti-“UI as the only testing surface.”</a:t>
            </a:r>
          </a:p>
          <a:p>
            <a:endParaRPr lang="en-US" dirty="0"/>
          </a:p>
          <a:p>
            <a:r>
              <a:rPr lang="en-US" dirty="0"/>
              <a:t>**Practical refactoring move**</a:t>
            </a:r>
          </a:p>
          <a:p>
            <a:r>
              <a:rPr lang="en-US" dirty="0"/>
              <a:t>When you see a UI-heavy scenario, ask:</a:t>
            </a:r>
          </a:p>
          <a:p>
            <a:r>
              <a:rPr lang="en-US" dirty="0"/>
              <a:t>- What is the business action?</a:t>
            </a:r>
          </a:p>
          <a:p>
            <a:r>
              <a:rPr lang="en-US" dirty="0"/>
              <a:t>- Can I invoke that action via an API/app service?</a:t>
            </a:r>
          </a:p>
          <a:p>
            <a:r>
              <a:rPr lang="en-US" dirty="0"/>
              <a:t>- Can I assert the outcome without screen scraping?</a:t>
            </a:r>
          </a:p>
          <a:p>
            <a:endParaRPr lang="en-US" dirty="0"/>
          </a:p>
          <a:p>
            <a:r>
              <a:rPr lang="en-US" dirty="0"/>
              <a:t>Often, the answer becomes a small application service you can reuse both in production and tests.</a:t>
            </a:r>
          </a:p>
          <a:p>
            <a:endParaRPr lang="en-US" dirty="0"/>
          </a:p>
          <a:p>
            <a:r>
              <a:rPr lang="en-US" dirty="0"/>
              <a:t>**Bridge**</a:t>
            </a:r>
          </a:p>
          <a:p>
            <a:r>
              <a:rPr lang="en-US" dirty="0"/>
              <a:t>Next slide: architecture payoff—BDD can actually improve design by forcing clean boundaries.</a:t>
            </a:r>
          </a:p>
        </p:txBody>
      </p:sp>
      <p:sp>
        <p:nvSpPr>
          <p:cNvPr id="4" name="Slide Number Placeholder 3"/>
          <p:cNvSpPr>
            <a:spLocks noGrp="1"/>
          </p:cNvSpPr>
          <p:nvPr>
            <p:ph type="sldNum" sz="quarter" idx="5"/>
          </p:nvPr>
        </p:nvSpPr>
        <p:spPr/>
        <p:txBody>
          <a:bodyPr/>
          <a:lstStyle/>
          <a:p>
            <a:fld id="{99153D06-F2F5-594F-8302-09F05D8AE5D3}" type="slidenum">
              <a:rPr lang="en-US" smtClean="0"/>
              <a:t>33</a:t>
            </a:fld>
            <a:endParaRPr lang="en-US"/>
          </a:p>
        </p:txBody>
      </p:sp>
    </p:spTree>
    <p:extLst>
      <p:ext uri="{BB962C8B-B14F-4D97-AF65-F5344CB8AC3E}">
        <p14:creationId xmlns:p14="http://schemas.microsoft.com/office/powerpoint/2010/main" val="37720733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where you connect BDD to better software design—an important selling point for developers.</a:t>
            </a:r>
          </a:p>
          <a:p>
            <a:endParaRPr lang="en-US" dirty="0"/>
          </a:p>
          <a:p>
            <a:r>
              <a:rPr lang="en-US" dirty="0"/>
              <a:t>**Thin steps encourage clean boundaries**</a:t>
            </a:r>
          </a:p>
          <a:p>
            <a:r>
              <a:rPr lang="en-US" dirty="0"/>
              <a:t>When tests call domain/application services rather than clicking UI elements, you naturally shape architecture that:</a:t>
            </a:r>
          </a:p>
          <a:p>
            <a:r>
              <a:rPr lang="en-US" dirty="0"/>
              <a:t>- separates domain logic from presentation,</a:t>
            </a:r>
          </a:p>
          <a:p>
            <a:r>
              <a:rPr lang="en-US" dirty="0"/>
              <a:t>- offers clear APIs for workflows,</a:t>
            </a:r>
          </a:p>
          <a:p>
            <a:r>
              <a:rPr lang="en-US" dirty="0"/>
              <a:t>- is easier to refactor.</a:t>
            </a:r>
          </a:p>
          <a:p>
            <a:endParaRPr lang="en-US" dirty="0"/>
          </a:p>
          <a:p>
            <a:r>
              <a:rPr lang="en-US" dirty="0"/>
              <a:t>**Reusable application services**</a:t>
            </a:r>
          </a:p>
          <a:p>
            <a:r>
              <a:rPr lang="en-US" dirty="0"/>
              <a:t>Explain what this means: “application service” is a unit of business behavior like “sign in”, “request password reset”, “set new password”. If you can call these from tests, you can also call them from controllers/UI handlers—reducing duplication.</a:t>
            </a:r>
          </a:p>
          <a:p>
            <a:endParaRPr lang="en-US" dirty="0"/>
          </a:p>
          <a:p>
            <a:r>
              <a:rPr lang="en-US" dirty="0"/>
              <a:t>**Behavior checks become cheaper**</a:t>
            </a:r>
          </a:p>
          <a:p>
            <a:r>
              <a:rPr lang="en-US" dirty="0"/>
              <a:t>- Setup becomes factories/fixtures.</a:t>
            </a:r>
          </a:p>
          <a:p>
            <a:r>
              <a:rPr lang="en-US" dirty="0"/>
              <a:t>- Execution becomes method calls or API requests.</a:t>
            </a:r>
          </a:p>
          <a:p>
            <a:r>
              <a:rPr lang="en-US" dirty="0"/>
              <a:t>- Verification becomes state assertions or response assertions.</a:t>
            </a:r>
          </a:p>
          <a:p>
            <a:r>
              <a:rPr lang="en-US" dirty="0"/>
              <a:t>Less flakiness, faster runtime, clearer failures.</a:t>
            </a:r>
          </a:p>
          <a:p>
            <a:endParaRPr lang="en-US" dirty="0"/>
          </a:p>
          <a:p>
            <a:r>
              <a:rPr lang="en-US" dirty="0"/>
              <a:t>**Team benefit**</a:t>
            </a:r>
          </a:p>
          <a:p>
            <a:r>
              <a:rPr lang="en-US" dirty="0"/>
              <a:t>BDD shifts the team from “testing as an afterthought” to “behavior as a design guide.” It’s similar to TDD’s effect but at a behavior/acceptance level.</a:t>
            </a:r>
          </a:p>
          <a:p>
            <a:endParaRPr lang="en-US" dirty="0"/>
          </a:p>
          <a:p>
            <a:r>
              <a:rPr lang="en-US" dirty="0"/>
              <a:t>**Bridge**</a:t>
            </a:r>
          </a:p>
          <a:p>
            <a:r>
              <a:rPr lang="en-US" dirty="0"/>
              <a:t>Now show a simple workflow loop so teams can visualize how BDD fits into everyday work.</a:t>
            </a:r>
          </a:p>
        </p:txBody>
      </p:sp>
      <p:sp>
        <p:nvSpPr>
          <p:cNvPr id="4" name="Slide Number Placeholder 3"/>
          <p:cNvSpPr>
            <a:spLocks noGrp="1"/>
          </p:cNvSpPr>
          <p:nvPr>
            <p:ph type="sldNum" sz="quarter" idx="5"/>
          </p:nvPr>
        </p:nvSpPr>
        <p:spPr/>
        <p:txBody>
          <a:bodyPr/>
          <a:lstStyle/>
          <a:p>
            <a:fld id="{99153D06-F2F5-594F-8302-09F05D8AE5D3}" type="slidenum">
              <a:rPr lang="en-US" smtClean="0"/>
              <a:t>34</a:t>
            </a:fld>
            <a:endParaRPr lang="en-US"/>
          </a:p>
        </p:txBody>
      </p:sp>
    </p:spTree>
    <p:extLst>
      <p:ext uri="{BB962C8B-B14F-4D97-AF65-F5344CB8AC3E}">
        <p14:creationId xmlns:p14="http://schemas.microsoft.com/office/powerpoint/2010/main" val="20009930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present BDD as a lightweight loop, not a heavyweight process.</a:t>
            </a:r>
          </a:p>
          <a:p>
            <a:endParaRPr lang="en-US" dirty="0"/>
          </a:p>
          <a:p>
            <a:r>
              <a:rPr lang="en-US" dirty="0"/>
              <a:t>**A simple BDD workflow loop**</a:t>
            </a:r>
          </a:p>
          <a:p>
            <a:r>
              <a:rPr lang="en-US" dirty="0"/>
              <a:t>Describe a loop like:</a:t>
            </a:r>
          </a:p>
          <a:p>
            <a:r>
              <a:rPr lang="en-US" dirty="0"/>
              <a:t>1) Pick a story / capability.</a:t>
            </a:r>
          </a:p>
          <a:p>
            <a:r>
              <a:rPr lang="en-US" dirty="0"/>
              <a:t>2) Run a Three Amigos discovery session.</a:t>
            </a:r>
          </a:p>
          <a:p>
            <a:r>
              <a:rPr lang="en-US" dirty="0"/>
              <a:t>3) Draft scenarios as examples (3–8).</a:t>
            </a:r>
          </a:p>
          <a:p>
            <a:r>
              <a:rPr lang="en-US" dirty="0"/>
              <a:t>4) Implement behavior guided by scenarios.</a:t>
            </a:r>
          </a:p>
          <a:p>
            <a:r>
              <a:rPr lang="en-US" dirty="0"/>
              <a:t>5) Automate the chosen scenarios at the right level.</a:t>
            </a:r>
          </a:p>
          <a:p>
            <a:r>
              <a:rPr lang="en-US" dirty="0"/>
              <a:t>6) Run in CI and keep docs/checks aligned.</a:t>
            </a:r>
          </a:p>
          <a:p>
            <a:endParaRPr lang="en-US" dirty="0"/>
          </a:p>
          <a:p>
            <a:r>
              <a:rPr lang="en-US" dirty="0"/>
              <a:t>**Why a loop matters**</a:t>
            </a:r>
          </a:p>
          <a:p>
            <a:r>
              <a:rPr lang="en-US" dirty="0"/>
              <a:t>BDD is not “write scenarios once”. It’s iterative:</a:t>
            </a:r>
          </a:p>
          <a:p>
            <a:r>
              <a:rPr lang="en-US" dirty="0"/>
              <a:t>- scenarios reveal missing requirements,</a:t>
            </a:r>
          </a:p>
          <a:p>
            <a:r>
              <a:rPr lang="en-US" dirty="0"/>
              <a:t>- implementation reveals new edge cases,</a:t>
            </a:r>
          </a:p>
          <a:p>
            <a:r>
              <a:rPr lang="en-US" dirty="0"/>
              <a:t>- production feedback reveals new scenarios.</a:t>
            </a:r>
          </a:p>
          <a:p>
            <a:endParaRPr lang="en-US" dirty="0"/>
          </a:p>
          <a:p>
            <a:r>
              <a:rPr lang="en-US" dirty="0"/>
              <a:t>**How to keep it lightweight**</a:t>
            </a:r>
          </a:p>
          <a:p>
            <a:r>
              <a:rPr lang="en-US" dirty="0"/>
              <a:t>- timebox discovery,</a:t>
            </a:r>
          </a:p>
          <a:p>
            <a:r>
              <a:rPr lang="en-US" dirty="0"/>
              <a:t>- keep scenario count small and meaningful,</a:t>
            </a:r>
          </a:p>
          <a:p>
            <a:r>
              <a:rPr lang="en-US" dirty="0"/>
              <a:t>- review scenarios like code (language, clarity),</a:t>
            </a:r>
          </a:p>
          <a:p>
            <a:r>
              <a:rPr lang="en-US" dirty="0"/>
              <a:t>- refactor steps and fixtures over time.</a:t>
            </a:r>
          </a:p>
          <a:p>
            <a:endParaRPr lang="en-US" dirty="0"/>
          </a:p>
          <a:p>
            <a:r>
              <a:rPr lang="en-US" dirty="0"/>
              <a:t>**Bridge**</a:t>
            </a:r>
          </a:p>
          <a:p>
            <a:r>
              <a:rPr lang="en-US" dirty="0"/>
              <a:t>Next slide frames this as a BDD-flavored Definition of Done—so it becomes operational, not aspirational.</a:t>
            </a:r>
          </a:p>
        </p:txBody>
      </p:sp>
      <p:sp>
        <p:nvSpPr>
          <p:cNvPr id="4" name="Slide Number Placeholder 3"/>
          <p:cNvSpPr>
            <a:spLocks noGrp="1"/>
          </p:cNvSpPr>
          <p:nvPr>
            <p:ph type="sldNum" sz="quarter" idx="5"/>
          </p:nvPr>
        </p:nvSpPr>
        <p:spPr/>
        <p:txBody>
          <a:bodyPr/>
          <a:lstStyle/>
          <a:p>
            <a:fld id="{99153D06-F2F5-594F-8302-09F05D8AE5D3}" type="slidenum">
              <a:rPr lang="en-US" smtClean="0"/>
              <a:t>35</a:t>
            </a:fld>
            <a:endParaRPr lang="en-US"/>
          </a:p>
        </p:txBody>
      </p:sp>
    </p:spTree>
    <p:extLst>
      <p:ext uri="{BB962C8B-B14F-4D97-AF65-F5344CB8AC3E}">
        <p14:creationId xmlns:p14="http://schemas.microsoft.com/office/powerpoint/2010/main" val="23566766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turns BDD into concrete “done-ness”. Teams fail when BDD is optional or vague. A Definition of Done makes it real.</a:t>
            </a:r>
          </a:p>
          <a:p>
            <a:endParaRPr lang="en-US" dirty="0"/>
          </a:p>
          <a:p>
            <a:r>
              <a:rPr lang="en-US" dirty="0"/>
              <a:t>**Scenarios reviewed for language + clarity**</a:t>
            </a:r>
          </a:p>
          <a:p>
            <a:r>
              <a:rPr lang="en-US" dirty="0"/>
              <a:t>Explain who reviews:</a:t>
            </a:r>
          </a:p>
          <a:p>
            <a:r>
              <a:rPr lang="en-US" dirty="0"/>
              <a:t>- Product checks intent and wording.</a:t>
            </a:r>
          </a:p>
          <a:p>
            <a:r>
              <a:rPr lang="en-US" dirty="0"/>
              <a:t>- QA checks edge cases and observability.</a:t>
            </a:r>
          </a:p>
          <a:p>
            <a:r>
              <a:rPr lang="en-US" dirty="0"/>
              <a:t>- Dev checks feasibility and avoids implementation leakage.</a:t>
            </a:r>
          </a:p>
          <a:p>
            <a:endParaRPr lang="en-US" dirty="0"/>
          </a:p>
          <a:p>
            <a:r>
              <a:rPr lang="en-US" dirty="0"/>
              <a:t>**Automated checks (if chosen) are green in CI**</a:t>
            </a:r>
          </a:p>
          <a:p>
            <a:r>
              <a:rPr lang="en-US" dirty="0"/>
              <a:t>Stress “if chosen”: not everything is automated. But for scenarios you automate, green CI is non-negotiable. Also stress: “green but flaky” is not green—stability is part of DoD.</a:t>
            </a:r>
          </a:p>
          <a:p>
            <a:endParaRPr lang="en-US" dirty="0"/>
          </a:p>
          <a:p>
            <a:r>
              <a:rPr lang="en-US" dirty="0"/>
              <a:t>**Key edge cases captured**</a:t>
            </a:r>
          </a:p>
          <a:p>
            <a:r>
              <a:rPr lang="en-US" dirty="0"/>
              <a:t>Even if you don’t automate them immediately, ensure they are captured as scenarios, notes, or test charters. Capture “what must never happen”.</a:t>
            </a:r>
          </a:p>
          <a:p>
            <a:endParaRPr lang="en-US" dirty="0"/>
          </a:p>
          <a:p>
            <a:r>
              <a:rPr lang="en-US" dirty="0"/>
              <a:t>**Terms match product vocabulary**</a:t>
            </a:r>
          </a:p>
          <a:p>
            <a:r>
              <a:rPr lang="en-US" dirty="0"/>
              <a:t>This is ubiquitous language enforced. If product calls it “member” and code calls it “customer”, drift will occur. Encourage aligning.</a:t>
            </a:r>
          </a:p>
          <a:p>
            <a:endParaRPr lang="en-US" dirty="0"/>
          </a:p>
          <a:p>
            <a:r>
              <a:rPr lang="en-US" dirty="0"/>
              <a:t>**How to adopt gradually**</a:t>
            </a:r>
          </a:p>
          <a:p>
            <a:r>
              <a:rPr lang="en-US" dirty="0"/>
              <a:t>Suggest incremental adoption:</a:t>
            </a:r>
          </a:p>
          <a:p>
            <a:r>
              <a:rPr lang="en-US" dirty="0"/>
              <a:t>- start with 1–2 features,</a:t>
            </a:r>
          </a:p>
          <a:p>
            <a:r>
              <a:rPr lang="en-US" dirty="0"/>
              <a:t>- use scenarios only for discovery at first,</a:t>
            </a:r>
          </a:p>
          <a:p>
            <a:r>
              <a:rPr lang="en-US" dirty="0"/>
              <a:t>- then automate the highest-value ones,</a:t>
            </a:r>
          </a:p>
          <a:p>
            <a:r>
              <a:rPr lang="en-US" dirty="0"/>
              <a:t>- iterate on fixtures and step refactoring.</a:t>
            </a:r>
          </a:p>
          <a:p>
            <a:endParaRPr lang="en-US" dirty="0"/>
          </a:p>
          <a:p>
            <a:r>
              <a:rPr lang="en-US" dirty="0"/>
              <a:t>**Bridge**</a:t>
            </a:r>
          </a:p>
          <a:p>
            <a:r>
              <a:rPr lang="en-US" dirty="0"/>
              <a:t>Now that you have a DoD, discuss common pitfalls—and fixes—because teams will hit them.</a:t>
            </a:r>
          </a:p>
        </p:txBody>
      </p:sp>
      <p:sp>
        <p:nvSpPr>
          <p:cNvPr id="4" name="Slide Number Placeholder 3"/>
          <p:cNvSpPr>
            <a:spLocks noGrp="1"/>
          </p:cNvSpPr>
          <p:nvPr>
            <p:ph type="sldNum" sz="quarter" idx="5"/>
          </p:nvPr>
        </p:nvSpPr>
        <p:spPr/>
        <p:txBody>
          <a:bodyPr/>
          <a:lstStyle/>
          <a:p>
            <a:fld id="{99153D06-F2F5-594F-8302-09F05D8AE5D3}" type="slidenum">
              <a:rPr lang="en-US" smtClean="0"/>
              <a:t>36</a:t>
            </a:fld>
            <a:endParaRPr lang="en-US"/>
          </a:p>
        </p:txBody>
      </p:sp>
    </p:spTree>
    <p:extLst>
      <p:ext uri="{BB962C8B-B14F-4D97-AF65-F5344CB8AC3E}">
        <p14:creationId xmlns:p14="http://schemas.microsoft.com/office/powerpoint/2010/main" val="37013975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“battle scars” checklist. Present each pitfall with an empathetic tone: most teams experience these; the point is to recognize and correct early.</a:t>
            </a:r>
          </a:p>
          <a:p>
            <a:endParaRPr lang="en-US" dirty="0"/>
          </a:p>
          <a:p>
            <a:r>
              <a:rPr lang="en-US" dirty="0"/>
              <a:t>**Pitfall: BDD = UI clicking**</a:t>
            </a:r>
          </a:p>
          <a:p>
            <a:r>
              <a:rPr lang="en-US" dirty="0"/>
              <a:t>Fix: move checks down to service/API/unit, keep UI as smoke. Explain how to do that: create application services, use API clients, invest in fixtures.</a:t>
            </a:r>
          </a:p>
          <a:p>
            <a:endParaRPr lang="en-US" dirty="0"/>
          </a:p>
          <a:p>
            <a:r>
              <a:rPr lang="en-US" dirty="0"/>
              <a:t>**Pitfall: Scenarios as scripts**</a:t>
            </a:r>
          </a:p>
          <a:p>
            <a:r>
              <a:rPr lang="en-US" dirty="0"/>
              <a:t>Fix: rewrite steps as intent + outcome. Demonstrate: replace “click” steps with domain actions; replace UI assertions with behavior assertions.</a:t>
            </a:r>
          </a:p>
          <a:p>
            <a:endParaRPr lang="en-US" dirty="0"/>
          </a:p>
          <a:p>
            <a:r>
              <a:rPr lang="en-US" dirty="0"/>
              <a:t>**Pitfall: One giant feature file**</a:t>
            </a:r>
          </a:p>
          <a:p>
            <a:r>
              <a:rPr lang="en-US" dirty="0"/>
              <a:t>Fix: split by capability, keep features small (3–8 scenarios). Explain why: ownership and readability. Large files become dumping grounds.</a:t>
            </a:r>
          </a:p>
          <a:p>
            <a:endParaRPr lang="en-US" dirty="0"/>
          </a:p>
          <a:p>
            <a:r>
              <a:rPr lang="en-US" dirty="0"/>
              <a:t>**Pitfall: Step explosion**</a:t>
            </a:r>
          </a:p>
          <a:p>
            <a:r>
              <a:rPr lang="en-US" dirty="0"/>
              <a:t>Fix: create helper DSL and refactor. Steps should be reusable, not unique to every scenario. Encourage treating step definitions like production code: deduplicate, name well, review.</a:t>
            </a:r>
          </a:p>
          <a:p>
            <a:endParaRPr lang="en-US" dirty="0"/>
          </a:p>
          <a:p>
            <a:r>
              <a:rPr lang="en-US" dirty="0"/>
              <a:t>**Pitfall: Data/setup pain**</a:t>
            </a:r>
          </a:p>
          <a:p>
            <a:r>
              <a:rPr lang="en-US" dirty="0"/>
              <a:t>Fix: invest in reliable test state management:</a:t>
            </a:r>
          </a:p>
          <a:p>
            <a:r>
              <a:rPr lang="en-US" dirty="0"/>
              <a:t>- factories/fixtures,</a:t>
            </a:r>
          </a:p>
          <a:p>
            <a:r>
              <a:rPr lang="en-US" dirty="0"/>
              <a:t>- deterministic IDs,</a:t>
            </a:r>
          </a:p>
          <a:p>
            <a:r>
              <a:rPr lang="en-US" dirty="0"/>
              <a:t>- DB reset or per-test transactions,</a:t>
            </a:r>
          </a:p>
          <a:p>
            <a:r>
              <a:rPr lang="en-US" dirty="0"/>
              <a:t>- clock control,</a:t>
            </a:r>
          </a:p>
          <a:p>
            <a:r>
              <a:rPr lang="en-US" dirty="0"/>
              <a:t>- isolated environments.</a:t>
            </a:r>
          </a:p>
          <a:p>
            <a:endParaRPr lang="en-US" dirty="0"/>
          </a:p>
          <a:p>
            <a:r>
              <a:rPr lang="en-US" dirty="0"/>
              <a:t>**Bridge**</a:t>
            </a:r>
          </a:p>
          <a:p>
            <a:r>
              <a:rPr lang="en-US" dirty="0"/>
              <a:t>Once people know pitfalls, give them practical stability tips they can apply immediately.</a:t>
            </a:r>
          </a:p>
        </p:txBody>
      </p:sp>
      <p:sp>
        <p:nvSpPr>
          <p:cNvPr id="4" name="Slide Number Placeholder 3"/>
          <p:cNvSpPr>
            <a:spLocks noGrp="1"/>
          </p:cNvSpPr>
          <p:nvPr>
            <p:ph type="sldNum" sz="quarter" idx="5"/>
          </p:nvPr>
        </p:nvSpPr>
        <p:spPr/>
        <p:txBody>
          <a:bodyPr/>
          <a:lstStyle/>
          <a:p>
            <a:fld id="{99153D06-F2F5-594F-8302-09F05D8AE5D3}" type="slidenum">
              <a:rPr lang="en-US" smtClean="0"/>
              <a:t>37</a:t>
            </a:fld>
            <a:endParaRPr lang="en-US"/>
          </a:p>
        </p:txBody>
      </p:sp>
    </p:spTree>
    <p:extLst>
      <p:ext uri="{BB962C8B-B14F-4D97-AF65-F5344CB8AC3E}">
        <p14:creationId xmlns:p14="http://schemas.microsoft.com/office/powerpoint/2010/main" val="31127066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practical gold. Treat it like “how to make your test suite lovable.”</a:t>
            </a:r>
          </a:p>
          <a:p>
            <a:endParaRPr lang="en-US" dirty="0"/>
          </a:p>
          <a:p>
            <a:r>
              <a:rPr lang="en-US" dirty="0"/>
              <a:t>**Avoid time-based waits**</a:t>
            </a:r>
          </a:p>
          <a:p>
            <a:r>
              <a:rPr lang="en-US" dirty="0"/>
              <a:t>Explain why sleeps cause flakiness: they assume timing that changes with load. Prefer:</a:t>
            </a:r>
          </a:p>
          <a:p>
            <a:r>
              <a:rPr lang="en-US" dirty="0"/>
              <a:t>- waiting for specific conditions/events,</a:t>
            </a:r>
          </a:p>
          <a:p>
            <a:r>
              <a:rPr lang="en-US" dirty="0"/>
              <a:t>- using deterministic triggers,</a:t>
            </a:r>
          </a:p>
          <a:p>
            <a:r>
              <a:rPr lang="en-US" dirty="0"/>
              <a:t>- probing for readiness with timeouts.</a:t>
            </a:r>
          </a:p>
          <a:p>
            <a:endParaRPr lang="en-US" dirty="0"/>
          </a:p>
          <a:p>
            <a:r>
              <a:rPr lang="en-US" dirty="0"/>
              <a:t>**Control the clock in tests**</a:t>
            </a:r>
          </a:p>
          <a:p>
            <a:r>
              <a:rPr lang="en-US" dirty="0"/>
              <a:t>Time is a major source of nondeterminism (token expiry, rate limits, scheduled jobs). Use:</a:t>
            </a:r>
          </a:p>
          <a:p>
            <a:r>
              <a:rPr lang="en-US" dirty="0"/>
              <a:t>- injected clock/time provider,</a:t>
            </a:r>
          </a:p>
          <a:p>
            <a:r>
              <a:rPr lang="en-US" dirty="0"/>
              <a:t>- time-freezing libraries,</a:t>
            </a:r>
          </a:p>
          <a:p>
            <a:r>
              <a:rPr lang="en-US" dirty="0"/>
              <a:t>- configurable token life in test mode.</a:t>
            </a:r>
          </a:p>
          <a:p>
            <a:endParaRPr lang="en-US" dirty="0"/>
          </a:p>
          <a:p>
            <a:r>
              <a:rPr lang="en-US" dirty="0"/>
              <a:t>**Make IDs and random values deterministic**</a:t>
            </a:r>
          </a:p>
          <a:p>
            <a:r>
              <a:rPr lang="en-US" dirty="0"/>
              <a:t>Random IDs can make assertions hard and can create intermittent collisions. In tests:</a:t>
            </a:r>
          </a:p>
          <a:p>
            <a:r>
              <a:rPr lang="en-US" dirty="0"/>
              <a:t>- seed random generators,</a:t>
            </a:r>
          </a:p>
          <a:p>
            <a:r>
              <a:rPr lang="en-US" dirty="0"/>
              <a:t>- use fixed IDs where safe,</a:t>
            </a:r>
          </a:p>
          <a:p>
            <a:r>
              <a:rPr lang="en-US" dirty="0"/>
              <a:t>- capture generated IDs and assert against returned values, not guessed ones.</a:t>
            </a:r>
          </a:p>
          <a:p>
            <a:endParaRPr lang="en-US" dirty="0"/>
          </a:p>
          <a:p>
            <a:r>
              <a:rPr lang="en-US" dirty="0"/>
              <a:t>**Reset test state reliably**</a:t>
            </a:r>
          </a:p>
          <a:p>
            <a:r>
              <a:rPr lang="en-US" dirty="0"/>
              <a:t>State bleed causes false failures. Options:</a:t>
            </a:r>
          </a:p>
          <a:p>
            <a:r>
              <a:rPr lang="en-US" dirty="0"/>
              <a:t>- database rollback per test,</a:t>
            </a:r>
          </a:p>
          <a:p>
            <a:r>
              <a:rPr lang="en-US" dirty="0"/>
              <a:t>- recreate containers,</a:t>
            </a:r>
          </a:p>
          <a:p>
            <a:r>
              <a:rPr lang="en-US" dirty="0"/>
              <a:t>- explicit cleanup scripts,</a:t>
            </a:r>
          </a:p>
          <a:p>
            <a:r>
              <a:rPr lang="en-US" dirty="0"/>
              <a:t>- dedicated test tenants.</a:t>
            </a:r>
          </a:p>
          <a:p>
            <a:endParaRPr lang="en-US" dirty="0"/>
          </a:p>
          <a:p>
            <a:r>
              <a:rPr lang="en-US" dirty="0"/>
              <a:t>**Keep UI tests as a small smoke layer**</a:t>
            </a:r>
          </a:p>
          <a:p>
            <a:r>
              <a:rPr lang="en-US" dirty="0"/>
              <a:t>UI tests are useful when carefully chosen. Keep them few, focused, and stable:</a:t>
            </a:r>
          </a:p>
          <a:p>
            <a:r>
              <a:rPr lang="en-US" dirty="0"/>
              <a:t>- critical journeys only,</a:t>
            </a:r>
          </a:p>
          <a:p>
            <a:r>
              <a:rPr lang="en-US" dirty="0"/>
              <a:t>- robust selectors (data-</a:t>
            </a:r>
            <a:r>
              <a:rPr lang="en-US" dirty="0" err="1"/>
              <a:t>testid</a:t>
            </a:r>
            <a:r>
              <a:rPr lang="en-US" dirty="0"/>
              <a:t>),</a:t>
            </a:r>
          </a:p>
          <a:p>
            <a:r>
              <a:rPr lang="en-US" dirty="0"/>
              <a:t>- avoid brittle visual checks unless intentional.</a:t>
            </a:r>
          </a:p>
          <a:p>
            <a:endParaRPr lang="en-US" dirty="0"/>
          </a:p>
          <a:p>
            <a:r>
              <a:rPr lang="en-US" dirty="0"/>
              <a:t>**Bridge**</a:t>
            </a:r>
          </a:p>
          <a:p>
            <a:r>
              <a:rPr lang="en-US" dirty="0"/>
              <a:t>Now that we know stability practices, give a quick checklist for scenario quality so teams can self-review.</a:t>
            </a:r>
          </a:p>
        </p:txBody>
      </p:sp>
      <p:sp>
        <p:nvSpPr>
          <p:cNvPr id="4" name="Slide Number Placeholder 3"/>
          <p:cNvSpPr>
            <a:spLocks noGrp="1"/>
          </p:cNvSpPr>
          <p:nvPr>
            <p:ph type="sldNum" sz="quarter" idx="5"/>
          </p:nvPr>
        </p:nvSpPr>
        <p:spPr/>
        <p:txBody>
          <a:bodyPr/>
          <a:lstStyle/>
          <a:p>
            <a:fld id="{99153D06-F2F5-594F-8302-09F05D8AE5D3}" type="slidenum">
              <a:rPr lang="en-US" smtClean="0"/>
              <a:t>38</a:t>
            </a:fld>
            <a:endParaRPr lang="en-US"/>
          </a:p>
        </p:txBody>
      </p:sp>
    </p:spTree>
    <p:extLst>
      <p:ext uri="{BB962C8B-B14F-4D97-AF65-F5344CB8AC3E}">
        <p14:creationId xmlns:p14="http://schemas.microsoft.com/office/powerpoint/2010/main" val="4737932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scenario “lint” list. Encourage teams to use it during reviews and Three Amigos sessions.</a:t>
            </a:r>
          </a:p>
          <a:p>
            <a:endParaRPr lang="en-US" dirty="0"/>
          </a:p>
          <a:p>
            <a:r>
              <a:rPr lang="en-US" dirty="0"/>
              <a:t>**Readable by a non-dev?**</a:t>
            </a:r>
          </a:p>
          <a:p>
            <a:r>
              <a:rPr lang="en-US" dirty="0"/>
              <a:t>If not, rewrite. Scenarios are shared artifacts. If only engineers can read them, you’ve lost the collaboration benefit.</a:t>
            </a:r>
          </a:p>
          <a:p>
            <a:endParaRPr lang="en-US" dirty="0"/>
          </a:p>
          <a:p>
            <a:r>
              <a:rPr lang="en-US" dirty="0"/>
              <a:t>**Focused on behavior (not UI)?**</a:t>
            </a:r>
          </a:p>
          <a:p>
            <a:r>
              <a:rPr lang="en-US" dirty="0"/>
              <a:t>Ask: does the scenario describe intent and outcome, or button clicks? If it’s UI-driven, move it down or rewrite.</a:t>
            </a:r>
          </a:p>
          <a:p>
            <a:endParaRPr lang="en-US" dirty="0"/>
          </a:p>
          <a:p>
            <a:r>
              <a:rPr lang="en-US" dirty="0"/>
              <a:t>**Outcome specific + observable?**</a:t>
            </a:r>
          </a:p>
          <a:p>
            <a:r>
              <a:rPr lang="en-US" dirty="0"/>
              <a:t>If “Then” is vague, add specificity. Specify messages, codes, side effects, and invariants.</a:t>
            </a:r>
          </a:p>
          <a:p>
            <a:endParaRPr lang="en-US" dirty="0"/>
          </a:p>
          <a:p>
            <a:r>
              <a:rPr lang="en-US" dirty="0"/>
              <a:t>**One main idea?**</a:t>
            </a:r>
          </a:p>
          <a:p>
            <a:r>
              <a:rPr lang="en-US" dirty="0"/>
              <a:t>If you can’t summarize the scenario in one sentence, split it.</a:t>
            </a:r>
          </a:p>
          <a:p>
            <a:endParaRPr lang="en-US" dirty="0"/>
          </a:p>
          <a:p>
            <a:r>
              <a:rPr lang="en-US" dirty="0"/>
              <a:t>**Stable + deterministic?**</a:t>
            </a:r>
          </a:p>
          <a:p>
            <a:r>
              <a:rPr lang="en-US" dirty="0"/>
              <a:t>Check for:</a:t>
            </a:r>
          </a:p>
          <a:p>
            <a:r>
              <a:rPr lang="en-US" dirty="0"/>
              <a:t>- time dependence,</a:t>
            </a:r>
          </a:p>
          <a:p>
            <a:r>
              <a:rPr lang="en-US" dirty="0"/>
              <a:t>- external dependencies,</a:t>
            </a:r>
          </a:p>
          <a:p>
            <a:r>
              <a:rPr lang="en-US" dirty="0"/>
              <a:t>- random data,</a:t>
            </a:r>
          </a:p>
          <a:p>
            <a:r>
              <a:rPr lang="en-US" dirty="0"/>
              <a:t>- shared state.</a:t>
            </a:r>
          </a:p>
          <a:p>
            <a:endParaRPr lang="en-US" dirty="0"/>
          </a:p>
          <a:p>
            <a:r>
              <a:rPr lang="en-US" dirty="0"/>
              <a:t>**Vocabulary consistent?**</a:t>
            </a:r>
          </a:p>
          <a:p>
            <a:r>
              <a:rPr lang="en-US" dirty="0"/>
              <a:t>Ensure terms match product language and code. If there’s disagreement, resolve it now—scenarios become the canonical glossary.</a:t>
            </a:r>
          </a:p>
          <a:p>
            <a:endParaRPr lang="en-US" dirty="0"/>
          </a:p>
          <a:p>
            <a:r>
              <a:rPr lang="en-US" dirty="0"/>
              <a:t>**Has key negative/edge examples where it matters?**</a:t>
            </a:r>
          </a:p>
          <a:p>
            <a:r>
              <a:rPr lang="en-US" dirty="0"/>
              <a:t>Good BDD includes “never happen” rules in scenarios. Don’t let the suite become only happy paths.</a:t>
            </a:r>
          </a:p>
          <a:p>
            <a:endParaRPr lang="en-US" dirty="0"/>
          </a:p>
          <a:p>
            <a:r>
              <a:rPr lang="en-US" dirty="0"/>
              <a:t>**Bridge**</a:t>
            </a:r>
          </a:p>
          <a:p>
            <a:r>
              <a:rPr lang="en-US" dirty="0"/>
              <a:t>Now, briefly cover tooling: tools matter less than quality scenarios and good architecture, but people will ask, so address it.</a:t>
            </a:r>
          </a:p>
        </p:txBody>
      </p:sp>
      <p:sp>
        <p:nvSpPr>
          <p:cNvPr id="4" name="Slide Number Placeholder 3"/>
          <p:cNvSpPr>
            <a:spLocks noGrp="1"/>
          </p:cNvSpPr>
          <p:nvPr>
            <p:ph type="sldNum" sz="quarter" idx="5"/>
          </p:nvPr>
        </p:nvSpPr>
        <p:spPr/>
        <p:txBody>
          <a:bodyPr/>
          <a:lstStyle/>
          <a:p>
            <a:fld id="{99153D06-F2F5-594F-8302-09F05D8AE5D3}" type="slidenum">
              <a:rPr lang="en-US" smtClean="0"/>
              <a:t>39</a:t>
            </a:fld>
            <a:endParaRPr lang="en-US"/>
          </a:p>
        </p:txBody>
      </p:sp>
    </p:spTree>
    <p:extLst>
      <p:ext uri="{BB962C8B-B14F-4D97-AF65-F5344CB8AC3E}">
        <p14:creationId xmlns:p14="http://schemas.microsoft.com/office/powerpoint/2010/main" val="22974992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keeps the focus on principles while acknowledging practical tooling.</a:t>
            </a:r>
          </a:p>
          <a:p>
            <a:endParaRPr lang="en-US" dirty="0"/>
          </a:p>
          <a:p>
            <a:r>
              <a:rPr lang="en-US" dirty="0"/>
              <a:t>**Gherkin-based tools**</a:t>
            </a:r>
          </a:p>
          <a:p>
            <a:r>
              <a:rPr lang="en-US" dirty="0"/>
              <a:t>Mention representative tools:</a:t>
            </a:r>
          </a:p>
          <a:p>
            <a:r>
              <a:rPr lang="en-US" dirty="0"/>
              <a:t>- Cucumber (JVM, JS, Ruby, etc.)</a:t>
            </a:r>
          </a:p>
          <a:p>
            <a:r>
              <a:rPr lang="en-US" dirty="0"/>
              <a:t>- </a:t>
            </a:r>
            <a:r>
              <a:rPr lang="en-US" dirty="0" err="1"/>
              <a:t>SpecFlow</a:t>
            </a:r>
            <a:r>
              <a:rPr lang="en-US" dirty="0"/>
              <a:t> (.NET)</a:t>
            </a:r>
          </a:p>
          <a:p>
            <a:r>
              <a:rPr lang="en-US" dirty="0"/>
              <a:t>- Behave (Python)</a:t>
            </a:r>
          </a:p>
          <a:p>
            <a:r>
              <a:rPr lang="en-US" dirty="0"/>
              <a:t>Explain that they all implement the same idea: parse Gherkin, map steps to code, execute.</a:t>
            </a:r>
          </a:p>
          <a:p>
            <a:endParaRPr lang="en-US" dirty="0"/>
          </a:p>
          <a:p>
            <a:r>
              <a:rPr lang="en-US" dirty="0"/>
              <a:t>**You can do BDD without Gherkin**</a:t>
            </a:r>
          </a:p>
          <a:p>
            <a:r>
              <a:rPr lang="en-US" dirty="0"/>
              <a:t>This is important to reduce dogma. You can:</a:t>
            </a:r>
          </a:p>
          <a:p>
            <a:r>
              <a:rPr lang="en-US" dirty="0"/>
              <a:t>- write examples as tables,</a:t>
            </a:r>
          </a:p>
          <a:p>
            <a:r>
              <a:rPr lang="en-US" dirty="0"/>
              <a:t>- use approval tests,</a:t>
            </a:r>
          </a:p>
          <a:p>
            <a:r>
              <a:rPr lang="en-US" dirty="0"/>
              <a:t>- use </a:t>
            </a:r>
            <a:r>
              <a:rPr lang="en-US" dirty="0" err="1"/>
              <a:t>RSpec</a:t>
            </a:r>
            <a:r>
              <a:rPr lang="en-US" dirty="0"/>
              <a:t>-style specs,</a:t>
            </a:r>
          </a:p>
          <a:p>
            <a:r>
              <a:rPr lang="en-US" dirty="0"/>
              <a:t>- document scenarios in tickets and automate via API tests.</a:t>
            </a:r>
          </a:p>
          <a:p>
            <a:r>
              <a:rPr lang="en-US" dirty="0"/>
              <a:t>BDD is about the conversation and examples; Gherkin is one convenient format.</a:t>
            </a:r>
          </a:p>
          <a:p>
            <a:endParaRPr lang="en-US" dirty="0"/>
          </a:p>
          <a:p>
            <a:r>
              <a:rPr lang="en-US" dirty="0"/>
              <a:t>**Tool choice matters less than…**</a:t>
            </a:r>
          </a:p>
          <a:p>
            <a:r>
              <a:rPr lang="en-US" dirty="0"/>
              <a:t>- scenario quality,</a:t>
            </a:r>
          </a:p>
          <a:p>
            <a:r>
              <a:rPr lang="en-US" dirty="0"/>
              <a:t>- architecture that supports testability,</a:t>
            </a:r>
          </a:p>
          <a:p>
            <a:r>
              <a:rPr lang="en-US" dirty="0"/>
              <a:t>- stable, deterministic test environment,</a:t>
            </a:r>
          </a:p>
          <a:p>
            <a:r>
              <a:rPr lang="en-US" dirty="0"/>
              <a:t>- disciplined refactoring of steps and fixtures.</a:t>
            </a:r>
          </a:p>
          <a:p>
            <a:endParaRPr lang="en-US" dirty="0"/>
          </a:p>
          <a:p>
            <a:r>
              <a:rPr lang="en-US" dirty="0"/>
              <a:t>**Selection guidance**</a:t>
            </a:r>
          </a:p>
          <a:p>
            <a:r>
              <a:rPr lang="en-US" dirty="0"/>
              <a:t>If teams are new:</a:t>
            </a:r>
          </a:p>
          <a:p>
            <a:r>
              <a:rPr lang="en-US" dirty="0"/>
              <a:t>- pick tooling already familiar in your ecosystem,</a:t>
            </a:r>
          </a:p>
          <a:p>
            <a:r>
              <a:rPr lang="en-US" dirty="0"/>
              <a:t>- integrate with CI and reporting,</a:t>
            </a:r>
          </a:p>
          <a:p>
            <a:r>
              <a:rPr lang="en-US" dirty="0"/>
              <a:t>- ensure non-</a:t>
            </a:r>
            <a:r>
              <a:rPr lang="en-US" dirty="0" err="1"/>
              <a:t>devs</a:t>
            </a:r>
            <a:r>
              <a:rPr lang="en-US" dirty="0"/>
              <a:t> can view results (HTML reports, dashboards),</a:t>
            </a:r>
          </a:p>
          <a:p>
            <a:r>
              <a:rPr lang="en-US" dirty="0"/>
              <a:t>- prioritize fast local runs.</a:t>
            </a:r>
          </a:p>
          <a:p>
            <a:endParaRPr lang="en-US" dirty="0"/>
          </a:p>
          <a:p>
            <a:r>
              <a:rPr lang="en-US" dirty="0"/>
              <a:t>**Bridge**</a:t>
            </a:r>
          </a:p>
          <a:p>
            <a:r>
              <a:rPr lang="en-US" dirty="0"/>
              <a:t>The next slide (automation level) is where tooling becomes tactical: you choose what and where to automate, then pick tools accordingly.</a:t>
            </a:r>
          </a:p>
        </p:txBody>
      </p:sp>
      <p:sp>
        <p:nvSpPr>
          <p:cNvPr id="4" name="Slide Number Placeholder 3"/>
          <p:cNvSpPr>
            <a:spLocks noGrp="1"/>
          </p:cNvSpPr>
          <p:nvPr>
            <p:ph type="sldNum" sz="quarter" idx="5"/>
          </p:nvPr>
        </p:nvSpPr>
        <p:spPr/>
        <p:txBody>
          <a:bodyPr/>
          <a:lstStyle/>
          <a:p>
            <a:fld id="{99153D06-F2F5-594F-8302-09F05D8AE5D3}" type="slidenum">
              <a:rPr lang="en-US" smtClean="0"/>
              <a:t>40</a:t>
            </a:fld>
            <a:endParaRPr lang="en-US"/>
          </a:p>
        </p:txBody>
      </p:sp>
    </p:spTree>
    <p:extLst>
      <p:ext uri="{BB962C8B-B14F-4D97-AF65-F5344CB8AC3E}">
        <p14:creationId xmlns:p14="http://schemas.microsoft.com/office/powerpoint/2010/main" val="4906362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decision framework: *what level should we automate at?* The right answer is contextual.</a:t>
            </a:r>
          </a:p>
          <a:p>
            <a:endParaRPr lang="en-US" dirty="0"/>
          </a:p>
          <a:p>
            <a:r>
              <a:rPr lang="en-US" dirty="0"/>
              <a:t>**Introduce the decision criteria**</a:t>
            </a:r>
          </a:p>
          <a:p>
            <a:r>
              <a:rPr lang="en-US" dirty="0"/>
              <a:t>- **Stability of interface**: domain/service interfaces are usually more stable than UI.  </a:t>
            </a:r>
          </a:p>
          <a:p>
            <a:r>
              <a:rPr lang="en-US" dirty="0"/>
              <a:t>- **Cost of failure**: high-risk flows deserve stronger automation.  </a:t>
            </a:r>
          </a:p>
          <a:p>
            <a:r>
              <a:rPr lang="en-US" dirty="0"/>
              <a:t>- **Speed requirements**: CI feedback must be quick.  </a:t>
            </a:r>
          </a:p>
          <a:p>
            <a:r>
              <a:rPr lang="en-US" dirty="0"/>
              <a:t>- **Diagnostic value**: failing tests should point to a cause, not just “something broke.”  </a:t>
            </a:r>
          </a:p>
          <a:p>
            <a:r>
              <a:rPr lang="en-US" dirty="0"/>
              <a:t>- **Coverage needs**: rules need breadth; workflows need representative paths.</a:t>
            </a:r>
          </a:p>
          <a:p>
            <a:endParaRPr lang="en-US" dirty="0"/>
          </a:p>
          <a:p>
            <a:r>
              <a:rPr lang="en-US" dirty="0"/>
              <a:t>**Practical mapping**</a:t>
            </a:r>
          </a:p>
          <a:p>
            <a:r>
              <a:rPr lang="en-US" dirty="0"/>
              <a:t>- Complex business rules → unit tests with BDD-style naming/scenarios.  </a:t>
            </a:r>
          </a:p>
          <a:p>
            <a:r>
              <a:rPr lang="en-US" dirty="0"/>
              <a:t>- Cross-component workflows → service/API tests.  </a:t>
            </a:r>
          </a:p>
          <a:p>
            <a:r>
              <a:rPr lang="en-US" dirty="0"/>
              <a:t>- Critical end-user journeys → a few UI checks.</a:t>
            </a:r>
          </a:p>
          <a:p>
            <a:endParaRPr lang="en-US" dirty="0"/>
          </a:p>
          <a:p>
            <a:r>
              <a:rPr lang="en-US" dirty="0"/>
              <a:t>**Explain the “portfolio” approach**</a:t>
            </a:r>
          </a:p>
          <a:p>
            <a:r>
              <a:rPr lang="en-US" dirty="0"/>
              <a:t>A mature test suite is a portfolio:</a:t>
            </a:r>
          </a:p>
          <a:p>
            <a:r>
              <a:rPr lang="en-US" dirty="0"/>
              <a:t>- many cheap checks,</a:t>
            </a:r>
          </a:p>
          <a:p>
            <a:r>
              <a:rPr lang="en-US" dirty="0"/>
              <a:t>- some medium-cost checks,</a:t>
            </a:r>
          </a:p>
          <a:p>
            <a:r>
              <a:rPr lang="en-US" dirty="0"/>
              <a:t>- few expensive checks.</a:t>
            </a:r>
          </a:p>
          <a:p>
            <a:r>
              <a:rPr lang="en-US" dirty="0"/>
              <a:t>BDD scenarios help define *what* needs checking; the pyramid helps decide *how*.</a:t>
            </a:r>
          </a:p>
          <a:p>
            <a:endParaRPr lang="en-US" dirty="0"/>
          </a:p>
          <a:p>
            <a:r>
              <a:rPr lang="en-US" dirty="0"/>
              <a:t>**Bridge**</a:t>
            </a:r>
          </a:p>
          <a:p>
            <a:r>
              <a:rPr lang="en-US" dirty="0"/>
              <a:t>Next slide connects the portfolio to CI/CD and living documentation—so BDD is not just local tests, but a continuous quality signal.</a:t>
            </a:r>
          </a:p>
        </p:txBody>
      </p:sp>
      <p:sp>
        <p:nvSpPr>
          <p:cNvPr id="4" name="Slide Number Placeholder 3"/>
          <p:cNvSpPr>
            <a:spLocks noGrp="1"/>
          </p:cNvSpPr>
          <p:nvPr>
            <p:ph type="sldNum" sz="quarter" idx="5"/>
          </p:nvPr>
        </p:nvSpPr>
        <p:spPr/>
        <p:txBody>
          <a:bodyPr/>
          <a:lstStyle/>
          <a:p>
            <a:fld id="{99153D06-F2F5-594F-8302-09F05D8AE5D3}" type="slidenum">
              <a:rPr lang="en-US" smtClean="0"/>
              <a:t>41</a:t>
            </a:fld>
            <a:endParaRPr lang="en-US"/>
          </a:p>
        </p:txBody>
      </p:sp>
    </p:spTree>
    <p:extLst>
      <p:ext uri="{BB962C8B-B14F-4D97-AF65-F5344CB8AC3E}">
        <p14:creationId xmlns:p14="http://schemas.microsoft.com/office/powerpoint/2010/main" val="31558158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links BDD to delivery: CI/CD and living documentation.</a:t>
            </a:r>
          </a:p>
          <a:p>
            <a:endParaRPr lang="en-US" dirty="0"/>
          </a:p>
          <a:p>
            <a:r>
              <a:rPr lang="en-US" dirty="0"/>
              <a:t>**CI/CD**</a:t>
            </a:r>
          </a:p>
          <a:p>
            <a:r>
              <a:rPr lang="en-US" dirty="0"/>
              <a:t>Explain the purpose: every change should run a set of automated checks that quickly signal whether behavior is still correct. BDD scenarios that are automated become part of that gate.</a:t>
            </a:r>
          </a:p>
          <a:p>
            <a:endParaRPr lang="en-US" dirty="0"/>
          </a:p>
          <a:p>
            <a:r>
              <a:rPr lang="en-US" dirty="0"/>
              <a:t>**Living documentation**</a:t>
            </a:r>
          </a:p>
          <a:p>
            <a:r>
              <a:rPr lang="en-US" dirty="0"/>
              <a:t>Define it operationally: documentation that updates because tests run. If a scenario is out of date, it fails (or becomes obviously inconsistent), forcing reconciliation. This is the opposite of static docs that rot.</a:t>
            </a:r>
          </a:p>
          <a:p>
            <a:endParaRPr lang="en-US" dirty="0"/>
          </a:p>
          <a:p>
            <a:r>
              <a:rPr lang="en-US" dirty="0"/>
              <a:t>**How to make it real**</a:t>
            </a:r>
          </a:p>
          <a:p>
            <a:r>
              <a:rPr lang="en-US" dirty="0"/>
              <a:t>- Generate reports from scenario runs (feature/scenario pass/fail).</a:t>
            </a:r>
          </a:p>
          <a:p>
            <a:r>
              <a:rPr lang="en-US" dirty="0"/>
              <a:t>- Host them where stakeholders can see them.</a:t>
            </a:r>
          </a:p>
          <a:p>
            <a:r>
              <a:rPr lang="en-US" dirty="0"/>
              <a:t>- Keep scenario files close to code to prevent drift.</a:t>
            </a:r>
          </a:p>
          <a:p>
            <a:r>
              <a:rPr lang="en-US" dirty="0"/>
              <a:t>- Review scenario changes in pull requests like code changes.</a:t>
            </a:r>
          </a:p>
          <a:p>
            <a:endParaRPr lang="en-US" dirty="0"/>
          </a:p>
          <a:p>
            <a:r>
              <a:rPr lang="en-US" dirty="0"/>
              <a:t>**Important caution**</a:t>
            </a:r>
          </a:p>
          <a:p>
            <a:r>
              <a:rPr lang="en-US" dirty="0"/>
              <a:t>“Living documentation” only works if:</a:t>
            </a:r>
          </a:p>
          <a:p>
            <a:r>
              <a:rPr lang="en-US" dirty="0"/>
              <a:t>- scenarios remain readable,</a:t>
            </a:r>
          </a:p>
          <a:p>
            <a:r>
              <a:rPr lang="en-US" dirty="0"/>
              <a:t>- failures are trusted (low flake),</a:t>
            </a:r>
          </a:p>
          <a:p>
            <a:r>
              <a:rPr lang="en-US" dirty="0"/>
              <a:t>- the organization is willing to maintain them.</a:t>
            </a:r>
          </a:p>
          <a:p>
            <a:r>
              <a:rPr lang="en-US" dirty="0"/>
              <a:t>Otherwise, it becomes “living confusion”.</a:t>
            </a:r>
          </a:p>
          <a:p>
            <a:endParaRPr lang="en-US" dirty="0"/>
          </a:p>
          <a:p>
            <a:r>
              <a:rPr lang="en-US" dirty="0"/>
              <a:t>**Bridge**</a:t>
            </a:r>
          </a:p>
          <a:p>
            <a:r>
              <a:rPr lang="en-US" dirty="0"/>
              <a:t>Now introduce Scenario Outlines: a way to express the same rule across multiple examples without copying scenarios.</a:t>
            </a:r>
          </a:p>
        </p:txBody>
      </p:sp>
      <p:sp>
        <p:nvSpPr>
          <p:cNvPr id="4" name="Slide Number Placeholder 3"/>
          <p:cNvSpPr>
            <a:spLocks noGrp="1"/>
          </p:cNvSpPr>
          <p:nvPr>
            <p:ph type="sldNum" sz="quarter" idx="5"/>
          </p:nvPr>
        </p:nvSpPr>
        <p:spPr/>
        <p:txBody>
          <a:bodyPr/>
          <a:lstStyle/>
          <a:p>
            <a:fld id="{99153D06-F2F5-594F-8302-09F05D8AE5D3}" type="slidenum">
              <a:rPr lang="en-US" smtClean="0"/>
              <a:t>42</a:t>
            </a:fld>
            <a:endParaRPr lang="en-US"/>
          </a:p>
        </p:txBody>
      </p:sp>
    </p:spTree>
    <p:extLst>
      <p:ext uri="{BB962C8B-B14F-4D97-AF65-F5344CB8AC3E}">
        <p14:creationId xmlns:p14="http://schemas.microsoft.com/office/powerpoint/2010/main" val="19854025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**Scenario Outline** as a scaling technique for rule-based behavior.</a:t>
            </a:r>
          </a:p>
          <a:p>
            <a:endParaRPr lang="en-US" dirty="0"/>
          </a:p>
          <a:p>
            <a:r>
              <a:rPr lang="en-US" dirty="0"/>
              <a:t>**Why outlines exist**</a:t>
            </a:r>
          </a:p>
          <a:p>
            <a:r>
              <a:rPr lang="en-US" dirty="0"/>
              <a:t>Many behaviors are “same rule, different values.” Copying the scenario 10 times is noisy and hard to maintain. Outlines let you:</a:t>
            </a:r>
          </a:p>
          <a:p>
            <a:r>
              <a:rPr lang="en-US" dirty="0"/>
              <a:t>- keep the behavior statement once,</a:t>
            </a:r>
          </a:p>
          <a:p>
            <a:r>
              <a:rPr lang="en-US" dirty="0"/>
              <a:t>- provide a table of examples.</a:t>
            </a:r>
          </a:p>
          <a:p>
            <a:endParaRPr lang="en-US" dirty="0"/>
          </a:p>
          <a:p>
            <a:r>
              <a:rPr lang="en-US" dirty="0"/>
              <a:t>**When to use**</a:t>
            </a:r>
          </a:p>
          <a:p>
            <a:r>
              <a:rPr lang="en-US" dirty="0"/>
              <a:t>Outlines are great for:</a:t>
            </a:r>
          </a:p>
          <a:p>
            <a:r>
              <a:rPr lang="en-US" dirty="0"/>
              <a:t>- validation rules (passwords, names, amounts),</a:t>
            </a:r>
          </a:p>
          <a:p>
            <a:r>
              <a:rPr lang="en-US" dirty="0"/>
              <a:t>- permissions matrices,</a:t>
            </a:r>
          </a:p>
          <a:p>
            <a:r>
              <a:rPr lang="en-US" dirty="0"/>
              <a:t>- boundary sets.</a:t>
            </a:r>
          </a:p>
          <a:p>
            <a:endParaRPr lang="en-US" dirty="0"/>
          </a:p>
          <a:p>
            <a:r>
              <a:rPr lang="en-US" dirty="0"/>
              <a:t>**When not to use**</a:t>
            </a:r>
          </a:p>
          <a:p>
            <a:r>
              <a:rPr lang="en-US" dirty="0"/>
              <a:t>Avoid outlines when:</a:t>
            </a:r>
          </a:p>
          <a:p>
            <a:r>
              <a:rPr lang="en-US" dirty="0"/>
              <a:t>- examples are conceptually different behaviors,</a:t>
            </a:r>
          </a:p>
          <a:p>
            <a:r>
              <a:rPr lang="en-US" dirty="0"/>
              <a:t>- the scenario becomes too abstract (“do X with &lt;thing&gt; then &lt;result&gt;”) and loses readability,</a:t>
            </a:r>
          </a:p>
          <a:p>
            <a:r>
              <a:rPr lang="en-US" dirty="0"/>
              <a:t>- the table becomes huge (consider splitting or using unit tests with data-driven frameworks).</a:t>
            </a:r>
          </a:p>
          <a:p>
            <a:endParaRPr lang="en-US" dirty="0"/>
          </a:p>
          <a:p>
            <a:r>
              <a:rPr lang="en-US" dirty="0"/>
              <a:t>**How to keep outlines readable**</a:t>
            </a:r>
          </a:p>
          <a:p>
            <a:r>
              <a:rPr lang="en-US" dirty="0"/>
              <a:t>- Keep the scenario narrative concrete.</a:t>
            </a:r>
          </a:p>
          <a:p>
            <a:r>
              <a:rPr lang="en-US" dirty="0"/>
              <a:t>- Use example values that communicate intent (not random strings).</a:t>
            </a:r>
          </a:p>
          <a:p>
            <a:r>
              <a:rPr lang="en-US" dirty="0"/>
              <a:t>- Prefer 4–8 examples per outline; beyond that, consider multiple outlines or a lower-level rule test.</a:t>
            </a:r>
          </a:p>
          <a:p>
            <a:endParaRPr lang="en-US" dirty="0"/>
          </a:p>
          <a:p>
            <a:r>
              <a:rPr lang="en-US" dirty="0"/>
              <a:t>**Bridge**</a:t>
            </a:r>
          </a:p>
          <a:p>
            <a:r>
              <a:rPr lang="en-US" dirty="0"/>
              <a:t>Next slide shows an outline example for password complexity; use it to reinforce “examples remove ambiguity.”</a:t>
            </a:r>
          </a:p>
        </p:txBody>
      </p:sp>
      <p:sp>
        <p:nvSpPr>
          <p:cNvPr id="4" name="Slide Number Placeholder 3"/>
          <p:cNvSpPr>
            <a:spLocks noGrp="1"/>
          </p:cNvSpPr>
          <p:nvPr>
            <p:ph type="sldNum" sz="quarter" idx="5"/>
          </p:nvPr>
        </p:nvSpPr>
        <p:spPr/>
        <p:txBody>
          <a:bodyPr/>
          <a:lstStyle/>
          <a:p>
            <a:fld id="{99153D06-F2F5-594F-8302-09F05D8AE5D3}" type="slidenum">
              <a:rPr lang="en-US" smtClean="0"/>
              <a:t>43</a:t>
            </a:fld>
            <a:endParaRPr lang="en-US"/>
          </a:p>
        </p:txBody>
      </p:sp>
    </p:spTree>
    <p:extLst>
      <p:ext uri="{BB962C8B-B14F-4D97-AF65-F5344CB8AC3E}">
        <p14:creationId xmlns:p14="http://schemas.microsoft.com/office/powerpoint/2010/main" val="25314517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demonstrate data-driven examples while preserving clarity.</a:t>
            </a:r>
          </a:p>
          <a:p>
            <a:endParaRPr lang="en-US" dirty="0"/>
          </a:p>
          <a:p>
            <a:r>
              <a:rPr lang="en-US" dirty="0"/>
              <a:t>**Walk through the outline**</a:t>
            </a:r>
          </a:p>
          <a:p>
            <a:r>
              <a:rPr lang="en-US" dirty="0"/>
              <a:t>“When a member sets password ‘&lt;password&gt;’ then the result is ‘&lt;result&gt;’.”  </a:t>
            </a:r>
          </a:p>
          <a:p>
            <a:r>
              <a:rPr lang="en-US" dirty="0"/>
              <a:t>Then show the Examples table. Explain that each row is an explicit, reviewable decision.</a:t>
            </a:r>
          </a:p>
          <a:p>
            <a:endParaRPr lang="en-US" dirty="0"/>
          </a:p>
          <a:p>
            <a:r>
              <a:rPr lang="en-US" dirty="0"/>
              <a:t>**Teach how to choose examples**</a:t>
            </a:r>
          </a:p>
          <a:p>
            <a:r>
              <a:rPr lang="en-US" dirty="0"/>
              <a:t>Pick examples that represent:</a:t>
            </a:r>
          </a:p>
          <a:p>
            <a:r>
              <a:rPr lang="en-US" dirty="0"/>
              <a:t>- obvious rejects (too short),</a:t>
            </a:r>
          </a:p>
          <a:p>
            <a:r>
              <a:rPr lang="en-US" dirty="0"/>
              <a:t>- rejects that reveal a specific rule (no symbol),</a:t>
            </a:r>
          </a:p>
          <a:p>
            <a:r>
              <a:rPr lang="en-US" dirty="0"/>
              <a:t>- accepts that demonstrate the target pattern,</a:t>
            </a:r>
          </a:p>
          <a:p>
            <a:r>
              <a:rPr lang="en-US" dirty="0"/>
              <a:t>- boundary cases (exact length limit).</a:t>
            </a:r>
          </a:p>
          <a:p>
            <a:endParaRPr lang="en-US" dirty="0"/>
          </a:p>
          <a:p>
            <a:r>
              <a:rPr lang="en-US" dirty="0"/>
              <a:t>If your organization has security requirements (breached password lists, reuse rules), add rows for those.</a:t>
            </a:r>
          </a:p>
          <a:p>
            <a:endParaRPr lang="en-US" dirty="0"/>
          </a:p>
          <a:p>
            <a:r>
              <a:rPr lang="en-US" dirty="0"/>
              <a:t>**Automation considerations**</a:t>
            </a:r>
          </a:p>
          <a:p>
            <a:r>
              <a:rPr lang="en-US" dirty="0"/>
              <a:t>At what level should this run?</a:t>
            </a:r>
          </a:p>
          <a:p>
            <a:r>
              <a:rPr lang="en-US" dirty="0"/>
              <a:t>- Usually unit/domain level: password policy is business logic and should be tested fast.</a:t>
            </a:r>
          </a:p>
          <a:p>
            <a:r>
              <a:rPr lang="en-US" dirty="0"/>
              <a:t>- Sometimes service-level: if policy is enforced in an API layer or external service.</a:t>
            </a:r>
          </a:p>
          <a:p>
            <a:r>
              <a:rPr lang="en-US" dirty="0"/>
              <a:t>Avoid UI-level for many examples; it will be slow and noisy.</a:t>
            </a:r>
          </a:p>
          <a:p>
            <a:endParaRPr lang="en-US" dirty="0"/>
          </a:p>
          <a:p>
            <a:r>
              <a:rPr lang="en-US" dirty="0"/>
              <a:t>**Make the result precise**</a:t>
            </a:r>
          </a:p>
          <a:p>
            <a:r>
              <a:rPr lang="en-US" dirty="0"/>
              <a:t>“rejected” should map to observable feedback:</a:t>
            </a:r>
          </a:p>
          <a:p>
            <a:r>
              <a:rPr lang="en-US" dirty="0"/>
              <a:t>- error code,</a:t>
            </a:r>
          </a:p>
          <a:p>
            <a:r>
              <a:rPr lang="en-US" dirty="0"/>
              <a:t>- specific validation message key,</a:t>
            </a:r>
          </a:p>
          <a:p>
            <a:r>
              <a:rPr lang="en-US" dirty="0"/>
              <a:t>- list of unmet requirements.</a:t>
            </a:r>
          </a:p>
          <a:p>
            <a:r>
              <a:rPr lang="en-US" dirty="0"/>
              <a:t>Encourage specifying message keys rather than full localized text if localization makes text assertions brittle.</a:t>
            </a:r>
          </a:p>
          <a:p>
            <a:endParaRPr lang="en-US" dirty="0"/>
          </a:p>
          <a:p>
            <a:r>
              <a:rPr lang="en-US" dirty="0"/>
              <a:t>**Bridge**</a:t>
            </a:r>
          </a:p>
          <a:p>
            <a:r>
              <a:rPr lang="en-US" dirty="0"/>
              <a:t>Now that people know how to write and scale scenarios, give them a starter kit: templates and step style guidelines they can adopt immediately.</a:t>
            </a:r>
          </a:p>
        </p:txBody>
      </p:sp>
      <p:sp>
        <p:nvSpPr>
          <p:cNvPr id="4" name="Slide Number Placeholder 3"/>
          <p:cNvSpPr>
            <a:spLocks noGrp="1"/>
          </p:cNvSpPr>
          <p:nvPr>
            <p:ph type="sldNum" sz="quarter" idx="5"/>
          </p:nvPr>
        </p:nvSpPr>
        <p:spPr/>
        <p:txBody>
          <a:bodyPr/>
          <a:lstStyle/>
          <a:p>
            <a:fld id="{99153D06-F2F5-594F-8302-09F05D8AE5D3}" type="slidenum">
              <a:rPr lang="en-US" smtClean="0"/>
              <a:t>44</a:t>
            </a:fld>
            <a:endParaRPr lang="en-US"/>
          </a:p>
        </p:txBody>
      </p:sp>
    </p:spTree>
    <p:extLst>
      <p:ext uri="{BB962C8B-B14F-4D97-AF65-F5344CB8AC3E}">
        <p14:creationId xmlns:p14="http://schemas.microsoft.com/office/powerpoint/2010/main" val="22552187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an actionable “take-home kit.” Treat it like a recipe.</a:t>
            </a:r>
          </a:p>
          <a:p>
            <a:endParaRPr lang="en-US" dirty="0"/>
          </a:p>
          <a:p>
            <a:r>
              <a:rPr lang="en-US" dirty="0"/>
              <a:t>**Feature template: value + 3–8 scenarios max**</a:t>
            </a:r>
          </a:p>
          <a:p>
            <a:r>
              <a:rPr lang="en-US" dirty="0"/>
              <a:t>Explain why: small, coherent feature files are easier to review and keep aligned with capabilities. A feature file should have a clear “value statement” and a limited set of high-signal scenarios.</a:t>
            </a:r>
          </a:p>
          <a:p>
            <a:endParaRPr lang="en-US" dirty="0"/>
          </a:p>
          <a:p>
            <a:r>
              <a:rPr lang="en-US" dirty="0"/>
              <a:t>**Scenario template: Given/When/Then**</a:t>
            </a:r>
          </a:p>
          <a:p>
            <a:r>
              <a:rPr lang="en-US" dirty="0"/>
              <a:t>Reinforce:</a:t>
            </a:r>
          </a:p>
          <a:p>
            <a:r>
              <a:rPr lang="en-US" dirty="0"/>
              <a:t>- Given minimal context,</a:t>
            </a:r>
          </a:p>
          <a:p>
            <a:r>
              <a:rPr lang="en-US" dirty="0"/>
              <a:t>- When one meaningful action,</a:t>
            </a:r>
          </a:p>
          <a:p>
            <a:r>
              <a:rPr lang="en-US" dirty="0"/>
              <a:t>- Then observable result.</a:t>
            </a:r>
          </a:p>
          <a:p>
            <a:endParaRPr lang="en-US" dirty="0"/>
          </a:p>
          <a:p>
            <a:r>
              <a:rPr lang="en-US" dirty="0"/>
              <a:t>Encourage consistent formatting across the team; consistency makes review and automation easier.</a:t>
            </a:r>
          </a:p>
          <a:p>
            <a:endParaRPr lang="en-US" dirty="0"/>
          </a:p>
          <a:p>
            <a:r>
              <a:rPr lang="en-US" dirty="0"/>
              <a:t>**Step style: business actions; avoid click/scroll/wait**</a:t>
            </a:r>
          </a:p>
          <a:p>
            <a:r>
              <a:rPr lang="en-US" dirty="0"/>
              <a:t>Explain that steps represent *domain operations*:</a:t>
            </a:r>
          </a:p>
          <a:p>
            <a:r>
              <a:rPr lang="en-US" dirty="0"/>
              <a:t>- place order,</a:t>
            </a:r>
          </a:p>
          <a:p>
            <a:r>
              <a:rPr lang="en-US" dirty="0"/>
              <a:t>- sign in,</a:t>
            </a:r>
          </a:p>
          <a:p>
            <a:r>
              <a:rPr lang="en-US" dirty="0"/>
              <a:t>- request reset,</a:t>
            </a:r>
          </a:p>
          <a:p>
            <a:r>
              <a:rPr lang="en-US" dirty="0"/>
              <a:t>- approve transaction.</a:t>
            </a:r>
          </a:p>
          <a:p>
            <a:r>
              <a:rPr lang="en-US" dirty="0"/>
              <a:t>Avoid “click”, “scroll”, “wait”, “type” except in explicitly UI-focused scenarios.</a:t>
            </a:r>
          </a:p>
          <a:p>
            <a:endParaRPr lang="en-US" dirty="0"/>
          </a:p>
          <a:p>
            <a:r>
              <a:rPr lang="en-US" dirty="0"/>
              <a:t>**Refactor steps regularly; keep a small helper DSL**</a:t>
            </a:r>
          </a:p>
          <a:p>
            <a:r>
              <a:rPr lang="en-US" dirty="0"/>
              <a:t>Treat step definitions like code:</a:t>
            </a:r>
          </a:p>
          <a:p>
            <a:r>
              <a:rPr lang="en-US" dirty="0"/>
              <a:t>- refactor duplicates,</a:t>
            </a:r>
          </a:p>
          <a:p>
            <a:r>
              <a:rPr lang="en-US" dirty="0"/>
              <a:t>- improve naming,</a:t>
            </a:r>
          </a:p>
          <a:p>
            <a:r>
              <a:rPr lang="en-US" dirty="0"/>
              <a:t>- keep helpers cohesive.</a:t>
            </a:r>
          </a:p>
          <a:p>
            <a:r>
              <a:rPr lang="en-US" dirty="0"/>
              <a:t>Over time, you build a small internal DSL that maps to business language, making scenario automation fast and stable.</a:t>
            </a:r>
          </a:p>
          <a:p>
            <a:endParaRPr lang="en-US" dirty="0"/>
          </a:p>
          <a:p>
            <a:r>
              <a:rPr lang="en-US" dirty="0"/>
              <a:t>**Implementation guidance**</a:t>
            </a:r>
          </a:p>
          <a:p>
            <a:r>
              <a:rPr lang="en-US" dirty="0"/>
              <a:t>- Have a thin “driver” layer for each automation level (domain/service/UI).</a:t>
            </a:r>
          </a:p>
          <a:p>
            <a:r>
              <a:rPr lang="en-US" dirty="0"/>
              <a:t>- Reuse fixtures and factories.</a:t>
            </a:r>
          </a:p>
          <a:p>
            <a:r>
              <a:rPr lang="en-US" dirty="0"/>
              <a:t>- Keep environment setup deterministic.</a:t>
            </a:r>
          </a:p>
          <a:p>
            <a:endParaRPr lang="en-US" dirty="0"/>
          </a:p>
          <a:p>
            <a:r>
              <a:rPr lang="en-US" dirty="0"/>
              <a:t>**Bridge**</a:t>
            </a:r>
          </a:p>
          <a:p>
            <a:r>
              <a:rPr lang="en-US" dirty="0"/>
              <a:t>Wrap up next: summarize the key ideas and tell participants what to do next week to start small.</a:t>
            </a:r>
          </a:p>
        </p:txBody>
      </p:sp>
      <p:sp>
        <p:nvSpPr>
          <p:cNvPr id="4" name="Slide Number Placeholder 3"/>
          <p:cNvSpPr>
            <a:spLocks noGrp="1"/>
          </p:cNvSpPr>
          <p:nvPr>
            <p:ph type="sldNum" sz="quarter" idx="5"/>
          </p:nvPr>
        </p:nvSpPr>
        <p:spPr/>
        <p:txBody>
          <a:bodyPr/>
          <a:lstStyle/>
          <a:p>
            <a:fld id="{99153D06-F2F5-594F-8302-09F05D8AE5D3}" type="slidenum">
              <a:rPr lang="en-US" smtClean="0"/>
              <a:t>45</a:t>
            </a:fld>
            <a:endParaRPr lang="en-US"/>
          </a:p>
        </p:txBody>
      </p:sp>
    </p:spTree>
    <p:extLst>
      <p:ext uri="{BB962C8B-B14F-4D97-AF65-F5344CB8AC3E}">
        <p14:creationId xmlns:p14="http://schemas.microsoft.com/office/powerpoint/2010/main" val="28392349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for a crisp recap and a concrete action plan.</a:t>
            </a:r>
          </a:p>
          <a:p>
            <a:endParaRPr lang="en-US" dirty="0"/>
          </a:p>
          <a:p>
            <a:r>
              <a:rPr lang="en-US" dirty="0"/>
              <a:t>**Recap the throughline**</a:t>
            </a:r>
          </a:p>
          <a:p>
            <a:r>
              <a:rPr lang="en-US" dirty="0"/>
              <a:t>- **Discovery**: align early with Three Amigos using questions that uncover behavior and risk.</a:t>
            </a:r>
          </a:p>
          <a:p>
            <a:r>
              <a:rPr lang="en-US" dirty="0"/>
              <a:t>- **Examples**: write concrete scenarios using Given/When/Then, focusing on outcomes and shared vocabulary.</a:t>
            </a:r>
          </a:p>
          <a:p>
            <a:r>
              <a:rPr lang="en-US" dirty="0"/>
              <a:t>- **Confidence**: automate selectively at the right level, keeping checks fast and trusted.</a:t>
            </a:r>
          </a:p>
          <a:p>
            <a:endParaRPr lang="en-US" dirty="0"/>
          </a:p>
          <a:p>
            <a:r>
              <a:rPr lang="en-US" dirty="0"/>
              <a:t>**Suggested “next steps” plan**</a:t>
            </a:r>
          </a:p>
          <a:p>
            <a:r>
              <a:rPr lang="en-US" dirty="0"/>
              <a:t>1) Pick one upcoming feature with known ambiguity or risk.  </a:t>
            </a:r>
          </a:p>
          <a:p>
            <a:r>
              <a:rPr lang="en-US" dirty="0"/>
              <a:t>2) Run a 30‑minute Three Amigos session.  </a:t>
            </a:r>
          </a:p>
          <a:p>
            <a:r>
              <a:rPr lang="en-US" dirty="0"/>
              <a:t>3) Produce 5 scenarios: 2 happy paths, 2 negatives, 1 edge/boundary.  </a:t>
            </a:r>
          </a:p>
          <a:p>
            <a:r>
              <a:rPr lang="en-US" dirty="0"/>
              <a:t>4) Decide automation level per scenario (unit/service/UI).  </a:t>
            </a:r>
          </a:p>
          <a:p>
            <a:r>
              <a:rPr lang="en-US" dirty="0"/>
              <a:t>5) Automate the highest-value 1–2 scenarios first; keep the rest as agreed acceptance criteria.  </a:t>
            </a:r>
          </a:p>
          <a:p>
            <a:r>
              <a:rPr lang="en-US" dirty="0"/>
              <a:t>6) Review and refine after one sprint: what improved? what was costly?</a:t>
            </a:r>
          </a:p>
          <a:p>
            <a:endParaRPr lang="en-US" dirty="0"/>
          </a:p>
          <a:p>
            <a:r>
              <a:rPr lang="en-US" dirty="0"/>
              <a:t>**Organizational tips**</a:t>
            </a:r>
          </a:p>
          <a:p>
            <a:r>
              <a:rPr lang="en-US" dirty="0"/>
              <a:t>- Establish a scenario review habit (like code review).</a:t>
            </a:r>
          </a:p>
          <a:p>
            <a:r>
              <a:rPr lang="en-US" dirty="0"/>
              <a:t>- Keep a shared glossary for ubiquitous language.</a:t>
            </a:r>
          </a:p>
          <a:p>
            <a:r>
              <a:rPr lang="en-US" dirty="0"/>
              <a:t>- Track flake rate and test runtime; treat them as engineering health metrics.</a:t>
            </a:r>
          </a:p>
          <a:p>
            <a:endParaRPr lang="en-US" dirty="0"/>
          </a:p>
          <a:p>
            <a:r>
              <a:rPr lang="en-US" dirty="0"/>
              <a:t>**Bridge**</a:t>
            </a:r>
          </a:p>
          <a:p>
            <a:r>
              <a:rPr lang="en-US" dirty="0"/>
              <a:t>End by inviting Q&amp;A with a reflective prompt (which your final slide already provides).</a:t>
            </a:r>
          </a:p>
          <a:p>
            <a:endParaRPr lang="en-US" dirty="0"/>
          </a:p>
        </p:txBody>
      </p:sp>
      <p:sp>
        <p:nvSpPr>
          <p:cNvPr id="4" name="Slide Number Placeholder 3"/>
          <p:cNvSpPr>
            <a:spLocks noGrp="1"/>
          </p:cNvSpPr>
          <p:nvPr>
            <p:ph type="sldNum" sz="quarter" idx="5"/>
          </p:nvPr>
        </p:nvSpPr>
        <p:spPr/>
        <p:txBody>
          <a:bodyPr/>
          <a:lstStyle/>
          <a:p>
            <a:fld id="{99153D06-F2F5-594F-8302-09F05D8AE5D3}" type="slidenum">
              <a:rPr lang="en-US" smtClean="0"/>
              <a:t>46</a:t>
            </a:fld>
            <a:endParaRPr lang="en-US"/>
          </a:p>
        </p:txBody>
      </p:sp>
    </p:spTree>
    <p:extLst>
      <p:ext uri="{BB962C8B-B14F-4D97-AF65-F5344CB8AC3E}">
        <p14:creationId xmlns:p14="http://schemas.microsoft.com/office/powerpoint/2010/main" val="23584194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Q&amp;A to convert theory into applied learning. The slide’s questions are excellent prompts—treat them as a mini retrospective.</a:t>
            </a:r>
          </a:p>
          <a:p>
            <a:endParaRPr lang="en-US" dirty="0"/>
          </a:p>
          <a:p>
            <a:r>
              <a:rPr lang="en-US" dirty="0"/>
              <a:t>**Prompt 1: “What feels ambiguous?”**</a:t>
            </a:r>
          </a:p>
          <a:p>
            <a:r>
              <a:rPr lang="en-US" dirty="0"/>
              <a:t>Encourage participants to bring a real example:</a:t>
            </a:r>
          </a:p>
          <a:p>
            <a:r>
              <a:rPr lang="en-US" dirty="0"/>
              <a:t>- a ticket with vague acceptance criteria,</a:t>
            </a:r>
          </a:p>
          <a:p>
            <a:r>
              <a:rPr lang="en-US" dirty="0"/>
              <a:t>- a requirement that caused rework,</a:t>
            </a:r>
          </a:p>
          <a:p>
            <a:r>
              <a:rPr lang="en-US" dirty="0"/>
              <a:t>- a bug caused by interpretation differences.</a:t>
            </a:r>
          </a:p>
          <a:p>
            <a:r>
              <a:rPr lang="en-US" dirty="0"/>
              <a:t>Then work live to translate it into 2–3 scenarios.</a:t>
            </a:r>
          </a:p>
          <a:p>
            <a:endParaRPr lang="en-US" dirty="0"/>
          </a:p>
          <a:p>
            <a:r>
              <a:rPr lang="en-US" dirty="0"/>
              <a:t>**Prompt 2: “Where is the pain: unclear requirements or flaky tests?”**</a:t>
            </a:r>
          </a:p>
          <a:p>
            <a:r>
              <a:rPr lang="en-US" dirty="0"/>
              <a:t>Offer guidance based on the answer:</a:t>
            </a:r>
          </a:p>
          <a:p>
            <a:r>
              <a:rPr lang="en-US" dirty="0"/>
              <a:t>- If pain is unclear requirements: focus on Three Amigos and examples before coding; introduce vocabulary and scenario review.  </a:t>
            </a:r>
          </a:p>
          <a:p>
            <a:r>
              <a:rPr lang="en-US" dirty="0"/>
              <a:t>- If pain is flaky tests: focus on automation levels, thin steps, deterministic setup, and shrinking UI test scope.</a:t>
            </a:r>
          </a:p>
          <a:p>
            <a:endParaRPr lang="en-US" dirty="0"/>
          </a:p>
          <a:p>
            <a:r>
              <a:rPr lang="en-US" dirty="0"/>
              <a:t>**Facilitation approach**</a:t>
            </a:r>
          </a:p>
          <a:p>
            <a:r>
              <a:rPr lang="en-US" dirty="0"/>
              <a:t>- Keep answers anchored to behavior and examples, not opinions.</a:t>
            </a:r>
          </a:p>
          <a:p>
            <a:r>
              <a:rPr lang="en-US" dirty="0"/>
              <a:t>- When discussion becomes abstract (“we should improve quality”), ask for the smallest example scenario that captures the issue.</a:t>
            </a:r>
          </a:p>
          <a:p>
            <a:r>
              <a:rPr lang="en-US" dirty="0"/>
              <a:t>- Collect follow-up actions: “We will standardize step style”, “We will add a reset-token expiration scenario”, etc.</a:t>
            </a:r>
          </a:p>
          <a:p>
            <a:endParaRPr lang="en-US" dirty="0"/>
          </a:p>
          <a:p>
            <a:r>
              <a:rPr lang="en-US" dirty="0"/>
              <a:t>**Close strong**</a:t>
            </a:r>
          </a:p>
          <a:p>
            <a:r>
              <a:rPr lang="en-US" dirty="0"/>
              <a:t>Summarize core takeaways in one breath:</a:t>
            </a:r>
          </a:p>
          <a:p>
            <a:r>
              <a:rPr lang="en-US" dirty="0"/>
              <a:t>“BDD is a collaboration habit: discover behavior with the right people, express it with concrete examples, and automate selectively for confidence.”</a:t>
            </a:r>
          </a:p>
          <a:p>
            <a:endParaRPr lang="en-US" dirty="0"/>
          </a:p>
          <a:p>
            <a:r>
              <a:rPr lang="en-US" dirty="0"/>
              <a:t>If this is a workshop, end by assigning a lightweight next action: “Bring one story next week with 5 scenarios drafted.”</a:t>
            </a:r>
          </a:p>
        </p:txBody>
      </p:sp>
      <p:sp>
        <p:nvSpPr>
          <p:cNvPr id="4" name="Slide Number Placeholder 3"/>
          <p:cNvSpPr>
            <a:spLocks noGrp="1"/>
          </p:cNvSpPr>
          <p:nvPr>
            <p:ph type="sldNum" sz="quarter" idx="5"/>
          </p:nvPr>
        </p:nvSpPr>
        <p:spPr/>
        <p:txBody>
          <a:bodyPr/>
          <a:lstStyle/>
          <a:p>
            <a:fld id="{99153D06-F2F5-594F-8302-09F05D8AE5D3}" type="slidenum">
              <a:rPr lang="en-US" smtClean="0"/>
              <a:t>47</a:t>
            </a:fld>
            <a:endParaRPr lang="en-US"/>
          </a:p>
        </p:txBody>
      </p:sp>
    </p:spTree>
    <p:extLst>
      <p:ext uri="{BB962C8B-B14F-4D97-AF65-F5344CB8AC3E}">
        <p14:creationId xmlns:p14="http://schemas.microsoft.com/office/powerpoint/2010/main" val="25611767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0" y="-1"/>
            <a:ext cx="9144000" cy="4572001"/>
          </a:xfrm>
          <a:prstGeom prst="rect">
            <a:avLst/>
          </a:prstGeom>
          <a:blipFill dpi="0" rotWithShape="1">
            <a:blip r:embed="rId2">
              <a:duotone>
                <a:schemeClr val="accent1">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80694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17419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0" name="Rectangle 9"/>
          <p:cNvSpPr/>
          <p:nvPr/>
        </p:nvSpPr>
        <p:spPr>
          <a:xfrm>
            <a:off x="0" y="-1"/>
            <a:ext cx="9144000" cy="4572000"/>
          </a:xfrm>
          <a:prstGeom prst="rect">
            <a:avLst/>
          </a:prstGeom>
          <a:blipFill dpi="0" rotWithShape="1">
            <a:blip r:embed="rId2">
              <a:duotone>
                <a:schemeClr val="accent3">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p:cNvCxnSpPr/>
          <p:nvPr/>
        </p:nvCxnSpPr>
        <p:spPr>
          <a:xfrm flipV="1">
            <a:off x="629013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2281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22529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71488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52515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86467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7160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6856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81955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5921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BCAD085-E8A6-8845-BD4E-CB4CCA059FC4}" type="datetimeFigureOut">
              <a:rPr lang="en-US" smtClean="0"/>
              <a:t>12/4/25</a:t>
            </a:fld>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1FF6DA9-008F-8B48-92A6-B652298478BF}" type="slidenum">
              <a:rPr lang="en-US" smtClean="0"/>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0922219"/>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t>Behavior-Driven Development (BDD)</a:t>
            </a:r>
          </a:p>
        </p:txBody>
      </p:sp>
      <p:sp>
        <p:nvSpPr>
          <p:cNvPr id="3" name="Subtitle 2"/>
          <p:cNvSpPr>
            <a:spLocks noGrp="1"/>
          </p:cNvSpPr>
          <p:nvPr>
            <p:ph type="subTitle" idx="1"/>
          </p:nvPr>
        </p:nvSpPr>
        <p:spPr/>
        <p:txBody>
          <a:bodyPr>
            <a:normAutofit/>
          </a:bodyPr>
          <a:lstStyle/>
          <a:p>
            <a:r>
              <a:rPr dirty="0"/>
              <a:t>A gentle, practical introduction</a:t>
            </a:r>
          </a:p>
          <a:p>
            <a:r>
              <a:rPr dirty="0"/>
              <a:t>(Discovery → Examples → Confidence)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0365A3-9839-4FC6-BFF6-7115C711F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1" y="643467"/>
            <a:ext cx="2561709" cy="5571066"/>
          </a:xfrm>
        </p:spPr>
        <p:txBody>
          <a:bodyPr>
            <a:normAutofit/>
          </a:bodyPr>
          <a:lstStyle/>
          <a:p>
            <a:r>
              <a:rPr lang="en-US">
                <a:solidFill>
                  <a:srgbClr val="FFFFFF"/>
                </a:solidFill>
              </a:rPr>
              <a:t>Why are we here?</a:t>
            </a:r>
          </a:p>
        </p:txBody>
      </p:sp>
      <p:graphicFrame>
        <p:nvGraphicFramePr>
          <p:cNvPr id="5" name="Content Placeholder 2">
            <a:extLst>
              <a:ext uri="{FF2B5EF4-FFF2-40B4-BE49-F238E27FC236}">
                <a16:creationId xmlns:a16="http://schemas.microsoft.com/office/drawing/2014/main" id="{F336499D-74A7-08C1-08E0-31039372A9AD}"/>
              </a:ext>
            </a:extLst>
          </p:cNvPr>
          <p:cNvGraphicFramePr>
            <a:graphicFrameLocks noGrp="1"/>
          </p:cNvGraphicFramePr>
          <p:nvPr>
            <p:ph idx="1"/>
            <p:extLst>
              <p:ext uri="{D42A27DB-BD31-4B8C-83A1-F6EECF244321}">
                <p14:modId xmlns:p14="http://schemas.microsoft.com/office/powerpoint/2010/main" val="1364806678"/>
              </p:ext>
            </p:extLst>
          </p:nvPr>
        </p:nvGraphicFramePr>
        <p:xfrm>
          <a:off x="4202906" y="954088"/>
          <a:ext cx="4231481" cy="4921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Agenda</a:t>
            </a:r>
          </a:p>
        </p:txBody>
      </p:sp>
      <p:graphicFrame>
        <p:nvGraphicFramePr>
          <p:cNvPr id="5" name="Content Placeholder 2">
            <a:extLst>
              <a:ext uri="{FF2B5EF4-FFF2-40B4-BE49-F238E27FC236}">
                <a16:creationId xmlns:a16="http://schemas.microsoft.com/office/drawing/2014/main" id="{97610F02-931A-140D-76D9-5DA0062DE5DF}"/>
              </a:ext>
            </a:extLst>
          </p:cNvPr>
          <p:cNvGraphicFramePr>
            <a:graphicFrameLocks noGrp="1"/>
          </p:cNvGraphicFramePr>
          <p:nvPr>
            <p:ph idx="1"/>
          </p:nvPr>
        </p:nvGraphicFramePr>
        <p:xfrm>
          <a:off x="768096" y="2286000"/>
          <a:ext cx="7290055" cy="4023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4550113" cy="1499616"/>
          </a:xfrm>
        </p:spPr>
        <p:txBody>
          <a:bodyPr>
            <a:normAutofit/>
          </a:bodyPr>
          <a:lstStyle/>
          <a:p>
            <a:r>
              <a:t>BDD in one sentence</a:t>
            </a:r>
          </a:p>
        </p:txBody>
      </p:sp>
      <p:sp>
        <p:nvSpPr>
          <p:cNvPr id="3" name="Content Placeholder 2"/>
          <p:cNvSpPr>
            <a:spLocks noGrp="1"/>
          </p:cNvSpPr>
          <p:nvPr>
            <p:ph idx="1"/>
          </p:nvPr>
        </p:nvSpPr>
        <p:spPr>
          <a:xfrm>
            <a:off x="768096" y="2286000"/>
            <a:ext cx="4550113" cy="4023360"/>
          </a:xfrm>
        </p:spPr>
        <p:txBody>
          <a:bodyPr>
            <a:normAutofit/>
          </a:bodyPr>
          <a:lstStyle/>
          <a:p>
            <a:r>
              <a:t>BDD builds shared understanding of behavior using concrete examples.</a:t>
            </a:r>
          </a:p>
          <a:p>
            <a:r>
              <a:t>Those examples can be automated to prevent regressions.</a:t>
            </a:r>
          </a:p>
        </p:txBody>
      </p:sp>
      <p:pic>
        <p:nvPicPr>
          <p:cNvPr id="5" name="Picture 4" descr="Gray 3D art">
            <a:extLst>
              <a:ext uri="{FF2B5EF4-FFF2-40B4-BE49-F238E27FC236}">
                <a16:creationId xmlns:a16="http://schemas.microsoft.com/office/drawing/2014/main" id="{A5A1AC5F-3896-3A38-2F47-D296F0E60C61}"/>
              </a:ext>
            </a:extLst>
          </p:cNvPr>
          <p:cNvPicPr>
            <a:picLocks noChangeAspect="1"/>
          </p:cNvPicPr>
          <p:nvPr/>
        </p:nvPicPr>
        <p:blipFill>
          <a:blip r:embed="rId3"/>
          <a:srcRect l="17970" r="48540" b="-1"/>
          <a:stretch>
            <a:fillRect/>
          </a:stretch>
        </p:blipFill>
        <p:spPr>
          <a:xfrm>
            <a:off x="5664199" y="10"/>
            <a:ext cx="3479800" cy="68579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a:normAutofit/>
          </a:bodyPr>
          <a:lstStyle/>
          <a:p>
            <a:pPr algn="r"/>
            <a:r>
              <a:rPr lang="en-US">
                <a:solidFill>
                  <a:srgbClr val="FFFFFF"/>
                </a:solidFill>
              </a:rPr>
              <a:t>BDD is NOT…</a:t>
            </a:r>
          </a:p>
        </p:txBody>
      </p:sp>
      <p:sp>
        <p:nvSpPr>
          <p:cNvPr id="3" name="Content Placeholder 2"/>
          <p:cNvSpPr>
            <a:spLocks noGrp="1"/>
          </p:cNvSpPr>
          <p:nvPr>
            <p:ph idx="1"/>
          </p:nvPr>
        </p:nvSpPr>
        <p:spPr>
          <a:xfrm>
            <a:off x="3713286" y="804333"/>
            <a:ext cx="4729502" cy="5249334"/>
          </a:xfrm>
        </p:spPr>
        <p:txBody>
          <a:bodyPr anchor="ctr">
            <a:normAutofit/>
          </a:bodyPr>
          <a:lstStyle/>
          <a:p>
            <a:r>
              <a:t>Not just a testing tool</a:t>
            </a:r>
          </a:p>
          <a:p>
            <a:r>
              <a:t>Not “UI click automation with nicer syntax”</a:t>
            </a:r>
          </a:p>
          <a:p>
            <a:r>
              <a:t>Not “tests after coding”</a:t>
            </a:r>
          </a:p>
          <a:p>
            <a:r>
              <a:t>Not a replacement for unit tests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problem BDD solves</a:t>
            </a:r>
          </a:p>
        </p:txBody>
      </p:sp>
      <p:graphicFrame>
        <p:nvGraphicFramePr>
          <p:cNvPr id="5" name="Content Placeholder 2">
            <a:extLst>
              <a:ext uri="{FF2B5EF4-FFF2-40B4-BE49-F238E27FC236}">
                <a16:creationId xmlns:a16="http://schemas.microsoft.com/office/drawing/2014/main" id="{29649D5D-FEC4-4575-98CE-5AB77CBA3298}"/>
              </a:ext>
            </a:extLst>
          </p:cNvPr>
          <p:cNvGraphicFramePr>
            <a:graphicFrameLocks noGrp="1"/>
          </p:cNvGraphicFramePr>
          <p:nvPr>
            <p:ph idx="1"/>
          </p:nvPr>
        </p:nvGraphicFramePr>
        <p:xfrm>
          <a:off x="768096" y="2286000"/>
          <a:ext cx="7290055" cy="4023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a:normAutofit/>
          </a:bodyPr>
          <a:lstStyle/>
          <a:p>
            <a:pPr algn="r"/>
            <a:r>
              <a:t>What success looks like</a:t>
            </a:r>
            <a:endParaRPr lang="en-US"/>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49497" y="804333"/>
            <a:ext cx="4693291" cy="5249334"/>
          </a:xfrm>
        </p:spPr>
        <p:txBody>
          <a:bodyPr anchor="ctr">
            <a:normAutofit/>
          </a:bodyPr>
          <a:lstStyle/>
          <a:p>
            <a:r>
              <a:t>Product, QA, and devs agree on examples before coding</a:t>
            </a:r>
          </a:p>
          <a:p>
            <a:r>
              <a:t>Scenarios read like real behavior (not test scripts)</a:t>
            </a:r>
          </a:p>
          <a:p>
            <a:r>
              <a:t>Automated checks are fast, stable, and trusted</a:t>
            </a:r>
          </a:p>
          <a:p>
            <a:r>
              <a:t>Docs and checks stay connected (“living documentation”)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4550113" cy="1499616"/>
          </a:xfrm>
        </p:spPr>
        <p:txBody>
          <a:bodyPr>
            <a:normAutofit/>
          </a:bodyPr>
          <a:lstStyle/>
          <a:p>
            <a:r>
              <a:t>Key vocabulary</a:t>
            </a:r>
          </a:p>
        </p:txBody>
      </p:sp>
      <p:sp>
        <p:nvSpPr>
          <p:cNvPr id="3" name="Content Placeholder 2"/>
          <p:cNvSpPr>
            <a:spLocks noGrp="1"/>
          </p:cNvSpPr>
          <p:nvPr>
            <p:ph idx="1"/>
          </p:nvPr>
        </p:nvSpPr>
        <p:spPr>
          <a:xfrm>
            <a:off x="768096" y="2286000"/>
            <a:ext cx="4550113" cy="4023360"/>
          </a:xfrm>
        </p:spPr>
        <p:txBody>
          <a:bodyPr>
            <a:normAutofit/>
          </a:bodyPr>
          <a:lstStyle/>
          <a:p>
            <a:r>
              <a:t>Behavior: how the system responds in a context</a:t>
            </a:r>
          </a:p>
          <a:p>
            <a:r>
              <a:t>Example: context → action → outcome</a:t>
            </a:r>
          </a:p>
          <a:p>
            <a:r>
              <a:t>Ubiquitous language: consistent terms across product + code</a:t>
            </a:r>
          </a:p>
          <a:p>
            <a:r>
              <a:t>Three Amigos: Product + Dev + QA align on examples</a:t>
            </a:r>
          </a:p>
        </p:txBody>
      </p:sp>
      <p:pic>
        <p:nvPicPr>
          <p:cNvPr id="5" name="Picture 4" descr="An abstract design with lines and financial symbols">
            <a:extLst>
              <a:ext uri="{FF2B5EF4-FFF2-40B4-BE49-F238E27FC236}">
                <a16:creationId xmlns:a16="http://schemas.microsoft.com/office/drawing/2014/main" id="{45610CF4-228D-93FE-280D-236B2FB8B619}"/>
              </a:ext>
            </a:extLst>
          </p:cNvPr>
          <p:cNvPicPr>
            <a:picLocks noChangeAspect="1"/>
          </p:cNvPicPr>
          <p:nvPr/>
        </p:nvPicPr>
        <p:blipFill>
          <a:blip r:embed="rId3"/>
          <a:srcRect l="32683" r="33575"/>
          <a:stretch>
            <a:fillRect/>
          </a:stretch>
        </p:blipFill>
        <p:spPr>
          <a:xfrm>
            <a:off x="5664199" y="10"/>
            <a:ext cx="3479800" cy="68579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a:normAutofit/>
          </a:bodyPr>
          <a:lstStyle/>
          <a:p>
            <a:pPr algn="r"/>
            <a:r>
              <a:t>Behavior = context + action + outcome</a:t>
            </a:r>
            <a:endParaRPr lang="en-US"/>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49497" y="804333"/>
            <a:ext cx="4693291" cy="5249334"/>
          </a:xfrm>
        </p:spPr>
        <p:txBody>
          <a:bodyPr anchor="ctr">
            <a:normAutofit/>
          </a:bodyPr>
          <a:lstStyle/>
          <a:p>
            <a:r>
              <a:t>Example pattern:</a:t>
            </a:r>
          </a:p>
          <a:p>
            <a:pPr lvl="1"/>
            <a:r>
              <a:t>Given the account is locked</a:t>
            </a:r>
          </a:p>
          <a:p>
            <a:pPr lvl="1"/>
            <a:r>
              <a:t>When the user tries to sign in</a:t>
            </a:r>
          </a:p>
          <a:p>
            <a:pPr lvl="1"/>
            <a:r>
              <a:t>Then access is denied with a clear message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BF2ABC8-4FD6-4B60-92A7-BB3BEE3C1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8096" y="585216"/>
            <a:ext cx="6013704" cy="1499616"/>
          </a:xfrm>
        </p:spPr>
        <p:txBody>
          <a:bodyPr>
            <a:normAutofit/>
          </a:bodyPr>
          <a:lstStyle/>
          <a:p>
            <a:r>
              <a:t>Examples remove ambiguity</a:t>
            </a:r>
          </a:p>
        </p:txBody>
      </p:sp>
      <p:cxnSp>
        <p:nvCxnSpPr>
          <p:cNvPr id="10" name="Straight Connector 9">
            <a:extLst>
              <a:ext uri="{FF2B5EF4-FFF2-40B4-BE49-F238E27FC236}">
                <a16:creationId xmlns:a16="http://schemas.microsoft.com/office/drawing/2014/main" id="{DCD479D3-536C-4161-A6F8-813D30719B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768096" y="2286000"/>
            <a:ext cx="6013703" cy="4023360"/>
          </a:xfrm>
        </p:spPr>
        <p:txBody>
          <a:bodyPr>
            <a:normAutofit/>
          </a:bodyPr>
          <a:lstStyle/>
          <a:p>
            <a:r>
              <a:t>Instead of: “validate password complexity”</a:t>
            </a:r>
          </a:p>
          <a:p>
            <a:r>
              <a:t>Use examples that show accepted/rejected passwords</a:t>
            </a:r>
          </a:p>
          <a:p>
            <a:r>
              <a:t>Examples become acceptance criteria everyone can agree on</a:t>
            </a:r>
          </a:p>
        </p:txBody>
      </p:sp>
      <p:sp>
        <p:nvSpPr>
          <p:cNvPr id="12" name="Rectangle 11">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5601"/>
            <a:ext cx="171519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4394539"/>
            <a:ext cx="171519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normAutofit/>
          </a:bodyPr>
          <a:lstStyle/>
          <a:p>
            <a:r>
              <a:t>Discovery (3 Amigos)</a:t>
            </a:r>
          </a:p>
        </p:txBody>
      </p:sp>
      <p:graphicFrame>
        <p:nvGraphicFramePr>
          <p:cNvPr id="5" name="Content Placeholder 2">
            <a:extLst>
              <a:ext uri="{FF2B5EF4-FFF2-40B4-BE49-F238E27FC236}">
                <a16:creationId xmlns:a16="http://schemas.microsoft.com/office/drawing/2014/main" id="{64FAD1A8-395E-441E-5887-270C99403F1D}"/>
              </a:ext>
            </a:extLst>
          </p:cNvPr>
          <p:cNvGraphicFramePr>
            <a:graphicFrameLocks noGrp="1"/>
          </p:cNvGraphicFramePr>
          <p:nvPr>
            <p:ph idx="1"/>
            <p:extLst>
              <p:ext uri="{D42A27DB-BD31-4B8C-83A1-F6EECF244321}">
                <p14:modId xmlns:p14="http://schemas.microsoft.com/office/powerpoint/2010/main" val="2959921779"/>
              </p:ext>
            </p:extLst>
          </p:nvPr>
        </p:nvGraphicFramePr>
        <p:xfrm>
          <a:off x="767953" y="2286000"/>
          <a:ext cx="7290197"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4550113" cy="1499616"/>
          </a:xfrm>
        </p:spPr>
        <p:txBody>
          <a:bodyPr>
            <a:normAutofit/>
          </a:bodyPr>
          <a:lstStyle/>
          <a:p>
            <a:r>
              <a:t>Questions that uncover behavior</a:t>
            </a:r>
          </a:p>
        </p:txBody>
      </p:sp>
      <p:sp>
        <p:nvSpPr>
          <p:cNvPr id="3" name="Content Placeholder 2"/>
          <p:cNvSpPr>
            <a:spLocks noGrp="1"/>
          </p:cNvSpPr>
          <p:nvPr>
            <p:ph idx="1"/>
          </p:nvPr>
        </p:nvSpPr>
        <p:spPr>
          <a:xfrm>
            <a:off x="768096" y="2286000"/>
            <a:ext cx="4550113" cy="4023360"/>
          </a:xfrm>
        </p:spPr>
        <p:txBody>
          <a:bodyPr>
            <a:normAutofit/>
          </a:bodyPr>
          <a:lstStyle/>
          <a:p>
            <a:r>
              <a:t>What triggers this behavior?</a:t>
            </a:r>
          </a:p>
          <a:p>
            <a:r>
              <a:t>What must be true before it happens?</a:t>
            </a:r>
          </a:p>
          <a:p>
            <a:r>
              <a:t>What should users see/experience?</a:t>
            </a:r>
          </a:p>
          <a:p>
            <a:r>
              <a:t>What should NEVER happen?</a:t>
            </a:r>
          </a:p>
          <a:p>
            <a:r>
              <a:t>What edge cases are risky?</a:t>
            </a:r>
          </a:p>
        </p:txBody>
      </p:sp>
      <p:pic>
        <p:nvPicPr>
          <p:cNvPr id="5" name="Picture 4" descr="Wood human figure">
            <a:extLst>
              <a:ext uri="{FF2B5EF4-FFF2-40B4-BE49-F238E27FC236}">
                <a16:creationId xmlns:a16="http://schemas.microsoft.com/office/drawing/2014/main" id="{3DEB3E9B-DF32-28D6-CCAB-8A9C5298AC1A}"/>
              </a:ext>
            </a:extLst>
          </p:cNvPr>
          <p:cNvPicPr>
            <a:picLocks noChangeAspect="1"/>
          </p:cNvPicPr>
          <p:nvPr/>
        </p:nvPicPr>
        <p:blipFill>
          <a:blip r:embed="rId3"/>
          <a:srcRect l="7779" r="58351" b="-1"/>
          <a:stretch>
            <a:fillRect/>
          </a:stretch>
        </p:blipFill>
        <p:spPr>
          <a:xfrm>
            <a:off x="5664199" y="10"/>
            <a:ext cx="3479800" cy="68579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Freeform 16">
            <a:extLst>
              <a:ext uri="{FF2B5EF4-FFF2-40B4-BE49-F238E27FC236}">
                <a16:creationId xmlns:a16="http://schemas.microsoft.com/office/drawing/2014/main" id="{D654DB25-410A-44B7-8058-3193D21EAF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custGeom>
            <a:avLst/>
            <a:gdLst>
              <a:gd name="connsiteX0" fmla="*/ 0 w 3096136"/>
              <a:gd name="connsiteY0" fmla="*/ 0 h 5856137"/>
              <a:gd name="connsiteX1" fmla="*/ 3096136 w 3096136"/>
              <a:gd name="connsiteY1" fmla="*/ 0 h 5856137"/>
              <a:gd name="connsiteX2" fmla="*/ 3096136 w 3096136"/>
              <a:gd name="connsiteY2" fmla="*/ 5856137 h 5856137"/>
              <a:gd name="connsiteX3" fmla="*/ 0 w 3096136"/>
              <a:gd name="connsiteY3" fmla="*/ 5856137 h 5856137"/>
            </a:gdLst>
            <a:ahLst/>
            <a:cxnLst>
              <a:cxn ang="0">
                <a:pos x="connsiteX0" y="connsiteY0"/>
              </a:cxn>
              <a:cxn ang="0">
                <a:pos x="connsiteX1" y="connsiteY1"/>
              </a:cxn>
              <a:cxn ang="0">
                <a:pos x="connsiteX2" y="connsiteY2"/>
              </a:cxn>
              <a:cxn ang="0">
                <a:pos x="connsiteX3" y="connsiteY3"/>
              </a:cxn>
            </a:cxnLst>
            <a:rect l="l" t="t" r="r" b="b"/>
            <a:pathLst>
              <a:path w="3096136" h="5856137">
                <a:moveTo>
                  <a:pt x="0" y="0"/>
                </a:moveTo>
                <a:lnTo>
                  <a:pt x="3096136" y="0"/>
                </a:lnTo>
                <a:lnTo>
                  <a:pt x="3096136" y="5856137"/>
                </a:lnTo>
                <a:lnTo>
                  <a:pt x="0" y="5856137"/>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endParaRPr>
          </a:p>
        </p:txBody>
      </p:sp>
      <p:sp>
        <p:nvSpPr>
          <p:cNvPr id="10" name="Rectangle 9">
            <a:extLst>
              <a:ext uri="{FF2B5EF4-FFF2-40B4-BE49-F238E27FC236}">
                <a16:creationId xmlns:a16="http://schemas.microsoft.com/office/drawing/2014/main" id="{9FAFEBEB-E7DF-4119-99EC-3C2C5F3C7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60" y="321731"/>
            <a:ext cx="4266015" cy="6214535"/>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748" y="965200"/>
            <a:ext cx="3517454" cy="4815596"/>
          </a:xfrm>
        </p:spPr>
        <p:txBody>
          <a:bodyPr>
            <a:normAutofit/>
          </a:bodyPr>
          <a:lstStyle/>
          <a:p>
            <a:pPr algn="r"/>
            <a:r>
              <a:rPr lang="en-US">
                <a:solidFill>
                  <a:srgbClr val="FFFFFF"/>
                </a:solidFill>
              </a:rPr>
              <a:t>Gherkin: what it’s for</a:t>
            </a:r>
          </a:p>
        </p:txBody>
      </p:sp>
      <p:sp>
        <p:nvSpPr>
          <p:cNvPr id="12" name="Rectangle 11">
            <a:extLst>
              <a:ext uri="{FF2B5EF4-FFF2-40B4-BE49-F238E27FC236}">
                <a16:creationId xmlns:a16="http://schemas.microsoft.com/office/drawing/2014/main" id="{8E25F227-C9F5-44BC-8ECE-188763D85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2325" y="321732"/>
            <a:ext cx="4270376" cy="62145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995798" y="974875"/>
            <a:ext cx="3543430" cy="4852362"/>
          </a:xfrm>
        </p:spPr>
        <p:txBody>
          <a:bodyPr anchor="ctr">
            <a:normAutofit/>
          </a:bodyPr>
          <a:lstStyle/>
          <a:p>
            <a:r>
              <a:rPr lang="en-US">
                <a:solidFill>
                  <a:srgbClr val="FFFFFF"/>
                </a:solidFill>
              </a:rPr>
              <a:t>A readable format for examples</a:t>
            </a:r>
          </a:p>
          <a:p>
            <a:r>
              <a:rPr lang="en-US">
                <a:solidFill>
                  <a:srgbClr val="FFFFFF"/>
                </a:solidFill>
              </a:rPr>
              <a:t>Encourages consistent scenario shape</a:t>
            </a:r>
          </a:p>
          <a:p>
            <a:r>
              <a:rPr lang="en-US">
                <a:solidFill>
                  <a:srgbClr val="FFFFFF"/>
                </a:solidFill>
              </a:rPr>
              <a:t>Can be automated with Cucumber-style tools</a:t>
            </a:r>
          </a:p>
          <a:p>
            <a:r>
              <a:rPr lang="en-US">
                <a:solidFill>
                  <a:srgbClr val="FFFFFF"/>
                </a:solidFill>
              </a:rPr>
              <a:t>Communication first, automation second</a:t>
            </a:r>
          </a:p>
        </p:txBody>
      </p:sp>
    </p:spTree>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a:normAutofit/>
          </a:bodyPr>
          <a:lstStyle/>
          <a:p>
            <a:pPr algn="r"/>
            <a:r>
              <a:rPr lang="en-US">
                <a:solidFill>
                  <a:srgbClr val="FFFFFF"/>
                </a:solidFill>
              </a:rPr>
              <a:t>Gherkin structure</a:t>
            </a:r>
          </a:p>
        </p:txBody>
      </p:sp>
      <p:sp>
        <p:nvSpPr>
          <p:cNvPr id="3" name="Content Placeholder 2"/>
          <p:cNvSpPr>
            <a:spLocks noGrp="1"/>
          </p:cNvSpPr>
          <p:nvPr>
            <p:ph idx="1"/>
          </p:nvPr>
        </p:nvSpPr>
        <p:spPr>
          <a:xfrm>
            <a:off x="3713286" y="804333"/>
            <a:ext cx="4729502" cy="5249334"/>
          </a:xfrm>
        </p:spPr>
        <p:txBody>
          <a:bodyPr anchor="ctr">
            <a:normAutofit/>
          </a:bodyPr>
          <a:lstStyle/>
          <a:p>
            <a:r>
              <a:t>Feature: capability + value</a:t>
            </a:r>
          </a:p>
          <a:p>
            <a:r>
              <a:t>Scenario: one example</a:t>
            </a:r>
          </a:p>
          <a:p>
            <a:r>
              <a:t>Given: context</a:t>
            </a:r>
          </a:p>
          <a:p>
            <a:r>
              <a:t>When: action</a:t>
            </a:r>
          </a:p>
          <a:p>
            <a:r>
              <a:t>Then: expected result</a:t>
            </a:r>
          </a:p>
          <a:p>
            <a:r>
              <a:t>And/But: additional lines (use sparingly)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4550113" cy="1499616"/>
          </a:xfrm>
        </p:spPr>
        <p:txBody>
          <a:bodyPr>
            <a:normAutofit/>
          </a:bodyPr>
          <a:lstStyle/>
          <a:p>
            <a:r>
              <a:t>Mental model</a:t>
            </a:r>
          </a:p>
        </p:txBody>
      </p:sp>
      <p:sp>
        <p:nvSpPr>
          <p:cNvPr id="3" name="Content Placeholder 2"/>
          <p:cNvSpPr>
            <a:spLocks noGrp="1"/>
          </p:cNvSpPr>
          <p:nvPr>
            <p:ph idx="1"/>
          </p:nvPr>
        </p:nvSpPr>
        <p:spPr>
          <a:xfrm>
            <a:off x="768096" y="2286000"/>
            <a:ext cx="4550113" cy="4023360"/>
          </a:xfrm>
        </p:spPr>
        <p:txBody>
          <a:bodyPr>
            <a:normAutofit/>
          </a:bodyPr>
          <a:lstStyle/>
          <a:p>
            <a:r>
              <a:t>Given = the world looks like this</a:t>
            </a:r>
          </a:p>
          <a:p>
            <a:r>
              <a:t>When = something happens</a:t>
            </a:r>
          </a:p>
          <a:p>
            <a:r>
              <a:t>Then = this must now be true</a:t>
            </a:r>
          </a:p>
        </p:txBody>
      </p:sp>
      <p:pic>
        <p:nvPicPr>
          <p:cNvPr id="5" name="Picture 4" descr="A person holding a globe">
            <a:extLst>
              <a:ext uri="{FF2B5EF4-FFF2-40B4-BE49-F238E27FC236}">
                <a16:creationId xmlns:a16="http://schemas.microsoft.com/office/drawing/2014/main" id="{316A93C6-B6E9-7702-5B58-9657F4BF8EFB}"/>
              </a:ext>
            </a:extLst>
          </p:cNvPr>
          <p:cNvPicPr>
            <a:picLocks noChangeAspect="1"/>
          </p:cNvPicPr>
          <p:nvPr/>
        </p:nvPicPr>
        <p:blipFill>
          <a:blip r:embed="rId3"/>
          <a:srcRect l="35070" r="34739"/>
          <a:stretch>
            <a:fillRect/>
          </a:stretch>
        </p:blipFill>
        <p:spPr>
          <a:xfrm>
            <a:off x="5664199" y="10"/>
            <a:ext cx="3479800" cy="68579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tint val="95000"/>
            <a:shade val="85000"/>
            <a:satMod val="125000"/>
          </a:schemeClr>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029C29B9-CB4D-43C1-81A2-0CABE34D1F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ADC5515F-CA6E-47D2-A360-E672C1E90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D4CFFEC7-E77E-419D-B1B5-335DA4C743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1"/>
            <a:ext cx="5293730" cy="62145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75C10F-5FA1-48E0-9E3A-852A33AFD8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1" y="321732"/>
            <a:ext cx="3251710" cy="62145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21990" y="965200"/>
            <a:ext cx="2502885" cy="4815596"/>
          </a:xfrm>
        </p:spPr>
        <p:txBody>
          <a:bodyPr vert="horz" lIns="91440" tIns="45720" rIns="91440" bIns="45720" rtlCol="0" anchor="ctr">
            <a:normAutofit/>
          </a:bodyPr>
          <a:lstStyle/>
          <a:p>
            <a:r>
              <a:rPr lang="en-US" sz="5000">
                <a:solidFill>
                  <a:srgbClr val="FFFFFF"/>
                </a:solidFill>
              </a:rPr>
              <a:t>Example: a simple scenario</a:t>
            </a:r>
          </a:p>
        </p:txBody>
      </p:sp>
      <p:sp>
        <p:nvSpPr>
          <p:cNvPr id="3" name="TextBox 2"/>
          <p:cNvSpPr txBox="1"/>
          <p:nvPr/>
        </p:nvSpPr>
        <p:spPr>
          <a:xfrm>
            <a:off x="728259" y="974875"/>
            <a:ext cx="4370425" cy="4852362"/>
          </a:xfrm>
          <a:prstGeom prst="rect">
            <a:avLst/>
          </a:prstGeom>
        </p:spPr>
        <p:txBody>
          <a:bodyPr vert="horz" lIns="45720" tIns="45720" rIns="45720" bIns="45720" rtlCol="0" anchor="ctr">
            <a:normAutofit/>
          </a:bodyPr>
          <a:lstStyle/>
          <a:p>
            <a:pPr defTabSz="914400">
              <a:lnSpc>
                <a:spcPct val="90000"/>
              </a:lnSpc>
              <a:spcAft>
                <a:spcPts val="600"/>
              </a:spcAft>
              <a:buClr>
                <a:schemeClr val="accent1"/>
              </a:buClr>
            </a:pPr>
            <a:r>
              <a:rPr lang="en-US"/>
              <a:t>Feature: Login</a:t>
            </a:r>
            <a:br>
              <a:rPr lang="en-US"/>
            </a:br>
            <a:br>
              <a:rPr lang="en-US"/>
            </a:br>
            <a:r>
              <a:rPr lang="en-US"/>
              <a:t>Scenario: Wrong password is rejected</a:t>
            </a:r>
            <a:br>
              <a:rPr lang="en-US"/>
            </a:br>
            <a:r>
              <a:rPr lang="en-US"/>
              <a:t>  Given a member exists with email "ana@example.com"</a:t>
            </a:r>
            <a:br>
              <a:rPr lang="en-US"/>
            </a:br>
            <a:r>
              <a:rPr lang="en-US"/>
              <a:t>  When the member signs in with password "wrong"</a:t>
            </a:r>
            <a:br>
              <a:rPr lang="en-US"/>
            </a:br>
            <a:r>
              <a:rPr lang="en-US"/>
              <a:t>  Then the sign-in is rejected</a:t>
            </a:r>
          </a:p>
        </p:txBody>
      </p:sp>
    </p:spTree>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0365A3-9839-4FC6-BFF6-7115C711F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1" y="643467"/>
            <a:ext cx="2561709" cy="5571066"/>
          </a:xfrm>
        </p:spPr>
        <p:txBody>
          <a:bodyPr>
            <a:normAutofit/>
          </a:bodyPr>
          <a:lstStyle/>
          <a:p>
            <a:r>
              <a:rPr lang="en-US">
                <a:solidFill>
                  <a:srgbClr val="FFFFFF"/>
                </a:solidFill>
              </a:rPr>
              <a:t>Writing good scenarios — targets</a:t>
            </a:r>
          </a:p>
        </p:txBody>
      </p:sp>
      <p:graphicFrame>
        <p:nvGraphicFramePr>
          <p:cNvPr id="5" name="Content Placeholder 2">
            <a:extLst>
              <a:ext uri="{FF2B5EF4-FFF2-40B4-BE49-F238E27FC236}">
                <a16:creationId xmlns:a16="http://schemas.microsoft.com/office/drawing/2014/main" id="{E8CCF3EF-46F8-5E72-A80D-7DFE75798DBA}"/>
              </a:ext>
            </a:extLst>
          </p:cNvPr>
          <p:cNvGraphicFramePr>
            <a:graphicFrameLocks noGrp="1"/>
          </p:cNvGraphicFramePr>
          <p:nvPr>
            <p:ph idx="1"/>
            <p:extLst>
              <p:ext uri="{D42A27DB-BD31-4B8C-83A1-F6EECF244321}">
                <p14:modId xmlns:p14="http://schemas.microsoft.com/office/powerpoint/2010/main" val="2921274822"/>
              </p:ext>
            </p:extLst>
          </p:nvPr>
        </p:nvGraphicFramePr>
        <p:xfrm>
          <a:off x="4202906" y="954088"/>
          <a:ext cx="4231481" cy="4921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0365A3-9839-4FC6-BFF6-7115C711F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1" y="643467"/>
            <a:ext cx="2561709" cy="5571066"/>
          </a:xfrm>
        </p:spPr>
        <p:txBody>
          <a:bodyPr>
            <a:normAutofit/>
          </a:bodyPr>
          <a:lstStyle/>
          <a:p>
            <a:r>
              <a:rPr lang="en-US">
                <a:solidFill>
                  <a:srgbClr val="FFFFFF"/>
                </a:solidFill>
              </a:rPr>
              <a:t>Step 1: Start with a user goal</a:t>
            </a:r>
          </a:p>
        </p:txBody>
      </p:sp>
      <p:graphicFrame>
        <p:nvGraphicFramePr>
          <p:cNvPr id="5" name="Content Placeholder 2">
            <a:extLst>
              <a:ext uri="{FF2B5EF4-FFF2-40B4-BE49-F238E27FC236}">
                <a16:creationId xmlns:a16="http://schemas.microsoft.com/office/drawing/2014/main" id="{50B5875F-6A2D-F20E-A1B9-C36A141F2183}"/>
              </a:ext>
            </a:extLst>
          </p:cNvPr>
          <p:cNvGraphicFramePr>
            <a:graphicFrameLocks noGrp="1"/>
          </p:cNvGraphicFramePr>
          <p:nvPr>
            <p:ph idx="1"/>
            <p:extLst>
              <p:ext uri="{D42A27DB-BD31-4B8C-83A1-F6EECF244321}">
                <p14:modId xmlns:p14="http://schemas.microsoft.com/office/powerpoint/2010/main" val="4289559785"/>
              </p:ext>
            </p:extLst>
          </p:nvPr>
        </p:nvGraphicFramePr>
        <p:xfrm>
          <a:off x="4202906" y="954088"/>
          <a:ext cx="4231481" cy="4921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normAutofit/>
          </a:bodyPr>
          <a:lstStyle/>
          <a:p>
            <a:r>
              <a:t>Step 2: Keep Given minimal</a:t>
            </a:r>
          </a:p>
        </p:txBody>
      </p:sp>
      <p:graphicFrame>
        <p:nvGraphicFramePr>
          <p:cNvPr id="5" name="Content Placeholder 2">
            <a:extLst>
              <a:ext uri="{FF2B5EF4-FFF2-40B4-BE49-F238E27FC236}">
                <a16:creationId xmlns:a16="http://schemas.microsoft.com/office/drawing/2014/main" id="{2B034F56-809B-85A2-AE9C-D2F7DBD9A4BA}"/>
              </a:ext>
            </a:extLst>
          </p:cNvPr>
          <p:cNvGraphicFramePr>
            <a:graphicFrameLocks noGrp="1"/>
          </p:cNvGraphicFramePr>
          <p:nvPr>
            <p:ph idx="1"/>
            <p:extLst>
              <p:ext uri="{D42A27DB-BD31-4B8C-83A1-F6EECF244321}">
                <p14:modId xmlns:p14="http://schemas.microsoft.com/office/powerpoint/2010/main" val="2207250136"/>
              </p:ext>
            </p:extLst>
          </p:nvPr>
        </p:nvGraphicFramePr>
        <p:xfrm>
          <a:off x="767953" y="2286000"/>
          <a:ext cx="7290197"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75B2942-5EB8-4DDF-B28F-FBB3CFBD1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7404" y="643467"/>
            <a:ext cx="2604756" cy="5571066"/>
          </a:xfrm>
        </p:spPr>
        <p:txBody>
          <a:bodyPr>
            <a:normAutofit/>
          </a:bodyPr>
          <a:lstStyle/>
          <a:p>
            <a:r>
              <a:rPr lang="en-US"/>
              <a:t>Step 3: Avoid UI scripts in Gherkin</a:t>
            </a:r>
          </a:p>
        </p:txBody>
      </p:sp>
      <p:cxnSp>
        <p:nvCxnSpPr>
          <p:cNvPr id="11" name="Straight Connector 10">
            <a:extLst>
              <a:ext uri="{FF2B5EF4-FFF2-40B4-BE49-F238E27FC236}">
                <a16:creationId xmlns:a16="http://schemas.microsoft.com/office/drawing/2014/main" id="{35E2CABE-723A-4CF7-9B8E-761BD34EBB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890097" y="2514600"/>
            <a:ext cx="0" cy="1828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3" name="Content Placeholder 2">
            <a:extLst>
              <a:ext uri="{FF2B5EF4-FFF2-40B4-BE49-F238E27FC236}">
                <a16:creationId xmlns:a16="http://schemas.microsoft.com/office/drawing/2014/main" id="{688DE2C8-00A9-53EE-CF8F-16F43F19874D}"/>
              </a:ext>
            </a:extLst>
          </p:cNvPr>
          <p:cNvGraphicFramePr>
            <a:graphicFrameLocks noGrp="1"/>
          </p:cNvGraphicFramePr>
          <p:nvPr>
            <p:ph idx="1"/>
            <p:extLst>
              <p:ext uri="{D42A27DB-BD31-4B8C-83A1-F6EECF244321}">
                <p14:modId xmlns:p14="http://schemas.microsoft.com/office/powerpoint/2010/main" val="548480994"/>
              </p:ext>
            </p:extLst>
          </p:nvPr>
        </p:nvGraphicFramePr>
        <p:xfrm>
          <a:off x="707231" y="933450"/>
          <a:ext cx="4947047" cy="49418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0365A3-9839-4FC6-BFF6-7115C711F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1" y="643467"/>
            <a:ext cx="2561709" cy="5571066"/>
          </a:xfrm>
        </p:spPr>
        <p:txBody>
          <a:bodyPr>
            <a:normAutofit/>
          </a:bodyPr>
          <a:lstStyle/>
          <a:p>
            <a:r>
              <a:rPr lang="en-US">
                <a:solidFill>
                  <a:srgbClr val="FFFFFF"/>
                </a:solidFill>
              </a:rPr>
              <a:t>Step 4: Make outcomes observable</a:t>
            </a:r>
          </a:p>
        </p:txBody>
      </p:sp>
      <p:graphicFrame>
        <p:nvGraphicFramePr>
          <p:cNvPr id="5" name="Content Placeholder 2">
            <a:extLst>
              <a:ext uri="{FF2B5EF4-FFF2-40B4-BE49-F238E27FC236}">
                <a16:creationId xmlns:a16="http://schemas.microsoft.com/office/drawing/2014/main" id="{FFA45BFB-3699-6482-E971-534F9B7BD049}"/>
              </a:ext>
            </a:extLst>
          </p:cNvPr>
          <p:cNvGraphicFramePr>
            <a:graphicFrameLocks noGrp="1"/>
          </p:cNvGraphicFramePr>
          <p:nvPr>
            <p:ph idx="1"/>
            <p:extLst>
              <p:ext uri="{D42A27DB-BD31-4B8C-83A1-F6EECF244321}">
                <p14:modId xmlns:p14="http://schemas.microsoft.com/office/powerpoint/2010/main" val="4529365"/>
              </p:ext>
            </p:extLst>
          </p:nvPr>
        </p:nvGraphicFramePr>
        <p:xfrm>
          <a:off x="4202906" y="954088"/>
          <a:ext cx="4231481" cy="4921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a:normAutofit/>
          </a:bodyPr>
          <a:lstStyle/>
          <a:p>
            <a:pPr algn="r"/>
            <a:r>
              <a:t>Step 5: One scenario = one main point</a:t>
            </a:r>
            <a:endParaRPr lang="en-US"/>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49497" y="804333"/>
            <a:ext cx="4693291" cy="5249334"/>
          </a:xfrm>
        </p:spPr>
        <p:txBody>
          <a:bodyPr anchor="ctr">
            <a:normAutofit/>
          </a:bodyPr>
          <a:lstStyle/>
          <a:p>
            <a:r>
              <a:t>If the scenario tests 5 unrelated rules, split it</a:t>
            </a:r>
          </a:p>
          <a:p>
            <a:r>
              <a:t>Smaller scenarios diagnose failures faster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75B2942-5EB8-4DDF-B28F-FBB3CFBD1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7404" y="643467"/>
            <a:ext cx="2604756" cy="5571066"/>
          </a:xfrm>
        </p:spPr>
        <p:txBody>
          <a:bodyPr>
            <a:normAutofit/>
          </a:bodyPr>
          <a:lstStyle/>
          <a:p>
            <a:r>
              <a:t>Example story: password reset</a:t>
            </a:r>
          </a:p>
        </p:txBody>
      </p:sp>
      <p:cxnSp>
        <p:nvCxnSpPr>
          <p:cNvPr id="11" name="Straight Connector 10">
            <a:extLst>
              <a:ext uri="{FF2B5EF4-FFF2-40B4-BE49-F238E27FC236}">
                <a16:creationId xmlns:a16="http://schemas.microsoft.com/office/drawing/2014/main" id="{35E2CABE-723A-4CF7-9B8E-761BD34EBB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890097" y="2514600"/>
            <a:ext cx="0" cy="1828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9146ECD6-3FC3-343E-8BF6-268F321F9F38}"/>
              </a:ext>
            </a:extLst>
          </p:cNvPr>
          <p:cNvGraphicFramePr>
            <a:graphicFrameLocks noGrp="1"/>
          </p:cNvGraphicFramePr>
          <p:nvPr>
            <p:ph idx="1"/>
            <p:extLst>
              <p:ext uri="{D42A27DB-BD31-4B8C-83A1-F6EECF244321}">
                <p14:modId xmlns:p14="http://schemas.microsoft.com/office/powerpoint/2010/main" val="2408900736"/>
              </p:ext>
            </p:extLst>
          </p:nvPr>
        </p:nvGraphicFramePr>
        <p:xfrm>
          <a:off x="707231" y="933450"/>
          <a:ext cx="4947047" cy="49418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tint val="95000"/>
            <a:shade val="85000"/>
            <a:satMod val="125000"/>
          </a:schemeClr>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29C29B9-CB4D-43C1-81A2-0CABE34D1F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DC5515F-CA6E-47D2-A360-E672C1E90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D4CFFEC7-E77E-419D-B1B5-335DA4C743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1"/>
            <a:ext cx="5293730" cy="62145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75C10F-5FA1-48E0-9E3A-852A33AFD8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1" y="321732"/>
            <a:ext cx="3251710" cy="62145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21990" y="965200"/>
            <a:ext cx="2502885" cy="4815596"/>
          </a:xfrm>
        </p:spPr>
        <p:txBody>
          <a:bodyPr vert="horz" lIns="91440" tIns="45720" rIns="91440" bIns="45720" rtlCol="0" anchor="ctr">
            <a:normAutofit/>
          </a:bodyPr>
          <a:lstStyle/>
          <a:p>
            <a:r>
              <a:rPr lang="en-US" sz="4600">
                <a:solidFill>
                  <a:srgbClr val="FFFFFF"/>
                </a:solidFill>
              </a:rPr>
              <a:t>Scenario: successful reset</a:t>
            </a:r>
          </a:p>
        </p:txBody>
      </p:sp>
      <p:sp>
        <p:nvSpPr>
          <p:cNvPr id="3" name="TextBox 2"/>
          <p:cNvSpPr txBox="1"/>
          <p:nvPr/>
        </p:nvSpPr>
        <p:spPr>
          <a:xfrm>
            <a:off x="728259" y="974875"/>
            <a:ext cx="4370425" cy="4852362"/>
          </a:xfrm>
          <a:prstGeom prst="rect">
            <a:avLst/>
          </a:prstGeom>
        </p:spPr>
        <p:txBody>
          <a:bodyPr vert="horz" lIns="45720" tIns="45720" rIns="45720" bIns="45720" rtlCol="0" anchor="ctr">
            <a:normAutofit/>
          </a:bodyPr>
          <a:lstStyle/>
          <a:p>
            <a:pPr defTabSz="914400">
              <a:lnSpc>
                <a:spcPct val="90000"/>
              </a:lnSpc>
              <a:spcAft>
                <a:spcPts val="600"/>
              </a:spcAft>
              <a:buClr>
                <a:schemeClr val="accent1"/>
              </a:buClr>
            </a:pPr>
            <a:r>
              <a:rPr lang="en-US"/>
              <a:t>Scenario: Successful reset with a valid link</a:t>
            </a:r>
            <a:br>
              <a:rPr lang="en-US"/>
            </a:br>
            <a:r>
              <a:rPr lang="en-US"/>
              <a:t>  Given a member exists with email "ana@example.com"</a:t>
            </a:r>
            <a:br>
              <a:rPr lang="en-US"/>
            </a:br>
            <a:r>
              <a:rPr lang="en-US"/>
              <a:t>  And the member requested a password reset</a:t>
            </a:r>
            <a:br>
              <a:rPr lang="en-US"/>
            </a:br>
            <a:r>
              <a:rPr lang="en-US"/>
              <a:t>  When the member sets a new password using a valid reset link</a:t>
            </a:r>
            <a:br>
              <a:rPr lang="en-US"/>
            </a:br>
            <a:r>
              <a:rPr lang="en-US"/>
              <a:t>  Then the member can sign in with the new password</a:t>
            </a:r>
          </a:p>
        </p:txBody>
      </p:sp>
    </p:spTree>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29C29B9-CB4D-43C1-81A2-0CABE34D1F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Freeform 16">
            <a:extLst>
              <a:ext uri="{FF2B5EF4-FFF2-40B4-BE49-F238E27FC236}">
                <a16:creationId xmlns:a16="http://schemas.microsoft.com/office/drawing/2014/main" id="{D654DB25-410A-44B7-8058-3193D21EAF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custGeom>
            <a:avLst/>
            <a:gdLst>
              <a:gd name="connsiteX0" fmla="*/ 0 w 3096136"/>
              <a:gd name="connsiteY0" fmla="*/ 0 h 5856137"/>
              <a:gd name="connsiteX1" fmla="*/ 3096136 w 3096136"/>
              <a:gd name="connsiteY1" fmla="*/ 0 h 5856137"/>
              <a:gd name="connsiteX2" fmla="*/ 3096136 w 3096136"/>
              <a:gd name="connsiteY2" fmla="*/ 5856137 h 5856137"/>
              <a:gd name="connsiteX3" fmla="*/ 0 w 3096136"/>
              <a:gd name="connsiteY3" fmla="*/ 5856137 h 5856137"/>
            </a:gdLst>
            <a:ahLst/>
            <a:cxnLst>
              <a:cxn ang="0">
                <a:pos x="connsiteX0" y="connsiteY0"/>
              </a:cxn>
              <a:cxn ang="0">
                <a:pos x="connsiteX1" y="connsiteY1"/>
              </a:cxn>
              <a:cxn ang="0">
                <a:pos x="connsiteX2" y="connsiteY2"/>
              </a:cxn>
              <a:cxn ang="0">
                <a:pos x="connsiteX3" y="connsiteY3"/>
              </a:cxn>
            </a:cxnLst>
            <a:rect l="l" t="t" r="r" b="b"/>
            <a:pathLst>
              <a:path w="3096136" h="5856137">
                <a:moveTo>
                  <a:pt x="0" y="0"/>
                </a:moveTo>
                <a:lnTo>
                  <a:pt x="3096136" y="0"/>
                </a:lnTo>
                <a:lnTo>
                  <a:pt x="3096136" y="5856137"/>
                </a:lnTo>
                <a:lnTo>
                  <a:pt x="0" y="5856137"/>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endParaRPr>
          </a:p>
        </p:txBody>
      </p:sp>
      <p:sp>
        <p:nvSpPr>
          <p:cNvPr id="12" name="Rectangle 11">
            <a:extLst>
              <a:ext uri="{FF2B5EF4-FFF2-40B4-BE49-F238E27FC236}">
                <a16:creationId xmlns:a16="http://schemas.microsoft.com/office/drawing/2014/main" id="{9FAFEBEB-E7DF-4119-99EC-3C2C5F3C7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60" y="321731"/>
            <a:ext cx="4266015" cy="6214535"/>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748" y="965200"/>
            <a:ext cx="3517454" cy="4815596"/>
          </a:xfrm>
        </p:spPr>
        <p:txBody>
          <a:bodyPr vert="horz" lIns="91440" tIns="45720" rIns="91440" bIns="45720" rtlCol="0" anchor="ctr">
            <a:normAutofit/>
          </a:bodyPr>
          <a:lstStyle/>
          <a:p>
            <a:pPr algn="r"/>
            <a:r>
              <a:rPr lang="en-US" sz="5000">
                <a:solidFill>
                  <a:srgbClr val="FFFFFF"/>
                </a:solidFill>
              </a:rPr>
              <a:t>Scenario: unknown email (security)</a:t>
            </a:r>
          </a:p>
        </p:txBody>
      </p:sp>
      <p:sp>
        <p:nvSpPr>
          <p:cNvPr id="14" name="Rectangle 13">
            <a:extLst>
              <a:ext uri="{FF2B5EF4-FFF2-40B4-BE49-F238E27FC236}">
                <a16:creationId xmlns:a16="http://schemas.microsoft.com/office/drawing/2014/main" id="{8E25F227-C9F5-44BC-8ECE-188763D85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2325" y="321732"/>
            <a:ext cx="4270376" cy="62145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4995798" y="974875"/>
            <a:ext cx="3543430" cy="4852362"/>
          </a:xfrm>
          <a:prstGeom prst="rect">
            <a:avLst/>
          </a:prstGeom>
        </p:spPr>
        <p:txBody>
          <a:bodyPr vert="horz" lIns="45720" tIns="45720" rIns="45720" bIns="45720" rtlCol="0" anchor="ctr">
            <a:normAutofit/>
          </a:bodyPr>
          <a:lstStyle/>
          <a:p>
            <a:pPr defTabSz="914400">
              <a:lnSpc>
                <a:spcPct val="90000"/>
              </a:lnSpc>
              <a:spcAft>
                <a:spcPts val="600"/>
              </a:spcAft>
              <a:buClr>
                <a:schemeClr val="accent1"/>
              </a:buClr>
            </a:pPr>
            <a:r>
              <a:rPr lang="en-US">
                <a:solidFill>
                  <a:srgbClr val="FFFFFF"/>
                </a:solidFill>
              </a:rPr>
              <a:t>Scenario: Reset request for unknown email</a:t>
            </a:r>
            <a:br>
              <a:rPr lang="en-US">
                <a:solidFill>
                  <a:srgbClr val="FFFFFF"/>
                </a:solidFill>
              </a:rPr>
            </a:br>
            <a:r>
              <a:rPr lang="en-US">
                <a:solidFill>
                  <a:srgbClr val="FFFFFF"/>
                </a:solidFill>
              </a:rPr>
              <a:t>  When a visitor requests a password reset for "unknown@example.com"</a:t>
            </a:r>
            <a:br>
              <a:rPr lang="en-US">
                <a:solidFill>
                  <a:srgbClr val="FFFFFF"/>
                </a:solidFill>
              </a:rPr>
            </a:br>
            <a:r>
              <a:rPr lang="en-US">
                <a:solidFill>
                  <a:srgbClr val="FFFFFF"/>
                </a:solidFill>
              </a:rPr>
              <a:t>  Then the system responds with a generic message</a:t>
            </a:r>
            <a:br>
              <a:rPr lang="en-US">
                <a:solidFill>
                  <a:srgbClr val="FFFFFF"/>
                </a:solidFill>
              </a:rPr>
            </a:br>
            <a:r>
              <a:rPr lang="en-US">
                <a:solidFill>
                  <a:srgbClr val="FFFFFF"/>
                </a:solidFill>
              </a:rPr>
              <a:t>  And no reset email is sent</a:t>
            </a:r>
          </a:p>
        </p:txBody>
      </p:sp>
    </p:spTree>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4550113" cy="1499616"/>
          </a:xfrm>
        </p:spPr>
        <p:txBody>
          <a:bodyPr>
            <a:normAutofit/>
          </a:bodyPr>
          <a:lstStyle/>
          <a:p>
            <a:r>
              <a:t>Why these scenarios work</a:t>
            </a:r>
          </a:p>
        </p:txBody>
      </p:sp>
      <p:sp>
        <p:nvSpPr>
          <p:cNvPr id="3" name="Content Placeholder 2"/>
          <p:cNvSpPr>
            <a:spLocks noGrp="1"/>
          </p:cNvSpPr>
          <p:nvPr>
            <p:ph idx="1"/>
          </p:nvPr>
        </p:nvSpPr>
        <p:spPr>
          <a:xfrm>
            <a:off x="768096" y="2286000"/>
            <a:ext cx="4550113" cy="4023360"/>
          </a:xfrm>
        </p:spPr>
        <p:txBody>
          <a:bodyPr>
            <a:normAutofit/>
          </a:bodyPr>
          <a:lstStyle/>
          <a:p>
            <a:r>
              <a:t>Concrete + checkable outcomes</a:t>
            </a:r>
          </a:p>
          <a:p>
            <a:r>
              <a:t>Capture an important security rule</a:t>
            </a:r>
          </a:p>
          <a:p>
            <a:r>
              <a:t>Avoid UI detail</a:t>
            </a:r>
          </a:p>
          <a:p>
            <a:r>
              <a:t>Readable outside the dev team</a:t>
            </a:r>
          </a:p>
        </p:txBody>
      </p:sp>
      <p:pic>
        <p:nvPicPr>
          <p:cNvPr id="5" name="Picture 4" descr="Person opening laptop">
            <a:extLst>
              <a:ext uri="{FF2B5EF4-FFF2-40B4-BE49-F238E27FC236}">
                <a16:creationId xmlns:a16="http://schemas.microsoft.com/office/drawing/2014/main" id="{4BBD5339-D638-C72E-E08E-079314314C53}"/>
              </a:ext>
            </a:extLst>
          </p:cNvPr>
          <p:cNvPicPr>
            <a:picLocks noChangeAspect="1"/>
          </p:cNvPicPr>
          <p:nvPr/>
        </p:nvPicPr>
        <p:blipFill>
          <a:blip r:embed="rId3"/>
          <a:srcRect l="39627" r="26503" b="-1"/>
          <a:stretch>
            <a:fillRect/>
          </a:stretch>
        </p:blipFill>
        <p:spPr>
          <a:xfrm>
            <a:off x="5664199" y="10"/>
            <a:ext cx="3479800" cy="685799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75B2942-5EB8-4DDF-B28F-FBB3CFBD1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7404" y="643467"/>
            <a:ext cx="2604756" cy="5571066"/>
          </a:xfrm>
        </p:spPr>
        <p:txBody>
          <a:bodyPr>
            <a:normAutofit/>
          </a:bodyPr>
          <a:lstStyle/>
          <a:p>
            <a:r>
              <a:t>BDD and automation</a:t>
            </a:r>
          </a:p>
        </p:txBody>
      </p:sp>
      <p:cxnSp>
        <p:nvCxnSpPr>
          <p:cNvPr id="11" name="Straight Connector 10">
            <a:extLst>
              <a:ext uri="{FF2B5EF4-FFF2-40B4-BE49-F238E27FC236}">
                <a16:creationId xmlns:a16="http://schemas.microsoft.com/office/drawing/2014/main" id="{35E2CABE-723A-4CF7-9B8E-761BD34EBB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890097" y="2514600"/>
            <a:ext cx="0" cy="1828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38753003-B28F-E632-EEE8-71D1B0560774}"/>
              </a:ext>
            </a:extLst>
          </p:cNvPr>
          <p:cNvGraphicFramePr>
            <a:graphicFrameLocks noGrp="1"/>
          </p:cNvGraphicFramePr>
          <p:nvPr>
            <p:ph idx="1"/>
            <p:extLst>
              <p:ext uri="{D42A27DB-BD31-4B8C-83A1-F6EECF244321}">
                <p14:modId xmlns:p14="http://schemas.microsoft.com/office/powerpoint/2010/main" val="3253350352"/>
              </p:ext>
            </p:extLst>
          </p:nvPr>
        </p:nvGraphicFramePr>
        <p:xfrm>
          <a:off x="707231" y="933450"/>
          <a:ext cx="4947047" cy="49418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a:normAutofit/>
          </a:bodyPr>
          <a:lstStyle/>
          <a:p>
            <a:pPr algn="r"/>
            <a:r>
              <a:rPr lang="en-US">
                <a:solidFill>
                  <a:srgbClr val="FFFFFF"/>
                </a:solidFill>
              </a:rPr>
              <a:t>When NOT to automate</a:t>
            </a:r>
          </a:p>
        </p:txBody>
      </p:sp>
      <p:sp>
        <p:nvSpPr>
          <p:cNvPr id="3" name="Content Placeholder 2"/>
          <p:cNvSpPr>
            <a:spLocks noGrp="1"/>
          </p:cNvSpPr>
          <p:nvPr>
            <p:ph idx="1"/>
          </p:nvPr>
        </p:nvSpPr>
        <p:spPr>
          <a:xfrm>
            <a:off x="3713286" y="804333"/>
            <a:ext cx="4729502" cy="5249334"/>
          </a:xfrm>
        </p:spPr>
        <p:txBody>
          <a:bodyPr anchor="ctr">
            <a:normAutofit/>
          </a:bodyPr>
          <a:lstStyle/>
          <a:p>
            <a:r>
              <a:t>Highly visual polish checks</a:t>
            </a:r>
          </a:p>
          <a:p>
            <a:r>
              <a:t>Fast-changing prototypes</a:t>
            </a:r>
          </a:p>
          <a:p>
            <a:r>
              <a:t>Brittle flows that would create noisy failures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4550113" cy="1499616"/>
          </a:xfrm>
        </p:spPr>
        <p:txBody>
          <a:bodyPr>
            <a:normAutofit/>
          </a:bodyPr>
          <a:lstStyle/>
          <a:p>
            <a:r>
              <a:rPr lang="en-US" sz="4100"/>
              <a:t>Test pyramid (where most tests should live)</a:t>
            </a:r>
          </a:p>
        </p:txBody>
      </p:sp>
      <p:sp>
        <p:nvSpPr>
          <p:cNvPr id="3" name="Content Placeholder 2"/>
          <p:cNvSpPr>
            <a:spLocks noGrp="1"/>
          </p:cNvSpPr>
          <p:nvPr>
            <p:ph idx="1"/>
          </p:nvPr>
        </p:nvSpPr>
        <p:spPr>
          <a:xfrm>
            <a:off x="768096" y="2286000"/>
            <a:ext cx="4550113" cy="4023360"/>
          </a:xfrm>
        </p:spPr>
        <p:txBody>
          <a:bodyPr>
            <a:normAutofit/>
          </a:bodyPr>
          <a:lstStyle/>
          <a:p>
            <a:r>
              <a:t>Many unit tests (fast rules)</a:t>
            </a:r>
          </a:p>
          <a:p>
            <a:r>
              <a:t>Some service/API tests (workflows)</a:t>
            </a:r>
          </a:p>
          <a:p>
            <a:r>
              <a:t>Few UI end-to-end tests (critical user journeys)</a:t>
            </a:r>
          </a:p>
        </p:txBody>
      </p:sp>
      <p:pic>
        <p:nvPicPr>
          <p:cNvPr id="5" name="Picture 4">
            <a:extLst>
              <a:ext uri="{FF2B5EF4-FFF2-40B4-BE49-F238E27FC236}">
                <a16:creationId xmlns:a16="http://schemas.microsoft.com/office/drawing/2014/main" id="{BF9F0A80-56BE-0B19-994A-70B9838A2FC0}"/>
              </a:ext>
            </a:extLst>
          </p:cNvPr>
          <p:cNvPicPr>
            <a:picLocks noChangeAspect="1"/>
          </p:cNvPicPr>
          <p:nvPr/>
        </p:nvPicPr>
        <p:blipFill>
          <a:blip r:embed="rId3"/>
          <a:srcRect l="17968" r="48162" b="-1"/>
          <a:stretch>
            <a:fillRect/>
          </a:stretch>
        </p:blipFill>
        <p:spPr>
          <a:xfrm>
            <a:off x="5664199" y="10"/>
            <a:ext cx="3479800" cy="685799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a:normAutofit/>
          </a:bodyPr>
          <a:lstStyle/>
          <a:p>
            <a:pPr algn="r"/>
            <a:r>
              <a:t>BDD can be automated at multiple levels</a:t>
            </a:r>
            <a:endParaRPr lang="en-US"/>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49497" y="804333"/>
            <a:ext cx="4693291" cy="5249334"/>
          </a:xfrm>
        </p:spPr>
        <p:txBody>
          <a:bodyPr anchor="ctr">
            <a:normAutofit/>
          </a:bodyPr>
          <a:lstStyle/>
          <a:p>
            <a:r>
              <a:t>Same scenario intent, different execution level:</a:t>
            </a:r>
          </a:p>
          <a:p>
            <a:pPr lvl="1"/>
            <a:r>
              <a:t>Unit-level domain rules</a:t>
            </a:r>
          </a:p>
          <a:p>
            <a:pPr lvl="1"/>
            <a:r>
              <a:t>Service/API workflows</a:t>
            </a:r>
          </a:p>
          <a:p>
            <a:pPr lvl="1"/>
            <a:r>
              <a:t>UI end-to-end smoke checks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0365A3-9839-4FC6-BFF6-7115C711F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1" y="643467"/>
            <a:ext cx="2561709" cy="5571066"/>
          </a:xfrm>
        </p:spPr>
        <p:txBody>
          <a:bodyPr>
            <a:normAutofit/>
          </a:bodyPr>
          <a:lstStyle/>
          <a:p>
            <a:r>
              <a:rPr lang="en-US">
                <a:solidFill>
                  <a:srgbClr val="FFFFFF"/>
                </a:solidFill>
              </a:rPr>
              <a:t>Step definitions: key principle</a:t>
            </a:r>
          </a:p>
        </p:txBody>
      </p:sp>
      <p:graphicFrame>
        <p:nvGraphicFramePr>
          <p:cNvPr id="5" name="Content Placeholder 2">
            <a:extLst>
              <a:ext uri="{FF2B5EF4-FFF2-40B4-BE49-F238E27FC236}">
                <a16:creationId xmlns:a16="http://schemas.microsoft.com/office/drawing/2014/main" id="{C5D70755-D7AB-2C7A-5827-52AE3B1E8674}"/>
              </a:ext>
            </a:extLst>
          </p:cNvPr>
          <p:cNvGraphicFramePr>
            <a:graphicFrameLocks noGrp="1"/>
          </p:cNvGraphicFramePr>
          <p:nvPr>
            <p:ph idx="1"/>
            <p:extLst>
              <p:ext uri="{D42A27DB-BD31-4B8C-83A1-F6EECF244321}">
                <p14:modId xmlns:p14="http://schemas.microsoft.com/office/powerpoint/2010/main" val="838411172"/>
              </p:ext>
            </p:extLst>
          </p:nvPr>
        </p:nvGraphicFramePr>
        <p:xfrm>
          <a:off x="4202906" y="954088"/>
          <a:ext cx="4231481" cy="4921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tint val="95000"/>
            <a:shade val="85000"/>
            <a:satMod val="125000"/>
          </a:schemeClr>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29C29B9-CB4D-43C1-81A2-0CABE34D1F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DC5515F-CA6E-47D2-A360-E672C1E90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D4CFFEC7-E77E-419D-B1B5-335DA4C743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59" y="321731"/>
            <a:ext cx="5293730" cy="62145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575C10F-5FA1-48E0-9E3A-852A33AFD8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1" y="321732"/>
            <a:ext cx="3251710" cy="62145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21990" y="965200"/>
            <a:ext cx="2502885" cy="4815596"/>
          </a:xfrm>
        </p:spPr>
        <p:txBody>
          <a:bodyPr vert="horz" lIns="91440" tIns="45720" rIns="91440" bIns="45720" rtlCol="0" anchor="ctr">
            <a:normAutofit/>
          </a:bodyPr>
          <a:lstStyle/>
          <a:p>
            <a:r>
              <a:rPr lang="en-US" sz="5000">
                <a:solidFill>
                  <a:srgbClr val="FFFFFF"/>
                </a:solidFill>
              </a:rPr>
              <a:t>Thin step (intent) example</a:t>
            </a:r>
          </a:p>
        </p:txBody>
      </p:sp>
      <p:sp>
        <p:nvSpPr>
          <p:cNvPr id="3" name="TextBox 2"/>
          <p:cNvSpPr txBox="1"/>
          <p:nvPr/>
        </p:nvSpPr>
        <p:spPr>
          <a:xfrm>
            <a:off x="728259" y="974875"/>
            <a:ext cx="4370425" cy="4852362"/>
          </a:xfrm>
          <a:prstGeom prst="rect">
            <a:avLst/>
          </a:prstGeom>
        </p:spPr>
        <p:txBody>
          <a:bodyPr vert="horz" lIns="45720" tIns="45720" rIns="45720" bIns="45720" rtlCol="0" anchor="ctr">
            <a:normAutofit/>
          </a:bodyPr>
          <a:lstStyle/>
          <a:p>
            <a:pPr defTabSz="914400">
              <a:lnSpc>
                <a:spcPct val="90000"/>
              </a:lnSpc>
              <a:spcAft>
                <a:spcPts val="600"/>
              </a:spcAft>
              <a:buClr>
                <a:schemeClr val="accent1"/>
              </a:buClr>
            </a:pPr>
            <a:r>
              <a:rPr lang="en-US"/>
              <a:t>When the member signs in with email "ana@example.com" and password "wrong"</a:t>
            </a:r>
            <a:br>
              <a:rPr lang="en-US"/>
            </a:br>
            <a:r>
              <a:rPr lang="en-US"/>
              <a:t>Then the sign-in is rejected</a:t>
            </a:r>
          </a:p>
        </p:txBody>
      </p:sp>
    </p:spTree>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4550113" cy="1499616"/>
          </a:xfrm>
        </p:spPr>
        <p:txBody>
          <a:bodyPr>
            <a:normAutofit/>
          </a:bodyPr>
          <a:lstStyle/>
          <a:p>
            <a:r>
              <a:t>The step-definition trap</a:t>
            </a:r>
          </a:p>
        </p:txBody>
      </p:sp>
      <p:sp>
        <p:nvSpPr>
          <p:cNvPr id="3" name="Content Placeholder 2"/>
          <p:cNvSpPr>
            <a:spLocks noGrp="1"/>
          </p:cNvSpPr>
          <p:nvPr>
            <p:ph idx="1"/>
          </p:nvPr>
        </p:nvSpPr>
        <p:spPr>
          <a:xfrm>
            <a:off x="768096" y="2286000"/>
            <a:ext cx="4550113" cy="4023360"/>
          </a:xfrm>
        </p:spPr>
        <p:txBody>
          <a:bodyPr>
            <a:normAutofit/>
          </a:bodyPr>
          <a:lstStyle/>
          <a:p>
            <a:r>
              <a:t>If each step clicks 30 things… tests get slow and flaky</a:t>
            </a:r>
          </a:p>
          <a:p>
            <a:r>
              <a:t>Maintenance cost explodes</a:t>
            </a:r>
          </a:p>
          <a:p>
            <a:r>
              <a:t>Fix: push most checks down to API/service/unit; keep UI minimal</a:t>
            </a:r>
          </a:p>
        </p:txBody>
      </p:sp>
      <p:pic>
        <p:nvPicPr>
          <p:cNvPr id="5" name="Picture 4" descr="Computer script on a screen">
            <a:extLst>
              <a:ext uri="{FF2B5EF4-FFF2-40B4-BE49-F238E27FC236}">
                <a16:creationId xmlns:a16="http://schemas.microsoft.com/office/drawing/2014/main" id="{0A299891-5056-73B8-BB5A-1702EF98659C}"/>
              </a:ext>
            </a:extLst>
          </p:cNvPr>
          <p:cNvPicPr>
            <a:picLocks noChangeAspect="1"/>
          </p:cNvPicPr>
          <p:nvPr/>
        </p:nvPicPr>
        <p:blipFill>
          <a:blip r:embed="rId3"/>
          <a:srcRect l="13179" r="52951" b="-1"/>
          <a:stretch>
            <a:fillRect/>
          </a:stretch>
        </p:blipFill>
        <p:spPr>
          <a:xfrm>
            <a:off x="5664199" y="10"/>
            <a:ext cx="3479800" cy="685799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a:normAutofit/>
          </a:bodyPr>
          <a:lstStyle/>
          <a:p>
            <a:pPr algn="r"/>
            <a:r>
              <a:rPr lang="en-US" sz="4100">
                <a:solidFill>
                  <a:srgbClr val="FFFFFF"/>
                </a:solidFill>
              </a:rPr>
              <a:t>Architecture payoff</a:t>
            </a:r>
          </a:p>
        </p:txBody>
      </p:sp>
      <p:sp>
        <p:nvSpPr>
          <p:cNvPr id="3" name="Content Placeholder 2"/>
          <p:cNvSpPr>
            <a:spLocks noGrp="1"/>
          </p:cNvSpPr>
          <p:nvPr>
            <p:ph idx="1"/>
          </p:nvPr>
        </p:nvSpPr>
        <p:spPr>
          <a:xfrm>
            <a:off x="3713286" y="804333"/>
            <a:ext cx="4729502" cy="5249334"/>
          </a:xfrm>
        </p:spPr>
        <p:txBody>
          <a:bodyPr anchor="ctr">
            <a:normAutofit/>
          </a:bodyPr>
          <a:lstStyle/>
          <a:p>
            <a:r>
              <a:t>Thin steps encourage clean boundaries</a:t>
            </a:r>
          </a:p>
          <a:p>
            <a:r>
              <a:t>You end up with reusable application services</a:t>
            </a:r>
          </a:p>
          <a:p>
            <a:r>
              <a:t>Behavior checks become cheaper to maintain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0365A3-9839-4FC6-BFF6-7115C711F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1" y="643467"/>
            <a:ext cx="2561709" cy="5571066"/>
          </a:xfrm>
        </p:spPr>
        <p:txBody>
          <a:bodyPr>
            <a:normAutofit/>
          </a:bodyPr>
          <a:lstStyle/>
          <a:p>
            <a:r>
              <a:rPr lang="en-US">
                <a:solidFill>
                  <a:srgbClr val="FFFFFF"/>
                </a:solidFill>
              </a:rPr>
              <a:t>A simple BDD workflow loop</a:t>
            </a:r>
          </a:p>
        </p:txBody>
      </p:sp>
      <p:graphicFrame>
        <p:nvGraphicFramePr>
          <p:cNvPr id="5" name="Content Placeholder 2">
            <a:extLst>
              <a:ext uri="{FF2B5EF4-FFF2-40B4-BE49-F238E27FC236}">
                <a16:creationId xmlns:a16="http://schemas.microsoft.com/office/drawing/2014/main" id="{21210335-A7DF-58A9-C53E-1CC6B019235F}"/>
              </a:ext>
            </a:extLst>
          </p:cNvPr>
          <p:cNvGraphicFramePr>
            <a:graphicFrameLocks noGrp="1"/>
          </p:cNvGraphicFramePr>
          <p:nvPr>
            <p:ph idx="1"/>
            <p:extLst>
              <p:ext uri="{D42A27DB-BD31-4B8C-83A1-F6EECF244321}">
                <p14:modId xmlns:p14="http://schemas.microsoft.com/office/powerpoint/2010/main" val="1826251205"/>
              </p:ext>
            </p:extLst>
          </p:nvPr>
        </p:nvGraphicFramePr>
        <p:xfrm>
          <a:off x="4202906" y="954088"/>
          <a:ext cx="4231481" cy="4921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4550113" cy="1499616"/>
          </a:xfrm>
        </p:spPr>
        <p:txBody>
          <a:bodyPr>
            <a:normAutofit/>
          </a:bodyPr>
          <a:lstStyle/>
          <a:p>
            <a:r>
              <a:t>BDD-flavored Definition of Done</a:t>
            </a:r>
          </a:p>
        </p:txBody>
      </p:sp>
      <p:sp>
        <p:nvSpPr>
          <p:cNvPr id="3" name="Content Placeholder 2"/>
          <p:cNvSpPr>
            <a:spLocks noGrp="1"/>
          </p:cNvSpPr>
          <p:nvPr>
            <p:ph idx="1"/>
          </p:nvPr>
        </p:nvSpPr>
        <p:spPr>
          <a:xfrm>
            <a:off x="768096" y="2286000"/>
            <a:ext cx="4550113" cy="4023360"/>
          </a:xfrm>
        </p:spPr>
        <p:txBody>
          <a:bodyPr>
            <a:normAutofit/>
          </a:bodyPr>
          <a:lstStyle/>
          <a:p>
            <a:r>
              <a:t>Scenarios reviewed for language + clarity</a:t>
            </a:r>
          </a:p>
          <a:p>
            <a:r>
              <a:t>Automated checks (if chosen) are green in CI</a:t>
            </a:r>
          </a:p>
          <a:p>
            <a:r>
              <a:t>Key edge cases captured (not necessarily all automated)</a:t>
            </a:r>
          </a:p>
          <a:p>
            <a:r>
              <a:t>Terms match product vocabulary</a:t>
            </a:r>
          </a:p>
        </p:txBody>
      </p:sp>
      <p:pic>
        <p:nvPicPr>
          <p:cNvPr id="5" name="Picture 4">
            <a:extLst>
              <a:ext uri="{FF2B5EF4-FFF2-40B4-BE49-F238E27FC236}">
                <a16:creationId xmlns:a16="http://schemas.microsoft.com/office/drawing/2014/main" id="{907CC624-771F-C5B6-AEE7-64EEB3EEC2D2}"/>
              </a:ext>
            </a:extLst>
          </p:cNvPr>
          <p:cNvPicPr>
            <a:picLocks noChangeAspect="1"/>
          </p:cNvPicPr>
          <p:nvPr/>
        </p:nvPicPr>
        <p:blipFill>
          <a:blip r:embed="rId3"/>
          <a:srcRect l="18261" r="53198"/>
          <a:stretch>
            <a:fillRect/>
          </a:stretch>
        </p:blipFill>
        <p:spPr>
          <a:xfrm>
            <a:off x="5664199" y="10"/>
            <a:ext cx="3479800" cy="685799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a:normAutofit/>
          </a:bodyPr>
          <a:lstStyle/>
          <a:p>
            <a:pPr algn="r"/>
            <a:r>
              <a:t>Common pitfalls (and fixes)</a:t>
            </a:r>
            <a:endParaRPr lang="en-US"/>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49497" y="804333"/>
            <a:ext cx="4693291" cy="5249334"/>
          </a:xfrm>
        </p:spPr>
        <p:txBody>
          <a:bodyPr anchor="ctr">
            <a:normAutofit/>
          </a:bodyPr>
          <a:lstStyle/>
          <a:p>
            <a:r>
              <a:t>BDD = UI clicking → move checks down to API/service</a:t>
            </a:r>
          </a:p>
          <a:p>
            <a:r>
              <a:t>Scenarios as scripts → rewrite as intent + outcome</a:t>
            </a:r>
          </a:p>
          <a:p>
            <a:r>
              <a:t>One giant feature file → split by capability</a:t>
            </a:r>
          </a:p>
          <a:p>
            <a:r>
              <a:t>Step explosion → create helper DSL + refactor steps</a:t>
            </a:r>
          </a:p>
          <a:p>
            <a:r>
              <a:t>Data/setup pain → invest in fixtures/factories/resets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4550113" cy="1499616"/>
          </a:xfrm>
        </p:spPr>
        <p:txBody>
          <a:bodyPr>
            <a:normAutofit/>
          </a:bodyPr>
          <a:lstStyle/>
          <a:p>
            <a:r>
              <a:t>Stability tips (practical)</a:t>
            </a:r>
          </a:p>
        </p:txBody>
      </p:sp>
      <p:sp>
        <p:nvSpPr>
          <p:cNvPr id="3" name="Content Placeholder 2"/>
          <p:cNvSpPr>
            <a:spLocks noGrp="1"/>
          </p:cNvSpPr>
          <p:nvPr>
            <p:ph idx="1"/>
          </p:nvPr>
        </p:nvSpPr>
        <p:spPr>
          <a:xfrm>
            <a:off x="768096" y="2286000"/>
            <a:ext cx="4550113" cy="4023360"/>
          </a:xfrm>
        </p:spPr>
        <p:txBody>
          <a:bodyPr>
            <a:normAutofit/>
          </a:bodyPr>
          <a:lstStyle/>
          <a:p>
            <a:r>
              <a:t>Avoid time-based waits; use deterministic triggers</a:t>
            </a:r>
          </a:p>
          <a:p>
            <a:r>
              <a:t>Control the clock in tests when possible</a:t>
            </a:r>
          </a:p>
          <a:p>
            <a:r>
              <a:t>Make IDs and random values deterministic</a:t>
            </a:r>
          </a:p>
          <a:p>
            <a:r>
              <a:t>Reset test state reliably between scenarios</a:t>
            </a:r>
          </a:p>
          <a:p>
            <a:r>
              <a:t>Keep UI tests as a small smoke layer</a:t>
            </a:r>
          </a:p>
        </p:txBody>
      </p:sp>
      <p:pic>
        <p:nvPicPr>
          <p:cNvPr id="5" name="Picture 4" descr="Half face clock on a wall">
            <a:extLst>
              <a:ext uri="{FF2B5EF4-FFF2-40B4-BE49-F238E27FC236}">
                <a16:creationId xmlns:a16="http://schemas.microsoft.com/office/drawing/2014/main" id="{A3085BED-7EAA-E5A3-A50E-77BEBEA0BBAB}"/>
              </a:ext>
            </a:extLst>
          </p:cNvPr>
          <p:cNvPicPr>
            <a:picLocks noChangeAspect="1"/>
          </p:cNvPicPr>
          <p:nvPr/>
        </p:nvPicPr>
        <p:blipFill>
          <a:blip r:embed="rId3"/>
          <a:srcRect l="42159" r="21307" b="-2"/>
          <a:stretch>
            <a:fillRect/>
          </a:stretch>
        </p:blipFill>
        <p:spPr>
          <a:xfrm>
            <a:off x="5664199" y="10"/>
            <a:ext cx="3479800" cy="685799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Pen placed on top of a signature line">
            <a:extLst>
              <a:ext uri="{FF2B5EF4-FFF2-40B4-BE49-F238E27FC236}">
                <a16:creationId xmlns:a16="http://schemas.microsoft.com/office/drawing/2014/main" id="{BCAF226A-5D57-8682-C6EB-489E6ADF1585}"/>
              </a:ext>
            </a:extLst>
          </p:cNvPr>
          <p:cNvPicPr>
            <a:picLocks noChangeAspect="1"/>
          </p:cNvPicPr>
          <p:nvPr/>
        </p:nvPicPr>
        <p:blipFill>
          <a:blip r:embed="rId3">
            <a:duotone>
              <a:schemeClr val="bg2">
                <a:shade val="45000"/>
                <a:satMod val="135000"/>
              </a:schemeClr>
              <a:prstClr val="white"/>
            </a:duotone>
            <a:alphaModFix amt="20000"/>
          </a:blip>
          <a:srcRect l="11000" r="-1" b="-1"/>
          <a:stretch>
            <a:fillRect/>
          </a:stretch>
        </p:blipFill>
        <p:spPr>
          <a:xfrm>
            <a:off x="20" y="10"/>
            <a:ext cx="9143980" cy="6857989"/>
          </a:xfrm>
          <a:prstGeom prst="rect">
            <a:avLst/>
          </a:prstGeom>
        </p:spPr>
      </p:pic>
      <p:sp>
        <p:nvSpPr>
          <p:cNvPr id="2" name="Title 1"/>
          <p:cNvSpPr>
            <a:spLocks noGrp="1"/>
          </p:cNvSpPr>
          <p:nvPr>
            <p:ph type="title"/>
          </p:nvPr>
        </p:nvSpPr>
        <p:spPr>
          <a:xfrm>
            <a:off x="768096" y="585216"/>
            <a:ext cx="7290054" cy="1499616"/>
          </a:xfrm>
        </p:spPr>
        <p:txBody>
          <a:bodyPr>
            <a:normAutofit/>
          </a:bodyPr>
          <a:lstStyle/>
          <a:p>
            <a:r>
              <a:t>Scenario quality checklist</a:t>
            </a:r>
          </a:p>
        </p:txBody>
      </p:sp>
      <p:cxnSp>
        <p:nvCxnSpPr>
          <p:cNvPr id="9" name="Straight Connector 8">
            <a:extLst>
              <a:ext uri="{FF2B5EF4-FFF2-40B4-BE49-F238E27FC236}">
                <a16:creationId xmlns:a16="http://schemas.microsoft.com/office/drawing/2014/main" id="{964428CE-80F8-4340-B8AF-0A22E2C85D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768096" y="2286000"/>
            <a:ext cx="7290054" cy="4023360"/>
          </a:xfrm>
        </p:spPr>
        <p:txBody>
          <a:bodyPr>
            <a:normAutofit/>
          </a:bodyPr>
          <a:lstStyle/>
          <a:p>
            <a:r>
              <a:t>Readable by a non-dev?</a:t>
            </a:r>
          </a:p>
          <a:p>
            <a:r>
              <a:t>Focused on behavior (not UI)?</a:t>
            </a:r>
          </a:p>
          <a:p>
            <a:r>
              <a:t>Outcome specific + observable?</a:t>
            </a:r>
          </a:p>
          <a:p>
            <a:r>
              <a:t>One main idea?</a:t>
            </a:r>
          </a:p>
          <a:p>
            <a:r>
              <a:t>Stable + deterministic?</a:t>
            </a:r>
          </a:p>
          <a:p>
            <a:r>
              <a:t>Vocabulary consistent?</a:t>
            </a:r>
          </a:p>
          <a:p>
            <a:r>
              <a:t>Has key negative/edge examples where it matters?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a:normAutofit/>
          </a:bodyPr>
          <a:lstStyle/>
          <a:p>
            <a:pPr algn="r"/>
            <a:r>
              <a:rPr lang="en-US" sz="4100"/>
              <a:t>Tooling (conceptual)</a:t>
            </a:r>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49497" y="804333"/>
            <a:ext cx="4693291" cy="5249334"/>
          </a:xfrm>
        </p:spPr>
        <p:txBody>
          <a:bodyPr anchor="ctr">
            <a:normAutofit/>
          </a:bodyPr>
          <a:lstStyle/>
          <a:p>
            <a:r>
              <a:t>Gherkin-based: Cucumber, SpecFlow, Behave, etc.</a:t>
            </a:r>
          </a:p>
          <a:p>
            <a:r>
              <a:t>You can do BDD-style tests without Gherkin too</a:t>
            </a:r>
          </a:p>
          <a:p>
            <a:r>
              <a:t>Tool choice matters less than good scenarios + good architecture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75B2942-5EB8-4DDF-B28F-FBB3CFBD1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7404" y="643467"/>
            <a:ext cx="2604756" cy="5571066"/>
          </a:xfrm>
        </p:spPr>
        <p:txBody>
          <a:bodyPr>
            <a:normAutofit/>
          </a:bodyPr>
          <a:lstStyle/>
          <a:p>
            <a:r>
              <a:t>Choosing the right automation level</a:t>
            </a:r>
          </a:p>
        </p:txBody>
      </p:sp>
      <p:cxnSp>
        <p:nvCxnSpPr>
          <p:cNvPr id="11" name="Straight Connector 10">
            <a:extLst>
              <a:ext uri="{FF2B5EF4-FFF2-40B4-BE49-F238E27FC236}">
                <a16:creationId xmlns:a16="http://schemas.microsoft.com/office/drawing/2014/main" id="{35E2CABE-723A-4CF7-9B8E-761BD34EBB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890097" y="2514600"/>
            <a:ext cx="0" cy="1828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63DDB2B8-AACB-F456-8406-256D3CB2158A}"/>
              </a:ext>
            </a:extLst>
          </p:cNvPr>
          <p:cNvGraphicFramePr>
            <a:graphicFrameLocks noGrp="1"/>
          </p:cNvGraphicFramePr>
          <p:nvPr>
            <p:ph idx="1"/>
            <p:extLst>
              <p:ext uri="{D42A27DB-BD31-4B8C-83A1-F6EECF244321}">
                <p14:modId xmlns:p14="http://schemas.microsoft.com/office/powerpoint/2010/main" val="3517437851"/>
              </p:ext>
            </p:extLst>
          </p:nvPr>
        </p:nvGraphicFramePr>
        <p:xfrm>
          <a:off x="707231" y="933450"/>
          <a:ext cx="4947047" cy="49418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normAutofit/>
          </a:bodyPr>
          <a:lstStyle/>
          <a:p>
            <a:r>
              <a:t>CI/CD + living documentation</a:t>
            </a:r>
          </a:p>
        </p:txBody>
      </p:sp>
      <p:graphicFrame>
        <p:nvGraphicFramePr>
          <p:cNvPr id="5" name="Content Placeholder 2">
            <a:extLst>
              <a:ext uri="{FF2B5EF4-FFF2-40B4-BE49-F238E27FC236}">
                <a16:creationId xmlns:a16="http://schemas.microsoft.com/office/drawing/2014/main" id="{3F5D24BC-8AD8-1235-5F57-FE21FB202E1F}"/>
              </a:ext>
            </a:extLst>
          </p:cNvPr>
          <p:cNvGraphicFramePr>
            <a:graphicFrameLocks noGrp="1"/>
          </p:cNvGraphicFramePr>
          <p:nvPr>
            <p:ph idx="1"/>
            <p:extLst>
              <p:ext uri="{D42A27DB-BD31-4B8C-83A1-F6EECF244321}">
                <p14:modId xmlns:p14="http://schemas.microsoft.com/office/powerpoint/2010/main" val="349943308"/>
              </p:ext>
            </p:extLst>
          </p:nvPr>
        </p:nvGraphicFramePr>
        <p:xfrm>
          <a:off x="767953" y="2286000"/>
          <a:ext cx="7290197"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normAutofit/>
          </a:bodyPr>
          <a:lstStyle/>
          <a:p>
            <a:r>
              <a:t>Scenario Outline (same rule, multiple examples)</a:t>
            </a:r>
          </a:p>
        </p:txBody>
      </p:sp>
      <p:graphicFrame>
        <p:nvGraphicFramePr>
          <p:cNvPr id="5" name="Content Placeholder 2">
            <a:extLst>
              <a:ext uri="{FF2B5EF4-FFF2-40B4-BE49-F238E27FC236}">
                <a16:creationId xmlns:a16="http://schemas.microsoft.com/office/drawing/2014/main" id="{C8807E01-EE96-829C-790C-006DBEFA9508}"/>
              </a:ext>
            </a:extLst>
          </p:cNvPr>
          <p:cNvGraphicFramePr>
            <a:graphicFrameLocks noGrp="1"/>
          </p:cNvGraphicFramePr>
          <p:nvPr>
            <p:ph idx="1"/>
            <p:extLst>
              <p:ext uri="{D42A27DB-BD31-4B8C-83A1-F6EECF244321}">
                <p14:modId xmlns:p14="http://schemas.microsoft.com/office/powerpoint/2010/main" val="4018241332"/>
              </p:ext>
            </p:extLst>
          </p:nvPr>
        </p:nvGraphicFramePr>
        <p:xfrm>
          <a:off x="767953" y="2286000"/>
          <a:ext cx="7290197"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29C29B9-CB4D-43C1-81A2-0CABE34D1F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vert="horz" lIns="91440" tIns="45720" rIns="91440" bIns="45720" rtlCol="0" anchor="ctr">
            <a:normAutofit/>
          </a:bodyPr>
          <a:lstStyle/>
          <a:p>
            <a:pPr algn="r"/>
            <a:r>
              <a:rPr lang="en-US" sz="5000"/>
              <a:t>Scenario Outline example</a:t>
            </a:r>
          </a:p>
        </p:txBody>
      </p:sp>
      <p:cxnSp>
        <p:nvCxnSpPr>
          <p:cNvPr id="17" name="Straight Connector 16">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749497" y="804333"/>
            <a:ext cx="4693291" cy="5249334"/>
          </a:xfrm>
          <a:prstGeom prst="rect">
            <a:avLst/>
          </a:prstGeom>
        </p:spPr>
        <p:txBody>
          <a:bodyPr vert="horz" lIns="45720" tIns="45720" rIns="45720" bIns="45720" rtlCol="0" anchor="ctr">
            <a:normAutofit/>
          </a:bodyPr>
          <a:lstStyle/>
          <a:p>
            <a:pPr defTabSz="914400">
              <a:lnSpc>
                <a:spcPct val="90000"/>
              </a:lnSpc>
              <a:spcAft>
                <a:spcPts val="600"/>
              </a:spcAft>
              <a:buClr>
                <a:schemeClr val="accent1"/>
              </a:buClr>
            </a:pPr>
            <a:r>
              <a:rPr lang="en-US" dirty="0"/>
              <a:t>Scenario Outline: Password complexity</a:t>
            </a:r>
            <a:br>
              <a:rPr lang="en-US" dirty="0"/>
            </a:br>
            <a:r>
              <a:rPr lang="en-US" dirty="0"/>
              <a:t>  When a member sets password "&lt;password&gt;"</a:t>
            </a:r>
            <a:br>
              <a:rPr lang="en-US" dirty="0"/>
            </a:br>
            <a:r>
              <a:rPr lang="en-US" dirty="0"/>
              <a:t>  Then the password result is "&lt;result&gt;"</a:t>
            </a:r>
            <a:br>
              <a:rPr lang="en-US" dirty="0"/>
            </a:br>
            <a:br>
              <a:rPr lang="en-US" dirty="0"/>
            </a:br>
            <a:r>
              <a:rPr lang="en-US" dirty="0"/>
              <a:t>Examples:</a:t>
            </a:r>
            <a:br>
              <a:rPr lang="en-US" dirty="0"/>
            </a:br>
            <a:r>
              <a:rPr lang="en-US" dirty="0"/>
              <a:t>   123           -&gt;      rejected </a:t>
            </a:r>
            <a:br>
              <a:rPr lang="en-US" dirty="0"/>
            </a:br>
            <a:r>
              <a:rPr lang="en-US" dirty="0"/>
              <a:t>   password   -&gt;      rejected </a:t>
            </a:r>
            <a:br>
              <a:rPr lang="en-US" dirty="0"/>
            </a:br>
            <a:r>
              <a:rPr lang="en-US" dirty="0"/>
              <a:t>   Passw0rd!  -&gt;      accepted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a:normAutofit/>
          </a:bodyPr>
          <a:lstStyle/>
          <a:p>
            <a:pPr algn="r"/>
            <a:r>
              <a:t>Starter kit (templates + step style)</a:t>
            </a:r>
            <a:endParaRPr lang="en-US"/>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081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49497" y="804333"/>
            <a:ext cx="4693291" cy="5249334"/>
          </a:xfrm>
        </p:spPr>
        <p:txBody>
          <a:bodyPr anchor="ctr">
            <a:normAutofit/>
          </a:bodyPr>
          <a:lstStyle/>
          <a:p>
            <a:r>
              <a:t>Feature template: value + 3–8 scenarios max</a:t>
            </a:r>
          </a:p>
          <a:p>
            <a:r>
              <a:t>Scenario template: Given (minimal) / When (action) / Then (observable outcome)</a:t>
            </a:r>
          </a:p>
          <a:p>
            <a:r>
              <a:t>Step style: business actions (place order, sign in), avoid click/scroll/wait</a:t>
            </a:r>
          </a:p>
          <a:p>
            <a:r>
              <a:t>Refactor steps regularly; keep a small helper DSL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2AF316-EC25-47C8-858D-6622E7B68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8096" y="4952954"/>
            <a:ext cx="7290054" cy="1499616"/>
          </a:xfrm>
        </p:spPr>
        <p:txBody>
          <a:bodyPr>
            <a:normAutofit/>
          </a:bodyPr>
          <a:lstStyle/>
          <a:p>
            <a:r>
              <a:t>Wrap-up + next steps</a:t>
            </a:r>
          </a:p>
        </p:txBody>
      </p:sp>
      <p:cxnSp>
        <p:nvCxnSpPr>
          <p:cNvPr id="11" name="Straight Connector 10">
            <a:extLst>
              <a:ext uri="{FF2B5EF4-FFF2-40B4-BE49-F238E27FC236}">
                <a16:creationId xmlns:a16="http://schemas.microsoft.com/office/drawing/2014/main" id="{F4821CFD-906D-4ADB-A660-BB71E564EF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71500" y="5262137"/>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2">
            <a:extLst>
              <a:ext uri="{FF2B5EF4-FFF2-40B4-BE49-F238E27FC236}">
                <a16:creationId xmlns:a16="http://schemas.microsoft.com/office/drawing/2014/main" id="{033B6167-690D-2134-566A-15AA615D11D7}"/>
              </a:ext>
            </a:extLst>
          </p:cNvPr>
          <p:cNvGraphicFramePr>
            <a:graphicFrameLocks noGrp="1"/>
          </p:cNvGraphicFramePr>
          <p:nvPr>
            <p:ph idx="1"/>
            <p:extLst>
              <p:ext uri="{D42A27DB-BD31-4B8C-83A1-F6EECF244321}">
                <p14:modId xmlns:p14="http://schemas.microsoft.com/office/powerpoint/2010/main" val="1948517462"/>
              </p:ext>
            </p:extLst>
          </p:nvPr>
        </p:nvGraphicFramePr>
        <p:xfrm>
          <a:off x="767953" y="992221"/>
          <a:ext cx="7290197" cy="36162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Freeform 16">
            <a:extLst>
              <a:ext uri="{FF2B5EF4-FFF2-40B4-BE49-F238E27FC236}">
                <a16:creationId xmlns:a16="http://schemas.microsoft.com/office/drawing/2014/main" id="{D654DB25-410A-44B7-8058-3193D21EAF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custGeom>
            <a:avLst/>
            <a:gdLst>
              <a:gd name="connsiteX0" fmla="*/ 0 w 3096136"/>
              <a:gd name="connsiteY0" fmla="*/ 0 h 5856137"/>
              <a:gd name="connsiteX1" fmla="*/ 3096136 w 3096136"/>
              <a:gd name="connsiteY1" fmla="*/ 0 h 5856137"/>
              <a:gd name="connsiteX2" fmla="*/ 3096136 w 3096136"/>
              <a:gd name="connsiteY2" fmla="*/ 5856137 h 5856137"/>
              <a:gd name="connsiteX3" fmla="*/ 0 w 3096136"/>
              <a:gd name="connsiteY3" fmla="*/ 5856137 h 5856137"/>
            </a:gdLst>
            <a:ahLst/>
            <a:cxnLst>
              <a:cxn ang="0">
                <a:pos x="connsiteX0" y="connsiteY0"/>
              </a:cxn>
              <a:cxn ang="0">
                <a:pos x="connsiteX1" y="connsiteY1"/>
              </a:cxn>
              <a:cxn ang="0">
                <a:pos x="connsiteX2" y="connsiteY2"/>
              </a:cxn>
              <a:cxn ang="0">
                <a:pos x="connsiteX3" y="connsiteY3"/>
              </a:cxn>
            </a:cxnLst>
            <a:rect l="l" t="t" r="r" b="b"/>
            <a:pathLst>
              <a:path w="3096136" h="5856137">
                <a:moveTo>
                  <a:pt x="0" y="0"/>
                </a:moveTo>
                <a:lnTo>
                  <a:pt x="3096136" y="0"/>
                </a:lnTo>
                <a:lnTo>
                  <a:pt x="3096136" y="5856137"/>
                </a:lnTo>
                <a:lnTo>
                  <a:pt x="0" y="5856137"/>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endParaRPr>
          </a:p>
        </p:txBody>
      </p:sp>
      <p:sp>
        <p:nvSpPr>
          <p:cNvPr id="10" name="Rectangle 9">
            <a:extLst>
              <a:ext uri="{FF2B5EF4-FFF2-40B4-BE49-F238E27FC236}">
                <a16:creationId xmlns:a16="http://schemas.microsoft.com/office/drawing/2014/main" id="{9FAFEBEB-E7DF-4119-99EC-3C2C5F3C7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60" y="321731"/>
            <a:ext cx="4266015" cy="6214535"/>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748" y="965200"/>
            <a:ext cx="3517454" cy="4815596"/>
          </a:xfrm>
        </p:spPr>
        <p:txBody>
          <a:bodyPr>
            <a:normAutofit/>
          </a:bodyPr>
          <a:lstStyle/>
          <a:p>
            <a:pPr algn="r"/>
            <a:r>
              <a:rPr lang="en-US">
                <a:solidFill>
                  <a:srgbClr val="FFFFFF"/>
                </a:solidFill>
              </a:rPr>
              <a:t>Q&amp;A</a:t>
            </a:r>
          </a:p>
        </p:txBody>
      </p:sp>
      <p:sp>
        <p:nvSpPr>
          <p:cNvPr id="12" name="Rectangle 11">
            <a:extLst>
              <a:ext uri="{FF2B5EF4-FFF2-40B4-BE49-F238E27FC236}">
                <a16:creationId xmlns:a16="http://schemas.microsoft.com/office/drawing/2014/main" id="{8E25F227-C9F5-44BC-8ECE-188763D85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2325" y="321732"/>
            <a:ext cx="4270376" cy="62145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995798" y="974875"/>
            <a:ext cx="3543430" cy="4852362"/>
          </a:xfrm>
        </p:spPr>
        <p:txBody>
          <a:bodyPr anchor="ctr">
            <a:normAutofit/>
          </a:bodyPr>
          <a:lstStyle/>
          <a:p>
            <a:r>
              <a:rPr lang="en-US">
                <a:solidFill>
                  <a:srgbClr val="FFFFFF"/>
                </a:solidFill>
              </a:rPr>
              <a:t>What in your current project feels ambiguous?</a:t>
            </a:r>
          </a:p>
          <a:p>
            <a:r>
              <a:rPr lang="en-US">
                <a:solidFill>
                  <a:srgbClr val="FFFFFF"/>
                </a:solidFill>
              </a:rPr>
              <a:t>Where do you feel the most pain: unclear requirements or flaky tests?</a:t>
            </a:r>
          </a:p>
        </p:txBody>
      </p:sp>
    </p:spTree>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455F51"/>
      </a:dk2>
      <a:lt2>
        <a:srgbClr val="E3DED1"/>
      </a:lt2>
      <a:accent1>
        <a:srgbClr val="99CB38"/>
      </a:accent1>
      <a:accent2>
        <a:srgbClr val="63A537"/>
      </a:accent2>
      <a:accent3>
        <a:srgbClr val="E6D024"/>
      </a:accent3>
      <a:accent4>
        <a:srgbClr val="CC9700"/>
      </a:accent4>
      <a:accent5>
        <a:srgbClr val="4EB3CF"/>
      </a:accent5>
      <a:accent6>
        <a:srgbClr val="378DA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29F68FFC-748B-4FC3-BF39-7F84A6D584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147</TotalTime>
  <Words>14109</Words>
  <Application>Microsoft Macintosh PowerPoint</Application>
  <PresentationFormat>On-screen Show (4:3)</PresentationFormat>
  <Paragraphs>1556</Paragraphs>
  <Slides>47</Slides>
  <Notes>47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Aptos</vt:lpstr>
      <vt:lpstr>Tw Cen MT</vt:lpstr>
      <vt:lpstr>Tw Cen MT Condensed</vt:lpstr>
      <vt:lpstr>Wingdings 3</vt:lpstr>
      <vt:lpstr>Integral</vt:lpstr>
      <vt:lpstr>Behavior-Driven Development (BDD)</vt:lpstr>
      <vt:lpstr>Why are we here?</vt:lpstr>
      <vt:lpstr>Agenda</vt:lpstr>
      <vt:lpstr>BDD in one sentence</vt:lpstr>
      <vt:lpstr>BDD is NOT…</vt:lpstr>
      <vt:lpstr>The problem BDD solves</vt:lpstr>
      <vt:lpstr>What success looks like</vt:lpstr>
      <vt:lpstr>Key vocabulary</vt:lpstr>
      <vt:lpstr>Behavior = context + action + outcome</vt:lpstr>
      <vt:lpstr>Examples remove ambiguity</vt:lpstr>
      <vt:lpstr>Discovery (3 Amigos)</vt:lpstr>
      <vt:lpstr>Questions that uncover behavior</vt:lpstr>
      <vt:lpstr>Gherkin: what it’s for</vt:lpstr>
      <vt:lpstr>Gherkin structure</vt:lpstr>
      <vt:lpstr>Mental model</vt:lpstr>
      <vt:lpstr>Example: a simple scenario</vt:lpstr>
      <vt:lpstr>Writing good scenarios — targets</vt:lpstr>
      <vt:lpstr>Step 1: Start with a user goal</vt:lpstr>
      <vt:lpstr>Step 2: Keep Given minimal</vt:lpstr>
      <vt:lpstr>Step 3: Avoid UI scripts in Gherkin</vt:lpstr>
      <vt:lpstr>Step 4: Make outcomes observable</vt:lpstr>
      <vt:lpstr>Step 5: One scenario = one main point</vt:lpstr>
      <vt:lpstr>Example story: password reset</vt:lpstr>
      <vt:lpstr>Scenario: successful reset</vt:lpstr>
      <vt:lpstr>Scenario: unknown email (security)</vt:lpstr>
      <vt:lpstr>Why these scenarios work</vt:lpstr>
      <vt:lpstr>BDD and automation</vt:lpstr>
      <vt:lpstr>When NOT to automate</vt:lpstr>
      <vt:lpstr>Test pyramid (where most tests should live)</vt:lpstr>
      <vt:lpstr>BDD can be automated at multiple levels</vt:lpstr>
      <vt:lpstr>Step definitions: key principle</vt:lpstr>
      <vt:lpstr>Thin step (intent) example</vt:lpstr>
      <vt:lpstr>The step-definition trap</vt:lpstr>
      <vt:lpstr>Architecture payoff</vt:lpstr>
      <vt:lpstr>A simple BDD workflow loop</vt:lpstr>
      <vt:lpstr>BDD-flavored Definition of Done</vt:lpstr>
      <vt:lpstr>Common pitfalls (and fixes)</vt:lpstr>
      <vt:lpstr>Stability tips (practical)</vt:lpstr>
      <vt:lpstr>Scenario quality checklist</vt:lpstr>
      <vt:lpstr>Tooling (conceptual)</vt:lpstr>
      <vt:lpstr>Choosing the right automation level</vt:lpstr>
      <vt:lpstr>CI/CD + living documentation</vt:lpstr>
      <vt:lpstr>Scenario Outline (same rule, multiple examples)</vt:lpstr>
      <vt:lpstr>Scenario Outline example</vt:lpstr>
      <vt:lpstr>Starter kit (templates + step style)</vt:lpstr>
      <vt:lpstr>Wrap-up + next steps</vt:lpstr>
      <vt:lpstr>Q&amp;A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Miodrag Vujkovic</cp:lastModifiedBy>
  <cp:revision>52</cp:revision>
  <dcterms:created xsi:type="dcterms:W3CDTF">2013-01-27T09:14:16Z</dcterms:created>
  <dcterms:modified xsi:type="dcterms:W3CDTF">2025-12-04T18:33:46Z</dcterms:modified>
  <cp:category/>
</cp:coreProperties>
</file>