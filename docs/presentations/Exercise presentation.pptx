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2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5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82"/>
  </p:normalViewPr>
  <p:slideViewPr>
    <p:cSldViewPr snapToGrid="0">
      <p:cViewPr varScale="1">
        <p:scale>
          <a:sx n="119" d="100"/>
          <a:sy n="119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8A299-4FF1-4F44-74EA-4C04AA960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 Do Workshop</a:t>
            </a:r>
          </a:p>
        </p:txBody>
      </p:sp>
    </p:spTree>
    <p:extLst>
      <p:ext uri="{BB962C8B-B14F-4D97-AF65-F5344CB8AC3E}">
        <p14:creationId xmlns:p14="http://schemas.microsoft.com/office/powerpoint/2010/main" val="109824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410EF-A0C2-3A19-102C-CC3BD8A0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anchor="b">
            <a:normAutofit/>
          </a:bodyPr>
          <a:lstStyle/>
          <a:p>
            <a:r>
              <a:rPr lang="en-US" sz="2800"/>
              <a:t>Repo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5DCF1-DD55-8B48-2367-A75E88A3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45" y="640080"/>
            <a:ext cx="5577840" cy="55778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442E-534B-B177-6F28-EE59842AC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423" y="2286000"/>
            <a:ext cx="305303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https://github.com/mikivujkovic/claude-code-ddd-tdd-bdd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38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4ACA-B67D-EAD3-51F7-11B54E83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cap="none" dirty="0" err="1"/>
              <a:t>npx</a:t>
            </a:r>
            <a:r>
              <a:rPr lang="en-US" sz="6000" cap="none" dirty="0"/>
              <a:t> </a:t>
            </a:r>
            <a:r>
              <a:rPr lang="en-US" sz="6000" cap="none" dirty="0" err="1"/>
              <a:t>create-next-app@latest</a:t>
            </a:r>
            <a:r>
              <a:rPr lang="en-US" sz="6000" cap="none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71439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DD7D-2CAA-2AB9-C2A7-3006BC9D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</a:t>
            </a:r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81F252-94E6-FFDE-76E6-2D19BB8FD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3045648"/>
            <a:ext cx="99181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 must be present (not empty)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 is trimmed and normalized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Optionally: maximum title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Optionally: duplicates allowed or not (decide in DDD)</a:t>
            </a:r>
          </a:p>
        </p:txBody>
      </p:sp>
    </p:spTree>
    <p:extLst>
      <p:ext uri="{BB962C8B-B14F-4D97-AF65-F5344CB8AC3E}">
        <p14:creationId xmlns:p14="http://schemas.microsoft.com/office/powerpoint/2010/main" val="425533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2051-0FCC-582F-EFF6-60DBD73E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</a:t>
            </a:r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9FFBD-56B4-0F2E-B3E3-66729A663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3291870"/>
            <a:ext cx="982352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DDD artifacts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(language + invariants + contract)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TDD domain implementation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(tests drive behavior)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BDD scenario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(behavior examples)</a:t>
            </a:r>
          </a:p>
        </p:txBody>
      </p:sp>
    </p:spTree>
    <p:extLst>
      <p:ext uri="{BB962C8B-B14F-4D97-AF65-F5344CB8AC3E}">
        <p14:creationId xmlns:p14="http://schemas.microsoft.com/office/powerpoint/2010/main" val="426796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A501-F950-F1CC-F2D5-0D3AEDC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3853-29CA-69C1-0227-D63752F7F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Hook: enforce-phase will block UI edits</a:t>
            </a:r>
          </a:p>
          <a:p>
            <a:r>
              <a:rPr lang="en-US" sz="2400" dirty="0"/>
              <a:t>If phase is </a:t>
            </a:r>
            <a:r>
              <a:rPr lang="en-US" sz="2400" dirty="0" err="1"/>
              <a:t>ddd</a:t>
            </a:r>
            <a:r>
              <a:rPr lang="en-US" sz="2400" dirty="0"/>
              <a:t> or </a:t>
            </a:r>
            <a:r>
              <a:rPr lang="en-US" sz="2400" dirty="0" err="1"/>
              <a:t>tdd</a:t>
            </a:r>
            <a:r>
              <a:rPr lang="en-US" sz="2400" dirty="0"/>
              <a:t>, changes under app/ will be blocked.</a:t>
            </a:r>
          </a:p>
          <a:p>
            <a:r>
              <a:rPr lang="en-US" sz="2400" dirty="0"/>
              <a:t>This is expected: “Add </a:t>
            </a:r>
            <a:r>
              <a:rPr lang="en-US" sz="2400" dirty="0" err="1"/>
              <a:t>todo</a:t>
            </a:r>
            <a:r>
              <a:rPr lang="en-US" sz="2400" dirty="0"/>
              <a:t>” starts in domain docs, then domain tests, not UI.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Hook: stop-gate will block stopping in TDD/BDD until you run /verify</a:t>
            </a:r>
          </a:p>
          <a:p>
            <a:r>
              <a:rPr lang="en-US" sz="2400" dirty="0"/>
              <a:t>So plan to run /verify at the end of TDD and again after BDD edits.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796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6370-C273-7C73-D40D-B9F9B1C5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0.1 — Confirm your phase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5516B-56A6-DD8E-1651-FB98DC0ED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/phase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you’re looking for:</a:t>
            </a:r>
          </a:p>
          <a:p>
            <a:r>
              <a:rPr lang="en-US" dirty="0"/>
              <a:t>Current phase in docs/workflow/</a:t>
            </a:r>
            <a:r>
              <a:rPr lang="en-US" dirty="0" err="1"/>
              <a:t>phase.json</a:t>
            </a:r>
            <a:endParaRPr lang="en-US" dirty="0"/>
          </a:p>
          <a:p>
            <a:r>
              <a:rPr lang="en-US" dirty="0"/>
              <a:t>DDD/TDD/BDD Definition of Done checklist</a:t>
            </a:r>
          </a:p>
          <a:p>
            <a:r>
              <a:rPr lang="en-US" dirty="0"/>
              <a:t>Next tasks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4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30B3-5CF7-5A49-6019-4B38F69B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0.2 — Put yourself in DDD phase (if not already)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5D69-9AC7-C403-D59C-3CD9BF85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r>
              <a:rPr lang="en-US" b="1" dirty="0"/>
              <a:t>/set-phase </a:t>
            </a:r>
            <a:r>
              <a:rPr lang="en-US" b="1" dirty="0" err="1"/>
              <a:t>ddd</a:t>
            </a:r>
            <a:endParaRPr lang="en-US" dirty="0"/>
          </a:p>
          <a:p>
            <a:r>
              <a:rPr lang="en-US" b="1" dirty="0"/>
              <a:t>/phase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Why: “Add </a:t>
            </a:r>
            <a:r>
              <a:rPr lang="en-US" dirty="0" err="1"/>
              <a:t>todo</a:t>
            </a:r>
            <a:r>
              <a:rPr lang="en-US" dirty="0"/>
              <a:t>” starts as a domain conversation, not a coding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0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E632-B3E1-72F5-812C-1575F3C2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1.1 — Activate the DDD mindset (skill)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96020-BB90-185A-A0A8-9B6B934DE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don’t “run” skills explicitly; you </a:t>
            </a:r>
            <a:r>
              <a:rPr lang="en-US" b="1" dirty="0"/>
              <a:t>trigger them by how you ask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Use DDD language and ask for:</a:t>
            </a:r>
          </a:p>
          <a:p>
            <a:r>
              <a:rPr lang="en-US" dirty="0"/>
              <a:t>glossary alignment</a:t>
            </a:r>
          </a:p>
          <a:p>
            <a:r>
              <a:rPr lang="en-US" dirty="0"/>
              <a:t>invariants</a:t>
            </a:r>
          </a:p>
          <a:p>
            <a:r>
              <a:rPr lang="en-US" dirty="0"/>
              <a:t>use-case contract</a:t>
            </a:r>
          </a:p>
          <a:p>
            <a:r>
              <a:rPr lang="en-US" dirty="0"/>
              <a:t>minimal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767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E5EA-3595-5D44-E4A8-5F4DDE38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4A60-87C6-E545-6051-9C3011E28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are in DDD phase. Use the </a:t>
            </a:r>
            <a:r>
              <a:rPr lang="en-US" dirty="0" err="1"/>
              <a:t>ddd</a:t>
            </a:r>
            <a:r>
              <a:rPr lang="en-US" dirty="0"/>
              <a:t>-playbook style.</a:t>
            </a:r>
          </a:p>
          <a:p>
            <a:pPr marL="0" indent="0">
              <a:buNone/>
            </a:pPr>
            <a:r>
              <a:rPr lang="en-US" dirty="0"/>
              <a:t>Our next capability is “Add </a:t>
            </a:r>
            <a:r>
              <a:rPr lang="en-US" dirty="0" err="1"/>
              <a:t>todo</a:t>
            </a:r>
            <a:r>
              <a:rPr lang="en-US" dirty="0"/>
              <a:t> item”.</a:t>
            </a:r>
          </a:p>
          <a:p>
            <a:pPr marL="0" indent="0">
              <a:buNone/>
            </a:pPr>
            <a:r>
              <a:rPr lang="en-US" dirty="0"/>
              <a:t>Please:</a:t>
            </a:r>
          </a:p>
          <a:p>
            <a:pPr marL="0" indent="0">
              <a:buNone/>
            </a:pPr>
            <a:r>
              <a:rPr lang="en-US" dirty="0"/>
              <a:t>   1) Ensure the glossary terms are clear for juniors.</a:t>
            </a:r>
          </a:p>
          <a:p>
            <a:pPr marL="0" indent="0">
              <a:buNone/>
            </a:pPr>
            <a:r>
              <a:rPr lang="en-US" dirty="0"/>
              <a:t>   2) Propose 3–5 invariants for Add.</a:t>
            </a:r>
          </a:p>
          <a:p>
            <a:pPr marL="0" indent="0">
              <a:buNone/>
            </a:pPr>
            <a:r>
              <a:rPr lang="en-US" dirty="0"/>
              <a:t>   3) Propose a minimal use-case contract (inputs, preconditions, rules, outputs).</a:t>
            </a:r>
          </a:p>
          <a:p>
            <a:pPr marL="0" indent="0">
              <a:buNone/>
            </a:pPr>
            <a:r>
              <a:rPr lang="en-US" dirty="0"/>
              <a:t>No code and no UI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88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8D83-9C85-AF93-99E3-FE171EF3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1.2 — Use </a:t>
            </a:r>
            <a:r>
              <a:rPr lang="en-US" dirty="0" err="1"/>
              <a:t>ddd</a:t>
            </a:r>
            <a:r>
              <a:rPr lang="en-US" dirty="0"/>
              <a:t>-facilitator to improve language (subagent)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4A97-AA2D-8697-8A04-E3BA584DB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the subagent </a:t>
            </a:r>
            <a:r>
              <a:rPr lang="en-US" dirty="0" err="1"/>
              <a:t>ddd</a:t>
            </a:r>
            <a:r>
              <a:rPr lang="en-US" dirty="0"/>
              <a:t>-facilitator.</a:t>
            </a:r>
          </a:p>
          <a:p>
            <a:pPr marL="0" indent="0">
              <a:buNone/>
            </a:pPr>
            <a:r>
              <a:rPr lang="en-US" dirty="0"/>
              <a:t>Review docs/domain/</a:t>
            </a:r>
            <a:r>
              <a:rPr lang="en-US" dirty="0" err="1"/>
              <a:t>glossary.md</a:t>
            </a:r>
            <a:r>
              <a:rPr lang="en-US" dirty="0"/>
              <a:t> and suggest edits so a non-technical stakeholder understands:</a:t>
            </a:r>
          </a:p>
          <a:p>
            <a:pPr marL="0" indent="0">
              <a:buNone/>
            </a:pPr>
            <a:r>
              <a:rPr lang="en-US" dirty="0"/>
              <a:t>   - Todo item</a:t>
            </a:r>
          </a:p>
          <a:p>
            <a:pPr marL="0" indent="0">
              <a:buNone/>
            </a:pPr>
            <a:r>
              <a:rPr lang="en-US" dirty="0"/>
              <a:t>   - Title</a:t>
            </a:r>
          </a:p>
          <a:p>
            <a:pPr marL="0" indent="0">
              <a:buNone/>
            </a:pPr>
            <a:r>
              <a:rPr lang="en-US" dirty="0"/>
              <a:t>   - Todo list</a:t>
            </a:r>
          </a:p>
          <a:p>
            <a:pPr marL="0" indent="0">
              <a:buNone/>
            </a:pPr>
            <a:r>
              <a:rPr lang="en-US" dirty="0"/>
              <a:t>Then propose 3–5 invariants specifically for “Add </a:t>
            </a:r>
            <a:r>
              <a:rPr lang="en-US" dirty="0" err="1"/>
              <a:t>todo</a:t>
            </a:r>
            <a:r>
              <a:rPr lang="en-US" dirty="0"/>
              <a:t> item”.</a:t>
            </a:r>
          </a:p>
          <a:p>
            <a:pPr marL="0" indent="0">
              <a:buNone/>
            </a:pPr>
            <a:r>
              <a:rPr lang="en-US" dirty="0"/>
              <a:t>Keep it minimal.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41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81A2-DBF3-B532-002D-BC1B9299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do next: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8DCBE-D9E3-8CF2-CAEC-2E4021F4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Accept the edits it suggests (Claude will propose changes with file references)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Why: If </a:t>
            </a:r>
            <a:r>
              <a:rPr lang="en-US" sz="3200" dirty="0" err="1"/>
              <a:t>devs</a:t>
            </a:r>
            <a:r>
              <a:rPr lang="en-US" sz="3200" dirty="0"/>
              <a:t> don’t share language, they write inconsistent code and tests.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8458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BF21-E0D1-9732-FBB8-EE12675C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1.3 — Generate DDD artifacts using the repo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07D6-1904-575F-1462-746FBC2CC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ddd:story</a:t>
            </a:r>
            <a:r>
              <a:rPr lang="en-US" b="1" dirty="0"/>
              <a:t> Add </a:t>
            </a:r>
            <a:r>
              <a:rPr lang="en-US" b="1" dirty="0" err="1"/>
              <a:t>todo</a:t>
            </a:r>
            <a:r>
              <a:rPr lang="en-US" b="1" dirty="0"/>
              <a:t> item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this command should produce/modify:</a:t>
            </a:r>
          </a:p>
          <a:p>
            <a:r>
              <a:rPr lang="en-US" dirty="0"/>
              <a:t>docs/domain/</a:t>
            </a:r>
            <a:r>
              <a:rPr lang="en-US" dirty="0" err="1"/>
              <a:t>model.md</a:t>
            </a:r>
            <a:r>
              <a:rPr lang="en-US" dirty="0"/>
              <a:t> (minimal model changes)</a:t>
            </a:r>
          </a:p>
          <a:p>
            <a:r>
              <a:rPr lang="en-US" dirty="0"/>
              <a:t>docs/domain/</a:t>
            </a:r>
            <a:r>
              <a:rPr lang="en-US" dirty="0" err="1"/>
              <a:t>invariants.md</a:t>
            </a:r>
            <a:r>
              <a:rPr lang="en-US" dirty="0"/>
              <a:t> (2–5 invariants)</a:t>
            </a:r>
          </a:p>
          <a:p>
            <a:r>
              <a:rPr lang="en-US" dirty="0"/>
              <a:t>A “Use case contract” section in </a:t>
            </a:r>
            <a:r>
              <a:rPr lang="en-US" dirty="0" err="1"/>
              <a:t>model.md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Why: this command forces a structured output that later drives tests and scenarios.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7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2437-FC9B-FF57-A159-A8A57C6F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1.4 — Use domain-modeler to keep the design small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F2D0-7F93-4AAF-CE2E-8CE99F721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Prompt: </a:t>
            </a:r>
          </a:p>
          <a:p>
            <a:pPr marL="0" indent="0">
              <a:buNone/>
            </a:pPr>
            <a:r>
              <a:rPr lang="en-US" dirty="0"/>
              <a:t>Use the subagent domain-modeler.</a:t>
            </a:r>
          </a:p>
          <a:p>
            <a:pPr marL="0" indent="0">
              <a:buNone/>
            </a:pPr>
            <a:r>
              <a:rPr lang="en-US" dirty="0"/>
              <a:t>Based on docs/domain/</a:t>
            </a:r>
            <a:r>
              <a:rPr lang="en-US" dirty="0" err="1"/>
              <a:t>model.md</a:t>
            </a:r>
            <a:r>
              <a:rPr lang="en-US" dirty="0"/>
              <a:t> and docs/domain/</a:t>
            </a:r>
            <a:r>
              <a:rPr lang="en-US" dirty="0" err="1"/>
              <a:t>invariants.md</a:t>
            </a:r>
            <a:r>
              <a:rPr lang="en-US" dirty="0"/>
              <a:t>, propose:</a:t>
            </a:r>
          </a:p>
          <a:p>
            <a:pPr marL="0" indent="0">
              <a:buNone/>
            </a:pPr>
            <a:r>
              <a:rPr lang="en-US" dirty="0"/>
              <a:t>   - the minimal aggregate structure needed for “Add </a:t>
            </a:r>
            <a:r>
              <a:rPr lang="en-US" dirty="0" err="1"/>
              <a:t>todo</a:t>
            </a:r>
            <a:r>
              <a:rPr lang="en-US" dirty="0"/>
              <a:t> item”</a:t>
            </a:r>
          </a:p>
          <a:p>
            <a:pPr marL="0" indent="0">
              <a:buNone/>
            </a:pPr>
            <a:r>
              <a:rPr lang="en-US" dirty="0"/>
              <a:t>   - where each invariant should be enforced (inside which domain object)</a:t>
            </a:r>
          </a:p>
          <a:p>
            <a:pPr marL="0" indent="0">
              <a:buNone/>
            </a:pPr>
            <a:r>
              <a:rPr lang="en-US" dirty="0"/>
              <a:t>Keep it junior-friendly and avoid over-engineering.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84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1947-F8FA-52E0-7685-987DCF353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You’re checking for: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B23EA-360A-A2C4-7808-FB65BC92E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One aggregate root (often a </a:t>
            </a:r>
            <a:r>
              <a:rPr lang="en-US" sz="2400" dirty="0" err="1"/>
              <a:t>TodoList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err="1"/>
              <a:t>TodoItem</a:t>
            </a:r>
            <a:r>
              <a:rPr lang="en-US" sz="2400" dirty="0"/>
              <a:t> as entity inside it</a:t>
            </a:r>
          </a:p>
          <a:p>
            <a:pPr marL="0" indent="0">
              <a:buNone/>
            </a:pPr>
            <a:r>
              <a:rPr lang="en-US" sz="2400" dirty="0"/>
              <a:t>Title as a value object only if it truly reduces bugs</a:t>
            </a:r>
          </a:p>
          <a:p>
            <a:pPr marL="0" indent="0">
              <a:buNone/>
            </a:pPr>
            <a:r>
              <a:rPr lang="en-US" sz="2400" dirty="0"/>
              <a:t>Why: </a:t>
            </a:r>
            <a:r>
              <a:rPr lang="en-US" sz="2400" dirty="0" err="1"/>
              <a:t>devs</a:t>
            </a:r>
            <a:r>
              <a:rPr lang="en-US" sz="2400" dirty="0"/>
              <a:t> tend to put rules in controllers/services; this prevents that.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778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E4AD-9546-FC9B-5015-4C8A622E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1.5 — Quick DDD sanity check (risk-checker)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4610-0BB4-6390-49E7-AD4F70754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Prompt:</a:t>
            </a:r>
          </a:p>
          <a:p>
            <a:pPr marL="0" indent="0">
              <a:buNone/>
            </a:pPr>
            <a:r>
              <a:rPr lang="en-US" dirty="0"/>
              <a:t>Use the subagent risk-checker.</a:t>
            </a:r>
          </a:p>
          <a:p>
            <a:pPr marL="0" indent="0">
              <a:buNone/>
            </a:pPr>
            <a:r>
              <a:rPr lang="en-US" dirty="0"/>
              <a:t>Look at docs/domain/</a:t>
            </a:r>
            <a:r>
              <a:rPr lang="en-US" dirty="0" err="1"/>
              <a:t>invariants.md</a:t>
            </a:r>
            <a:r>
              <a:rPr lang="en-US" dirty="0"/>
              <a:t> and find:</a:t>
            </a:r>
          </a:p>
          <a:p>
            <a:pPr marL="0" indent="0">
              <a:buNone/>
            </a:pPr>
            <a:r>
              <a:rPr lang="en-US" dirty="0"/>
              <a:t>   - ambiguities,</a:t>
            </a:r>
          </a:p>
          <a:p>
            <a:pPr marL="0" indent="0">
              <a:buNone/>
            </a:pPr>
            <a:r>
              <a:rPr lang="en-US" dirty="0"/>
              <a:t>   - missing edge cases for “Add </a:t>
            </a:r>
            <a:r>
              <a:rPr lang="en-US" dirty="0" err="1"/>
              <a:t>todo</a:t>
            </a:r>
            <a:r>
              <a:rPr lang="en-US" dirty="0"/>
              <a:t> item”,</a:t>
            </a:r>
          </a:p>
          <a:p>
            <a:pPr marL="0" indent="0">
              <a:buNone/>
            </a:pPr>
            <a:r>
              <a:rPr lang="en-US" dirty="0"/>
              <a:t>   - and 3 suggested tests we will likely need later (no code).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439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B940-EBA5-C4E6-A031-69D02549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1.6 — DDD done criteria for this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A02D-B66B-9D38-A0D4-124D4F76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You’re ready to move to TDD when:</a:t>
            </a:r>
          </a:p>
          <a:p>
            <a:r>
              <a:rPr lang="en-US" dirty="0"/>
              <a:t>Glossary has clear “Title”, “Todo item”, “Todo list”</a:t>
            </a:r>
          </a:p>
          <a:p>
            <a:r>
              <a:rPr lang="en-US" dirty="0"/>
              <a:t>Invariants are testable (not vague)</a:t>
            </a:r>
          </a:p>
          <a:p>
            <a:r>
              <a:rPr lang="en-US" dirty="0"/>
              <a:t>Use case contract exists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59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B235-683B-5A69-8118-904D664B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 phase 1 (</a:t>
            </a:r>
            <a:r>
              <a:rPr lang="en-US" dirty="0" err="1"/>
              <a:t>ddd</a:t>
            </a:r>
            <a:r>
              <a:rPr lang="en-US" dirty="0"/>
              <a:t> phase)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021175-46F8-B505-9D84-5E84A65A1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3476535"/>
            <a:ext cx="9092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ddd:model-review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(optional but useful)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Run: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/retro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750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9830-9286-C7D4-F653-ACDC49B6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2.1 — Switch phase to TDD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BF52-ADF1-2732-5531-74C7FC8C5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/set-phase </a:t>
            </a:r>
            <a:r>
              <a:rPr lang="en-US" b="1" dirty="0" err="1"/>
              <a:t>tdd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/phase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Hooks now enforce:</a:t>
            </a:r>
          </a:p>
          <a:p>
            <a:r>
              <a:rPr lang="en-US" dirty="0"/>
              <a:t>UI edits blocked</a:t>
            </a:r>
          </a:p>
          <a:p>
            <a:r>
              <a:rPr lang="en-US" dirty="0"/>
              <a:t>Stop is gated by /verify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05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B487-91F5-1ED8-2AA5-D6497E88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2.2 — Ask </a:t>
            </a:r>
            <a:r>
              <a:rPr lang="en-US" dirty="0" err="1"/>
              <a:t>tdd</a:t>
            </a:r>
            <a:r>
              <a:rPr lang="en-US" dirty="0"/>
              <a:t>-coach for the first smallest test (critical)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8C62D-9161-DCF7-DE64-DE749759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Prompt: </a:t>
            </a:r>
          </a:p>
          <a:p>
            <a:pPr marL="0" indent="0">
              <a:buNone/>
            </a:pPr>
            <a:r>
              <a:rPr lang="en-US" dirty="0"/>
              <a:t>Use the subagent </a:t>
            </a:r>
            <a:r>
              <a:rPr lang="en-US" dirty="0" err="1"/>
              <a:t>tdd</a:t>
            </a:r>
            <a:r>
              <a:rPr lang="en-US" dirty="0"/>
              <a:t>-coach.</a:t>
            </a:r>
          </a:p>
          <a:p>
            <a:pPr marL="0" indent="0">
              <a:buNone/>
            </a:pPr>
            <a:r>
              <a:rPr lang="en-US" dirty="0"/>
              <a:t>We are implementing “Add </a:t>
            </a:r>
            <a:r>
              <a:rPr lang="en-US" dirty="0" err="1"/>
              <a:t>todo</a:t>
            </a:r>
            <a:r>
              <a:rPr lang="en-US" dirty="0"/>
              <a:t> item”.</a:t>
            </a:r>
          </a:p>
          <a:p>
            <a:pPr marL="0" indent="0">
              <a:buNone/>
            </a:pPr>
            <a:r>
              <a:rPr lang="en-US" dirty="0"/>
              <a:t>Pick the smallest invariant to test first from docs/domain/</a:t>
            </a:r>
            <a:r>
              <a:rPr lang="en-US" dirty="0" err="1"/>
              <a:t>invariants.md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r>
              <a:rPr lang="en-US" dirty="0"/>
              <a:t>   - what the RED test should assert,</a:t>
            </a:r>
          </a:p>
          <a:p>
            <a:pPr marL="0" indent="0">
              <a:buNone/>
            </a:pPr>
            <a:r>
              <a:rPr lang="en-US" dirty="0"/>
              <a:t>   - why it should fail initially,</a:t>
            </a:r>
          </a:p>
          <a:p>
            <a:pPr marL="0" indent="0">
              <a:buNone/>
            </a:pPr>
            <a:r>
              <a:rPr lang="en-US" dirty="0"/>
              <a:t>   - what minimal GREEN implementation should do,</a:t>
            </a:r>
          </a:p>
          <a:p>
            <a:pPr marL="0" indent="0">
              <a:buNone/>
            </a:pPr>
            <a:r>
              <a:rPr lang="en-US" dirty="0"/>
              <a:t>   - what REFACTOR to do after.</a:t>
            </a:r>
          </a:p>
          <a:p>
            <a:pPr marL="0" indent="0">
              <a:buNone/>
            </a:pPr>
            <a:r>
              <a:rPr lang="en-US" dirty="0"/>
              <a:t>No UI tests.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1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598A-A5AB-3F18-61E0-34AE1FA3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F0003-4487-D8F6-1BF8-1E7BC72B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single invariant selected (e.g., “Title cannot be empty”)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plan for red/green/refactor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Why: the first test sets the “testing style” for the team.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320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C870-1B60-E389-5784-70A36941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2.3 — RED: write one failing test using the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7DA80-1262-35CD-180C-BCD45580A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Run:</a:t>
            </a:r>
          </a:p>
          <a:p>
            <a:pPr marL="0" indent="0">
              <a:buNone/>
            </a:pPr>
            <a:r>
              <a:rPr lang="en-US" sz="2400" b="1" dirty="0"/>
              <a:t>   /</a:t>
            </a:r>
            <a:r>
              <a:rPr lang="en-US" sz="2400" b="1" dirty="0" err="1"/>
              <a:t>tdd:red</a:t>
            </a:r>
            <a:r>
              <a:rPr lang="en-US" sz="2400" b="1" dirty="0"/>
              <a:t> Add </a:t>
            </a:r>
            <a:r>
              <a:rPr lang="en-US" sz="2400" b="1" dirty="0" err="1"/>
              <a:t>todo</a:t>
            </a:r>
            <a:r>
              <a:rPr lang="en-US" sz="2400" b="1" dirty="0"/>
              <a:t> item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should result in:</a:t>
            </a:r>
          </a:p>
          <a:p>
            <a:r>
              <a:rPr lang="en-US" sz="2400" dirty="0"/>
              <a:t>Exactly one failing test</a:t>
            </a:r>
          </a:p>
          <a:p>
            <a:r>
              <a:rPr lang="en-US" sz="2400" dirty="0"/>
              <a:t>Clear failure reason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91454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1879-6790-0E8F-1E09-CD85C5AF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hit confusion (test framework not set, file locations unknown):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2286-8788-8915-C964-82A0DFC6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test-runner (prompt):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the subagent test-runner.</a:t>
            </a:r>
          </a:p>
          <a:p>
            <a:pPr marL="0" indent="0">
              <a:buNone/>
            </a:pPr>
            <a:r>
              <a:rPr lang="en-US" dirty="0"/>
              <a:t>Figure out what test command exists (</a:t>
            </a:r>
            <a:r>
              <a:rPr lang="en-US" dirty="0" err="1"/>
              <a:t>npm</a:t>
            </a:r>
            <a:r>
              <a:rPr lang="en-US" dirty="0"/>
              <a:t> scripts if present).</a:t>
            </a:r>
          </a:p>
          <a:p>
            <a:pPr marL="0" indent="0">
              <a:buNone/>
            </a:pPr>
            <a:r>
              <a:rPr lang="en-US" dirty="0"/>
              <a:t>If missing, suggest a minimal testing setup plan (no implementation code), then return to the RED step.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6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45B6-A9F5-6791-A7F9-4348E976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2.4 — Run /verify after RED? (optional but helpful)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75E3F-E50C-E96E-7875-5D70B285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strict TDD you can run tests directly; but this repo’s discipline prefers /verify.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So do:</a:t>
            </a:r>
          </a:p>
          <a:p>
            <a:pPr marL="0" indent="0">
              <a:buNone/>
            </a:pPr>
            <a:r>
              <a:rPr lang="en-US" b="1" dirty="0"/>
              <a:t>   /verify</a:t>
            </a:r>
            <a:r>
              <a:rPr lang="en-US" dirty="0"/>
              <a:t> (it will fail at this stage; that’s OK)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verifies that:</a:t>
            </a:r>
          </a:p>
          <a:p>
            <a:r>
              <a:rPr lang="en-US" dirty="0"/>
              <a:t>the failing test is real</a:t>
            </a:r>
          </a:p>
          <a:p>
            <a:r>
              <a:rPr lang="en-US" dirty="0"/>
              <a:t>the pipeline is 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33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7FA1-A6EB-DCE3-A43E-541690FA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2.5 — GREEN: minimal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7693-02D8-11F8-23E5-28248C077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tdd:green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Rules:</a:t>
            </a:r>
          </a:p>
          <a:p>
            <a:r>
              <a:rPr lang="en-US" dirty="0"/>
              <a:t>Make the smallest change to pass the failing test</a:t>
            </a:r>
          </a:p>
          <a:p>
            <a:r>
              <a:rPr lang="en-US" dirty="0"/>
              <a:t>Do not implement future invariants yet</a:t>
            </a:r>
          </a:p>
          <a:p>
            <a:r>
              <a:rPr lang="en-US" dirty="0"/>
              <a:t>Keep logic in domain layer (not UI)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03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EF07-D6DA-C4A0-A9FE-C3B78FFD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you’re unsure where logic belongs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9A67C-C4FB-6248-7845-6C3C418F2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Ask domain-modeler (prompt):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the subagent domain-modeler.</a:t>
            </a:r>
          </a:p>
          <a:p>
            <a:pPr marL="0" indent="0">
              <a:buNone/>
            </a:pPr>
            <a:r>
              <a:rPr lang="en-US" dirty="0"/>
              <a:t>For the current failing test, tell us the best place to enforce the invariant:</a:t>
            </a:r>
          </a:p>
          <a:p>
            <a:pPr marL="0" indent="0">
              <a:buNone/>
            </a:pPr>
            <a:r>
              <a:rPr lang="en-US" dirty="0"/>
              <a:t>- which domain object should own it</a:t>
            </a:r>
          </a:p>
          <a:p>
            <a:pPr marL="0" indent="0">
              <a:buNone/>
            </a:pPr>
            <a:r>
              <a:rPr lang="en-US" dirty="0"/>
              <a:t>- and why</a:t>
            </a:r>
          </a:p>
          <a:p>
            <a:pPr marL="0" indent="0">
              <a:buNone/>
            </a:pPr>
            <a:r>
              <a:rPr lang="en-US" dirty="0"/>
              <a:t>Keep it minimal.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23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F4C8-E5BA-35FB-637D-EA18C4C9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2.6 — Verify after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26A36-A857-B90A-9CFE-48DA59E5A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/verify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want:</a:t>
            </a:r>
          </a:p>
          <a:p>
            <a:pPr marL="0" indent="0">
              <a:buNone/>
            </a:pPr>
            <a:r>
              <a:rPr lang="en-US" dirty="0"/>
              <a:t>✅ VERIFY PASSED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8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974B-DC1C-391A-9EA3-9A5BC67F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failing: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994F9-B60A-6E5A-F91B-2F8917899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test-runner (prompt):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the subagent test-runner.</a:t>
            </a:r>
          </a:p>
          <a:p>
            <a:pPr marL="0" indent="0">
              <a:buNone/>
            </a:pPr>
            <a:r>
              <a:rPr lang="en-US" dirty="0"/>
              <a:t>Run the smallest relevant tests, explain the failure, and propose the minimal fix.</a:t>
            </a:r>
          </a:p>
          <a:p>
            <a:pPr marL="0" indent="0">
              <a:buNone/>
            </a:pPr>
            <a:r>
              <a:rPr lang="en-US" dirty="0"/>
              <a:t>After fixing, re-run /verify.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95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696B-0428-D4FB-C097-D846117B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2.7 — 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8D6B-ADAC-9475-C02E-223AE79A5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tdd:refactor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Refactor targets (typical for “Add </a:t>
            </a:r>
            <a:r>
              <a:rPr lang="en-US" dirty="0" err="1"/>
              <a:t>todo</a:t>
            </a:r>
            <a:r>
              <a:rPr lang="en-US" dirty="0"/>
              <a:t>”):</a:t>
            </a:r>
          </a:p>
          <a:p>
            <a:r>
              <a:rPr lang="en-US" dirty="0"/>
              <a:t>Rename variables/methods to glossary terms</a:t>
            </a:r>
          </a:p>
          <a:p>
            <a:r>
              <a:rPr lang="en-US" dirty="0"/>
              <a:t>Extract Title normalization if needed</a:t>
            </a:r>
          </a:p>
          <a:p>
            <a:r>
              <a:rPr lang="en-US" dirty="0"/>
              <a:t>Ensure aggregate owns invariant enforcement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refactor:</a:t>
            </a:r>
          </a:p>
          <a:p>
            <a:pPr marL="0" indent="0">
              <a:buNone/>
            </a:pPr>
            <a:r>
              <a:rPr lang="en-US" b="1" dirty="0"/>
              <a:t>   /verify</a:t>
            </a:r>
            <a:r>
              <a:rPr lang="en-US" dirty="0"/>
              <a:t> again</a:t>
            </a:r>
          </a:p>
          <a:p>
            <a:pPr marL="0" indent="0">
              <a:buNone/>
            </a:pPr>
            <a:r>
              <a:rPr lang="en-US" dirty="0"/>
              <a:t>This is non-negotiable in the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548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C9C0-2468-5451-931F-B95A9345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2.8 — Repeat the TDD cycle for the next invariant(s)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B946-092F-E848-AC48-421A882B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tdd:next</a:t>
            </a:r>
            <a:r>
              <a:rPr lang="en-US" dirty="0"/>
              <a:t> to pick the next smallest 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loop:</a:t>
            </a:r>
          </a:p>
          <a:p>
            <a:pPr marL="0" indent="0">
              <a:buNone/>
            </a:pPr>
            <a:r>
              <a:rPr lang="en-US" dirty="0"/>
              <a:t>   /</a:t>
            </a:r>
            <a:r>
              <a:rPr lang="en-US" dirty="0" err="1"/>
              <a:t>tdd:red</a:t>
            </a:r>
            <a:r>
              <a:rPr lang="en-US" dirty="0"/>
              <a:t> Add </a:t>
            </a:r>
            <a:r>
              <a:rPr lang="en-US" dirty="0" err="1"/>
              <a:t>todo</a:t>
            </a:r>
            <a:r>
              <a:rPr lang="en-US" dirty="0"/>
              <a:t> item</a:t>
            </a:r>
          </a:p>
          <a:p>
            <a:pPr marL="0" indent="0">
              <a:buNone/>
            </a:pPr>
            <a:r>
              <a:rPr lang="en-US" dirty="0"/>
              <a:t>   /</a:t>
            </a:r>
            <a:r>
              <a:rPr lang="en-US" dirty="0" err="1"/>
              <a:t>tdd:green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/</a:t>
            </a:r>
            <a:r>
              <a:rPr lang="en-US" dirty="0" err="1"/>
              <a:t>tdd:refactor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/verify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30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7E80-2707-A8C5-4398-90231608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“Add </a:t>
            </a:r>
            <a:r>
              <a:rPr lang="en-US" dirty="0" err="1"/>
              <a:t>todo</a:t>
            </a:r>
            <a:r>
              <a:rPr lang="en-US" dirty="0"/>
              <a:t>” progression of invariants: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2AD6-C288-C38A-C699-16A2DC8A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 not empty</a:t>
            </a:r>
          </a:p>
          <a:p>
            <a:r>
              <a:rPr lang="en-US" dirty="0"/>
              <a:t>Title trimmed</a:t>
            </a:r>
          </a:p>
          <a:p>
            <a:r>
              <a:rPr lang="en-US" dirty="0"/>
              <a:t>Title max length</a:t>
            </a:r>
          </a:p>
          <a:p>
            <a:r>
              <a:rPr lang="en-US" dirty="0"/>
              <a:t>Decide on duplicate titles (allowed or not)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Keep each test tiny.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82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391B-0BF4-EB3D-2E99-43BEAFAF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Consolidate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1A70-02FB-05EB-D721-8F0E9E762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Run:</a:t>
            </a:r>
          </a:p>
          <a:p>
            <a:pPr marL="0" indent="0">
              <a:buNone/>
            </a:pPr>
            <a:r>
              <a:rPr lang="en-US" sz="3200" dirty="0"/>
              <a:t>   /retro</a:t>
            </a:r>
          </a:p>
        </p:txBody>
      </p:sp>
    </p:spTree>
    <p:extLst>
      <p:ext uri="{BB962C8B-B14F-4D97-AF65-F5344CB8AC3E}">
        <p14:creationId xmlns:p14="http://schemas.microsoft.com/office/powerpoint/2010/main" val="1966384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06D4-B473-7F61-2108-BE7FB29B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3.1 — Switch to BDD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D6321-A502-098F-601F-902ABF36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/set-phase </a:t>
            </a:r>
            <a:r>
              <a:rPr lang="en-US" b="1" dirty="0" err="1"/>
              <a:t>bdd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/phase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Remember: Stop is still gated by /verify.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989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673E-B291-65C0-ED09-0925438A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3.2 — Ask </a:t>
            </a:r>
            <a:r>
              <a:rPr lang="en-US" dirty="0" err="1"/>
              <a:t>bdd</a:t>
            </a:r>
            <a:r>
              <a:rPr lang="en-US" dirty="0"/>
              <a:t>-writer for scenarios (intent-based, not 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158D-3144-D7E4-A646-50F79D28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Prompt:</a:t>
            </a:r>
          </a:p>
          <a:p>
            <a:pPr marL="0" indent="0">
              <a:buNone/>
            </a:pPr>
            <a:r>
              <a:rPr lang="en-US" dirty="0"/>
              <a:t>Use the subagent </a:t>
            </a:r>
            <a:r>
              <a:rPr lang="en-US" dirty="0" err="1"/>
              <a:t>bdd</a:t>
            </a:r>
            <a:r>
              <a:rPr lang="en-US" dirty="0"/>
              <a:t>-writer.</a:t>
            </a:r>
          </a:p>
          <a:p>
            <a:pPr marL="0" indent="0">
              <a:buNone/>
            </a:pPr>
            <a:r>
              <a:rPr lang="en-US" dirty="0"/>
              <a:t>Write 2–4 scenarios for “Add </a:t>
            </a:r>
            <a:r>
              <a:rPr lang="en-US" dirty="0" err="1"/>
              <a:t>todo</a:t>
            </a:r>
            <a:r>
              <a:rPr lang="en-US" dirty="0"/>
              <a:t> item” in docs/</a:t>
            </a:r>
            <a:r>
              <a:rPr lang="en-US" dirty="0" err="1"/>
              <a:t>bdd</a:t>
            </a:r>
            <a:r>
              <a:rPr lang="en-US" dirty="0"/>
              <a:t>/features/</a:t>
            </a:r>
            <a:r>
              <a:rPr lang="en-US" dirty="0" err="1"/>
              <a:t>todo.feature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Constraints:</a:t>
            </a:r>
          </a:p>
          <a:p>
            <a:pPr marL="0" indent="0">
              <a:buNone/>
            </a:pPr>
            <a:r>
              <a:rPr lang="en-US" dirty="0"/>
              <a:t>   - Use glossary language (Title, Todo item, Todo list)</a:t>
            </a:r>
          </a:p>
          <a:p>
            <a:pPr marL="0" indent="0">
              <a:buNone/>
            </a:pPr>
            <a:r>
              <a:rPr lang="en-US" dirty="0"/>
              <a:t>   - No UI mechanics (no click/type/wait)</a:t>
            </a:r>
          </a:p>
          <a:p>
            <a:pPr marL="0" indent="0">
              <a:buNone/>
            </a:pPr>
            <a:r>
              <a:rPr lang="en-US" dirty="0"/>
              <a:t>   - Outcomes must be observable</a:t>
            </a:r>
          </a:p>
          <a:p>
            <a:pPr marL="0" indent="0">
              <a:buNone/>
            </a:pPr>
            <a:r>
              <a:rPr lang="en-US" dirty="0"/>
              <a:t>Include at least one edge case scenario.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556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E673-C41C-8F60-7506-35338220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3.3 — Generate/update feature file via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120EF-CCF7-97C9-9A40-D5F4C114D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bdd:feature</a:t>
            </a:r>
            <a:r>
              <a:rPr lang="en-US" b="1" dirty="0"/>
              <a:t> Add </a:t>
            </a:r>
            <a:r>
              <a:rPr lang="en-US" b="1" dirty="0" err="1"/>
              <a:t>todo</a:t>
            </a:r>
            <a:r>
              <a:rPr lang="en-US" b="1" dirty="0"/>
              <a:t> item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You should now have:</a:t>
            </a:r>
          </a:p>
          <a:p>
            <a:pPr marL="0" indent="0">
              <a:buNone/>
            </a:pPr>
            <a:r>
              <a:rPr lang="en-US" dirty="0"/>
              <a:t>   A “Feature” section describing value</a:t>
            </a:r>
          </a:p>
          <a:p>
            <a:pPr marL="0" indent="0">
              <a:buNone/>
            </a:pPr>
            <a:r>
              <a:rPr lang="en-US" dirty="0"/>
              <a:t>   Scenarios like:</a:t>
            </a:r>
          </a:p>
          <a:p>
            <a:pPr lvl="1"/>
            <a:r>
              <a:rPr lang="en-US" dirty="0"/>
              <a:t>Add valid </a:t>
            </a:r>
            <a:r>
              <a:rPr lang="en-US" dirty="0" err="1"/>
              <a:t>todo</a:t>
            </a:r>
            <a:endParaRPr lang="en-US" dirty="0"/>
          </a:p>
          <a:p>
            <a:pPr lvl="1"/>
            <a:r>
              <a:rPr lang="en-US" dirty="0"/>
              <a:t>Reject empty title</a:t>
            </a:r>
          </a:p>
          <a:p>
            <a:pPr lvl="1"/>
            <a:r>
              <a:rPr lang="en-US" dirty="0"/>
              <a:t>Normalize title spacing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87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5905-BA6B-B79B-EFCD-65A1D0B8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3.4 — Map scenarios to application/service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590EE-336D-0BC9-4D58-68501535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bdd:map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updates:</a:t>
            </a:r>
          </a:p>
          <a:p>
            <a:pPr marL="0" indent="0">
              <a:buNone/>
            </a:pPr>
            <a:r>
              <a:rPr lang="en-US" dirty="0"/>
              <a:t>   docs/</a:t>
            </a:r>
            <a:r>
              <a:rPr lang="en-US" dirty="0" err="1"/>
              <a:t>bdd</a:t>
            </a:r>
            <a:r>
              <a:rPr lang="en-US" dirty="0"/>
              <a:t>/</a:t>
            </a:r>
            <a:r>
              <a:rPr lang="en-US" dirty="0" err="1"/>
              <a:t>mapping.md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you look for:</a:t>
            </a:r>
          </a:p>
          <a:p>
            <a:pPr marL="0" indent="0">
              <a:buNone/>
            </a:pPr>
            <a:r>
              <a:rPr lang="en-US" dirty="0"/>
              <a:t>“Step intent” mapped to </a:t>
            </a:r>
            <a:r>
              <a:rPr lang="en-US" b="1" dirty="0"/>
              <a:t>application service calls</a:t>
            </a:r>
            <a:r>
              <a:rPr lang="en-US" dirty="0"/>
              <a:t>, not UI actions</a:t>
            </a:r>
          </a:p>
          <a:p>
            <a:pPr marL="0" indent="0">
              <a:buNone/>
            </a:pPr>
            <a:r>
              <a:rPr lang="en-US" dirty="0"/>
              <a:t>Domain objects involved (</a:t>
            </a:r>
            <a:r>
              <a:rPr lang="en-US" dirty="0" err="1"/>
              <a:t>TodoList</a:t>
            </a:r>
            <a:r>
              <a:rPr lang="en-US" dirty="0"/>
              <a:t>, </a:t>
            </a:r>
            <a:r>
              <a:rPr lang="en-US" dirty="0" err="1"/>
              <a:t>TodoItem</a:t>
            </a:r>
            <a:r>
              <a:rPr lang="en-US" dirty="0"/>
              <a:t>, Title,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99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06589-DF24-FBFB-6182-0850373D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mapping degenerates into UI, correct it with </a:t>
            </a:r>
            <a:r>
              <a:rPr lang="en-US" dirty="0" err="1"/>
              <a:t>bdd</a:t>
            </a:r>
            <a:r>
              <a:rPr lang="en-US" dirty="0"/>
              <a:t>-writer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690F-527E-46D1-8E3E-B1063049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Prompt: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the subagent </a:t>
            </a:r>
            <a:r>
              <a:rPr lang="en-US" dirty="0" err="1"/>
              <a:t>bdd</a:t>
            </a:r>
            <a:r>
              <a:rPr lang="en-US" dirty="0"/>
              <a:t>-writer.</a:t>
            </a:r>
          </a:p>
          <a:p>
            <a:pPr marL="0" indent="0">
              <a:buNone/>
            </a:pPr>
            <a:r>
              <a:rPr lang="en-US" dirty="0"/>
              <a:t>Review docs/</a:t>
            </a:r>
            <a:r>
              <a:rPr lang="en-US" dirty="0" err="1"/>
              <a:t>bdd</a:t>
            </a:r>
            <a:r>
              <a:rPr lang="en-US" dirty="0"/>
              <a:t>/</a:t>
            </a:r>
            <a:r>
              <a:rPr lang="en-US" dirty="0" err="1"/>
              <a:t>mapping.md</a:t>
            </a:r>
            <a:r>
              <a:rPr lang="en-US" dirty="0"/>
              <a:t>. Rewrite any mapping that references UI mechanics into intent/service-level mapping.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175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EB14-29A0-CDDA-18A3-3452D745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Step 3.5 — Optional: run BDD automation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7FAE-78C6-635C-AB05-C60C342BF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</a:t>
            </a:r>
            <a:r>
              <a:rPr lang="en-US" b="1" dirty="0" err="1"/>
              <a:t>bdd:run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test:bdd</a:t>
            </a:r>
            <a:r>
              <a:rPr lang="en-US" dirty="0"/>
              <a:t> is not configured, it will give a checklist.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That’s fine—BDD value still exists as documentation + aligned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131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806F-E031-9F64-D847-56FCAD96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3.6 — Final verify (mandatory)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AF17A-DE41-4FCC-E50E-5C7758188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/verify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must see:</a:t>
            </a:r>
          </a:p>
          <a:p>
            <a:pPr marL="0" indent="0">
              <a:buNone/>
            </a:pPr>
            <a:r>
              <a:rPr lang="en-US" dirty="0"/>
              <a:t>✅ VERIFY PASSED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64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ACF5-581D-A13F-4626-9B3BAA5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4.1 — Log the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5726-96EB-9E53-7C78-B215A8104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Run:</a:t>
            </a:r>
          </a:p>
          <a:p>
            <a:pPr marL="0" indent="0">
              <a:buNone/>
            </a:pPr>
            <a:r>
              <a:rPr lang="en-US" b="1" dirty="0"/>
              <a:t>   /retro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 the learning log, make sure it includes:</a:t>
            </a:r>
          </a:p>
          <a:p>
            <a:r>
              <a:rPr lang="en-US" dirty="0"/>
              <a:t>What we built: “Add </a:t>
            </a:r>
            <a:r>
              <a:rPr lang="en-US" dirty="0" err="1"/>
              <a:t>todo</a:t>
            </a:r>
            <a:r>
              <a:rPr lang="en-US" dirty="0"/>
              <a:t>” domain behavior + tests + scenarios</a:t>
            </a:r>
          </a:p>
          <a:p>
            <a:r>
              <a:rPr lang="en-US" dirty="0"/>
              <a:t>One mistake: e.g. “wrote a test too big first”</a:t>
            </a:r>
          </a:p>
          <a:p>
            <a:r>
              <a:rPr lang="en-US" dirty="0"/>
              <a:t>Concept learned: “invariants drive tests”</a:t>
            </a:r>
          </a:p>
          <a:p>
            <a:r>
              <a:rPr lang="en-US" dirty="0"/>
              <a:t>Rule of thumb: “one invariant per test”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080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55</TotalTime>
  <Words>1720</Words>
  <Application>Microsoft Macintosh PowerPoint</Application>
  <PresentationFormat>Widescreen</PresentationFormat>
  <Paragraphs>261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 Unicode MS</vt:lpstr>
      <vt:lpstr>Arial</vt:lpstr>
      <vt:lpstr>Franklin Gothic Book</vt:lpstr>
      <vt:lpstr>Crop</vt:lpstr>
      <vt:lpstr>To Do Workshop</vt:lpstr>
      <vt:lpstr>Repo</vt:lpstr>
      <vt:lpstr>npx create-next-app@latest .</vt:lpstr>
      <vt:lpstr>Add a ToDo</vt:lpstr>
      <vt:lpstr>Add a ToDo</vt:lpstr>
      <vt:lpstr>Setup</vt:lpstr>
      <vt:lpstr>Step 0.1 — Confirm your phase </vt:lpstr>
      <vt:lpstr>Step 0.2 — Put yourself in DDD phase (if not already)</vt:lpstr>
      <vt:lpstr>Step 1.1 — Activate the DDD mindset (skill)</vt:lpstr>
      <vt:lpstr>Prompt:</vt:lpstr>
      <vt:lpstr>Step 1.2 — Use ddd-facilitator to improve language (subagent)</vt:lpstr>
      <vt:lpstr>What you do next: </vt:lpstr>
      <vt:lpstr>Step 1.3 — Generate DDD artifacts using the repo command</vt:lpstr>
      <vt:lpstr>Step 1.4 — Use domain-modeler to keep the design small</vt:lpstr>
      <vt:lpstr>You’re checking for: </vt:lpstr>
      <vt:lpstr>Step 1.5 — Quick DDD sanity check (risk-checker)</vt:lpstr>
      <vt:lpstr>Step 1.6 — DDD done criteria for this feature</vt:lpstr>
      <vt:lpstr>Finish phase 1 (ddd phase)</vt:lpstr>
      <vt:lpstr>Step 2.1 — Switch phase to TDD</vt:lpstr>
      <vt:lpstr>Step 2.2 — Ask tdd-coach for the first smallest test (critical)</vt:lpstr>
      <vt:lpstr>Expected output:</vt:lpstr>
      <vt:lpstr>Step 2.3 — RED: write one failing test using the command</vt:lpstr>
      <vt:lpstr>If you hit confusion (test framework not set, file locations unknown):</vt:lpstr>
      <vt:lpstr>Step 2.4 — Run /verify after RED? (optional but helpful)</vt:lpstr>
      <vt:lpstr>Step 2.5 — GREEN: minimal implementation</vt:lpstr>
      <vt:lpstr>If you’re unsure where logic belongs</vt:lpstr>
      <vt:lpstr>Step 2.6 — Verify after GREEN</vt:lpstr>
      <vt:lpstr>If failing: </vt:lpstr>
      <vt:lpstr>Step 2.7 — REFACTOR</vt:lpstr>
      <vt:lpstr>Step 2.8 — Repeat the TDD cycle for the next invariant(s)</vt:lpstr>
      <vt:lpstr>Typical “Add todo” progression of invariants: </vt:lpstr>
      <vt:lpstr>Consolidate learning</vt:lpstr>
      <vt:lpstr>Step 3.1 — Switch to BDD phase</vt:lpstr>
      <vt:lpstr>Step 3.2 — Ask bdd-writer for scenarios (intent-based, not UI)</vt:lpstr>
      <vt:lpstr>Step 3.3 — Generate/update feature file via command</vt:lpstr>
      <vt:lpstr>Step 3.4 — Map scenarios to application/service calls</vt:lpstr>
      <vt:lpstr>If mapping degenerates into UI, correct it with bdd-writer</vt:lpstr>
      <vt:lpstr>Step 3.5 — Optional: run BDD automation </vt:lpstr>
      <vt:lpstr>Step 3.6 — Final verify (mandatory)</vt:lpstr>
      <vt:lpstr>Step 4.1 — Log the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Miodrag Vujkovic</dc:creator>
  <cp:lastModifiedBy>Miodrag Vujkovic</cp:lastModifiedBy>
  <cp:revision>33</cp:revision>
  <dcterms:created xsi:type="dcterms:W3CDTF">2025-12-05T06:16:44Z</dcterms:created>
  <dcterms:modified xsi:type="dcterms:W3CDTF">2025-12-05T07:19:47Z</dcterms:modified>
</cp:coreProperties>
</file>